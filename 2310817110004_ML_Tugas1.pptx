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eko Bold" charset="1" panose="02000000000000000000"/>
      <p:regular r:id="rId12"/>
    </p:embeddedFont>
    <p:embeddedFont>
      <p:font typeface="Teko Semi-Bold" charset="1" panose="02000000000000000000"/>
      <p:regular r:id="rId13"/>
    </p:embeddedFont>
    <p:embeddedFont>
      <p:font typeface="Poppins Semi-Bold" charset="1" panose="00000700000000000000"/>
      <p:regular r:id="rId14"/>
    </p:embeddedFont>
    <p:embeddedFont>
      <p:font typeface="Poppins" charset="1" panose="00000500000000000000"/>
      <p:regular r:id="rId15"/>
    </p:embeddedFont>
    <p:embeddedFont>
      <p:font typeface="Montserrat" charset="1" panose="00000500000000000000"/>
      <p:regular r:id="rId16"/>
    </p:embeddedFont>
    <p:embeddedFont>
      <p:font typeface="Montserrat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6.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1.png" Type="http://schemas.openxmlformats.org/officeDocument/2006/relationships/image"/><Relationship Id="rId14" Target="../media/image2.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20.jpe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51A43">
                <a:alpha val="100000"/>
              </a:srgbClr>
            </a:gs>
            <a:gs pos="100000">
              <a:srgbClr val="181838">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482399" y="7655671"/>
            <a:ext cx="3086100" cy="775859"/>
            <a:chOff x="0" y="0"/>
            <a:chExt cx="812800" cy="204342"/>
          </a:xfrm>
        </p:grpSpPr>
        <p:sp>
          <p:nvSpPr>
            <p:cNvPr name="Freeform 3" id="3"/>
            <p:cNvSpPr/>
            <p:nvPr/>
          </p:nvSpPr>
          <p:spPr>
            <a:xfrm flipH="false" flipV="false" rot="0">
              <a:off x="0" y="0"/>
              <a:ext cx="812800" cy="204342"/>
            </a:xfrm>
            <a:custGeom>
              <a:avLst/>
              <a:gdLst/>
              <a:ahLst/>
              <a:cxnLst/>
              <a:rect r="r" b="b" t="t" l="l"/>
              <a:pathLst>
                <a:path h="204342" w="812800">
                  <a:moveTo>
                    <a:pt x="102171" y="0"/>
                  </a:moveTo>
                  <a:lnTo>
                    <a:pt x="710629" y="0"/>
                  </a:lnTo>
                  <a:cubicBezTo>
                    <a:pt x="767057" y="0"/>
                    <a:pt x="812800" y="45743"/>
                    <a:pt x="812800" y="102171"/>
                  </a:cubicBezTo>
                  <a:lnTo>
                    <a:pt x="812800" y="102171"/>
                  </a:lnTo>
                  <a:cubicBezTo>
                    <a:pt x="812800" y="129268"/>
                    <a:pt x="802036" y="155256"/>
                    <a:pt x="782875" y="174416"/>
                  </a:cubicBezTo>
                  <a:cubicBezTo>
                    <a:pt x="763714" y="193577"/>
                    <a:pt x="737727" y="204342"/>
                    <a:pt x="710629" y="204342"/>
                  </a:cubicBezTo>
                  <a:lnTo>
                    <a:pt x="102171" y="204342"/>
                  </a:lnTo>
                  <a:cubicBezTo>
                    <a:pt x="45743" y="204342"/>
                    <a:pt x="0" y="158598"/>
                    <a:pt x="0" y="102171"/>
                  </a:cubicBezTo>
                  <a:lnTo>
                    <a:pt x="0" y="102171"/>
                  </a:lnTo>
                  <a:cubicBezTo>
                    <a:pt x="0" y="45743"/>
                    <a:pt x="45743" y="0"/>
                    <a:pt x="102171" y="0"/>
                  </a:cubicBezTo>
                  <a:close/>
                </a:path>
              </a:pathLst>
            </a:custGeom>
            <a:solidFill>
              <a:srgbClr val="FFFFFF"/>
            </a:solidFill>
          </p:spPr>
        </p:sp>
        <p:sp>
          <p:nvSpPr>
            <p:cNvPr name="TextBox 4" id="4"/>
            <p:cNvSpPr txBox="true"/>
            <p:nvPr/>
          </p:nvSpPr>
          <p:spPr>
            <a:xfrm>
              <a:off x="0" y="-38100"/>
              <a:ext cx="812800" cy="24244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000696" y="7655671"/>
            <a:ext cx="3086100" cy="775859"/>
            <a:chOff x="0" y="0"/>
            <a:chExt cx="812800" cy="204342"/>
          </a:xfrm>
        </p:grpSpPr>
        <p:sp>
          <p:nvSpPr>
            <p:cNvPr name="Freeform 6" id="6"/>
            <p:cNvSpPr/>
            <p:nvPr/>
          </p:nvSpPr>
          <p:spPr>
            <a:xfrm flipH="false" flipV="false" rot="0">
              <a:off x="0" y="0"/>
              <a:ext cx="812800" cy="204342"/>
            </a:xfrm>
            <a:custGeom>
              <a:avLst/>
              <a:gdLst/>
              <a:ahLst/>
              <a:cxnLst/>
              <a:rect r="r" b="b" t="t" l="l"/>
              <a:pathLst>
                <a:path h="204342" w="812800">
                  <a:moveTo>
                    <a:pt x="102171" y="0"/>
                  </a:moveTo>
                  <a:lnTo>
                    <a:pt x="710629" y="0"/>
                  </a:lnTo>
                  <a:cubicBezTo>
                    <a:pt x="767057" y="0"/>
                    <a:pt x="812800" y="45743"/>
                    <a:pt x="812800" y="102171"/>
                  </a:cubicBezTo>
                  <a:lnTo>
                    <a:pt x="812800" y="102171"/>
                  </a:lnTo>
                  <a:cubicBezTo>
                    <a:pt x="812800" y="129268"/>
                    <a:pt x="802036" y="155256"/>
                    <a:pt x="782875" y="174416"/>
                  </a:cubicBezTo>
                  <a:cubicBezTo>
                    <a:pt x="763714" y="193577"/>
                    <a:pt x="737727" y="204342"/>
                    <a:pt x="710629" y="204342"/>
                  </a:cubicBezTo>
                  <a:lnTo>
                    <a:pt x="102171" y="204342"/>
                  </a:lnTo>
                  <a:cubicBezTo>
                    <a:pt x="45743" y="204342"/>
                    <a:pt x="0" y="158598"/>
                    <a:pt x="0" y="102171"/>
                  </a:cubicBezTo>
                  <a:lnTo>
                    <a:pt x="0" y="102171"/>
                  </a:lnTo>
                  <a:cubicBezTo>
                    <a:pt x="0" y="45743"/>
                    <a:pt x="45743" y="0"/>
                    <a:pt x="102171" y="0"/>
                  </a:cubicBezTo>
                  <a:close/>
                </a:path>
              </a:pathLst>
            </a:custGeom>
            <a:solidFill>
              <a:srgbClr val="FFFFFF"/>
            </a:solidFill>
          </p:spPr>
        </p:sp>
        <p:sp>
          <p:nvSpPr>
            <p:cNvPr name="TextBox 7" id="7"/>
            <p:cNvSpPr txBox="true"/>
            <p:nvPr/>
          </p:nvSpPr>
          <p:spPr>
            <a:xfrm>
              <a:off x="0" y="-38100"/>
              <a:ext cx="812800" cy="2424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384398" y="7777497"/>
            <a:ext cx="532209" cy="53220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1A4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7416847" y="7809946"/>
            <a:ext cx="467310" cy="467310"/>
          </a:xfrm>
          <a:custGeom>
            <a:avLst/>
            <a:gdLst/>
            <a:ahLst/>
            <a:cxnLst/>
            <a:rect r="r" b="b" t="t" l="l"/>
            <a:pathLst>
              <a:path h="467310" w="467310">
                <a:moveTo>
                  <a:pt x="0" y="0"/>
                </a:moveTo>
                <a:lnTo>
                  <a:pt x="467311" y="0"/>
                </a:lnTo>
                <a:lnTo>
                  <a:pt x="467311" y="467310"/>
                </a:lnTo>
                <a:lnTo>
                  <a:pt x="0" y="4673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true" rot="0">
            <a:off x="13820846" y="7165576"/>
            <a:ext cx="4467154" cy="3121424"/>
          </a:xfrm>
          <a:custGeom>
            <a:avLst/>
            <a:gdLst/>
            <a:ahLst/>
            <a:cxnLst/>
            <a:rect r="r" b="b" t="t" l="l"/>
            <a:pathLst>
              <a:path h="3121424" w="4467154">
                <a:moveTo>
                  <a:pt x="4467154" y="3121424"/>
                </a:moveTo>
                <a:lnTo>
                  <a:pt x="0" y="3121424"/>
                </a:lnTo>
                <a:lnTo>
                  <a:pt x="0" y="0"/>
                </a:lnTo>
                <a:lnTo>
                  <a:pt x="4467154" y="0"/>
                </a:lnTo>
                <a:lnTo>
                  <a:pt x="4467154" y="3121424"/>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545911">
            <a:off x="10963015" y="2771164"/>
            <a:ext cx="5904806" cy="5816234"/>
          </a:xfrm>
          <a:custGeom>
            <a:avLst/>
            <a:gdLst/>
            <a:ahLst/>
            <a:cxnLst/>
            <a:rect r="r" b="b" t="t" l="l"/>
            <a:pathLst>
              <a:path h="5816234" w="5904806">
                <a:moveTo>
                  <a:pt x="0" y="0"/>
                </a:moveTo>
                <a:lnTo>
                  <a:pt x="5904806" y="0"/>
                </a:lnTo>
                <a:lnTo>
                  <a:pt x="5904806" y="5816234"/>
                </a:lnTo>
                <a:lnTo>
                  <a:pt x="0" y="5816234"/>
                </a:lnTo>
                <a:lnTo>
                  <a:pt x="0" y="0"/>
                </a:lnTo>
                <a:close/>
              </a:path>
            </a:pathLst>
          </a:custGeom>
          <a:blipFill>
            <a:blip r:embed="rId6"/>
            <a:stretch>
              <a:fillRect l="0" t="0" r="0" b="0"/>
            </a:stretch>
          </a:blipFill>
        </p:spPr>
      </p:sp>
      <p:sp>
        <p:nvSpPr>
          <p:cNvPr name="Freeform 14" id="14"/>
          <p:cNvSpPr/>
          <p:nvPr/>
        </p:nvSpPr>
        <p:spPr>
          <a:xfrm flipH="false" flipV="false" rot="0">
            <a:off x="81048" y="16034"/>
            <a:ext cx="4052537" cy="2831710"/>
          </a:xfrm>
          <a:custGeom>
            <a:avLst/>
            <a:gdLst/>
            <a:ahLst/>
            <a:cxnLst/>
            <a:rect r="r" b="b" t="t" l="l"/>
            <a:pathLst>
              <a:path h="2831710" w="4052537">
                <a:moveTo>
                  <a:pt x="0" y="0"/>
                </a:moveTo>
                <a:lnTo>
                  <a:pt x="4052537" y="0"/>
                </a:lnTo>
                <a:lnTo>
                  <a:pt x="4052537" y="2831710"/>
                </a:lnTo>
                <a:lnTo>
                  <a:pt x="0" y="2831710"/>
                </a:lnTo>
                <a:lnTo>
                  <a:pt x="0" y="0"/>
                </a:lnTo>
                <a:close/>
              </a:path>
            </a:pathLst>
          </a:custGeom>
          <a:blipFill>
            <a:blip r:embed="rId4">
              <a:alphaModFix amt="25000"/>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0804221" y="1005831"/>
            <a:ext cx="6455079" cy="954762"/>
            <a:chOff x="0" y="0"/>
            <a:chExt cx="1700103" cy="251460"/>
          </a:xfrm>
        </p:grpSpPr>
        <p:sp>
          <p:nvSpPr>
            <p:cNvPr name="Freeform 16" id="16"/>
            <p:cNvSpPr/>
            <p:nvPr/>
          </p:nvSpPr>
          <p:spPr>
            <a:xfrm flipH="false" flipV="false" rot="0">
              <a:off x="0" y="0"/>
              <a:ext cx="1700103" cy="251460"/>
            </a:xfrm>
            <a:custGeom>
              <a:avLst/>
              <a:gdLst/>
              <a:ahLst/>
              <a:cxnLst/>
              <a:rect r="r" b="b" t="t" l="l"/>
              <a:pathLst>
                <a:path h="251460" w="1700103">
                  <a:moveTo>
                    <a:pt x="119935" y="0"/>
                  </a:moveTo>
                  <a:lnTo>
                    <a:pt x="1580168" y="0"/>
                  </a:lnTo>
                  <a:cubicBezTo>
                    <a:pt x="1646406" y="0"/>
                    <a:pt x="1700103" y="53697"/>
                    <a:pt x="1700103" y="119935"/>
                  </a:cubicBezTo>
                  <a:lnTo>
                    <a:pt x="1700103" y="131525"/>
                  </a:lnTo>
                  <a:cubicBezTo>
                    <a:pt x="1700103" y="197763"/>
                    <a:pt x="1646406" y="251460"/>
                    <a:pt x="1580168" y="251460"/>
                  </a:cubicBezTo>
                  <a:lnTo>
                    <a:pt x="119935" y="251460"/>
                  </a:lnTo>
                  <a:cubicBezTo>
                    <a:pt x="53697" y="251460"/>
                    <a:pt x="0" y="197763"/>
                    <a:pt x="0" y="131525"/>
                  </a:cubicBezTo>
                  <a:lnTo>
                    <a:pt x="0" y="119935"/>
                  </a:lnTo>
                  <a:cubicBezTo>
                    <a:pt x="0" y="53697"/>
                    <a:pt x="53697" y="0"/>
                    <a:pt x="119935" y="0"/>
                  </a:cubicBezTo>
                  <a:close/>
                </a:path>
              </a:pathLst>
            </a:custGeom>
            <a:solidFill>
              <a:srgbClr val="FFFFFF"/>
            </a:solidFill>
          </p:spPr>
        </p:sp>
        <p:sp>
          <p:nvSpPr>
            <p:cNvPr name="TextBox 17" id="17"/>
            <p:cNvSpPr txBox="true"/>
            <p:nvPr/>
          </p:nvSpPr>
          <p:spPr>
            <a:xfrm>
              <a:off x="0" y="-38100"/>
              <a:ext cx="1700103" cy="28956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6796677" y="8795677"/>
            <a:ext cx="462623" cy="462623"/>
          </a:xfrm>
          <a:custGeom>
            <a:avLst/>
            <a:gdLst/>
            <a:ahLst/>
            <a:cxnLst/>
            <a:rect r="r" b="b" t="t" l="l"/>
            <a:pathLst>
              <a:path h="462623" w="462623">
                <a:moveTo>
                  <a:pt x="0" y="0"/>
                </a:moveTo>
                <a:lnTo>
                  <a:pt x="462623" y="0"/>
                </a:lnTo>
                <a:lnTo>
                  <a:pt x="462623" y="462623"/>
                </a:lnTo>
                <a:lnTo>
                  <a:pt x="0" y="4626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9" id="19"/>
          <p:cNvSpPr txBox="true"/>
          <p:nvPr/>
        </p:nvSpPr>
        <p:spPr>
          <a:xfrm rot="0">
            <a:off x="1455811" y="3041332"/>
            <a:ext cx="9483020" cy="2049601"/>
          </a:xfrm>
          <a:prstGeom prst="rect">
            <a:avLst/>
          </a:prstGeom>
        </p:spPr>
        <p:txBody>
          <a:bodyPr anchor="t" rtlCol="false" tIns="0" lIns="0" bIns="0" rIns="0">
            <a:spAutoFit/>
          </a:bodyPr>
          <a:lstStyle/>
          <a:p>
            <a:pPr algn="l">
              <a:lnSpc>
                <a:spcPts val="7970"/>
              </a:lnSpc>
            </a:pPr>
            <a:r>
              <a:rPr lang="en-US" sz="7590" b="true">
                <a:solidFill>
                  <a:srgbClr val="FFFFFF"/>
                </a:solidFill>
                <a:latin typeface="Teko Bold"/>
                <a:ea typeface="Teko Bold"/>
                <a:cs typeface="Teko Bold"/>
                <a:sym typeface="Teko Bold"/>
              </a:rPr>
              <a:t>DATASET KLASIFIKASI GAMBAR GYM EQUIPMENT</a:t>
            </a:r>
          </a:p>
        </p:txBody>
      </p:sp>
      <p:sp>
        <p:nvSpPr>
          <p:cNvPr name="TextBox 20" id="20"/>
          <p:cNvSpPr txBox="true"/>
          <p:nvPr/>
        </p:nvSpPr>
        <p:spPr>
          <a:xfrm rot="0">
            <a:off x="2196589" y="1217551"/>
            <a:ext cx="2571982" cy="645795"/>
          </a:xfrm>
          <a:prstGeom prst="rect">
            <a:avLst/>
          </a:prstGeom>
        </p:spPr>
        <p:txBody>
          <a:bodyPr anchor="t" rtlCol="false" tIns="0" lIns="0" bIns="0" rIns="0">
            <a:spAutoFit/>
          </a:bodyPr>
          <a:lstStyle/>
          <a:p>
            <a:pPr algn="l">
              <a:lnSpc>
                <a:spcPts val="2520"/>
              </a:lnSpc>
            </a:pPr>
            <a:r>
              <a:rPr lang="en-US" sz="2400" b="true">
                <a:solidFill>
                  <a:srgbClr val="FFFFFF"/>
                </a:solidFill>
                <a:latin typeface="Teko Bold"/>
                <a:ea typeface="Teko Bold"/>
                <a:cs typeface="Teko Bold"/>
                <a:sym typeface="Teko Bold"/>
              </a:rPr>
              <a:t>MACHINE</a:t>
            </a:r>
          </a:p>
          <a:p>
            <a:pPr algn="l">
              <a:lnSpc>
                <a:spcPts val="2520"/>
              </a:lnSpc>
            </a:pPr>
            <a:r>
              <a:rPr lang="en-US" sz="2400" b="true">
                <a:solidFill>
                  <a:srgbClr val="FFFFFF"/>
                </a:solidFill>
                <a:latin typeface="Teko Bold"/>
                <a:ea typeface="Teko Bold"/>
                <a:cs typeface="Teko Bold"/>
                <a:sym typeface="Teko Bold"/>
              </a:rPr>
              <a:t>LEARNING</a:t>
            </a:r>
          </a:p>
        </p:txBody>
      </p:sp>
      <p:sp>
        <p:nvSpPr>
          <p:cNvPr name="TextBox 21" id="21"/>
          <p:cNvSpPr txBox="true"/>
          <p:nvPr/>
        </p:nvSpPr>
        <p:spPr>
          <a:xfrm rot="0">
            <a:off x="1510662" y="7820112"/>
            <a:ext cx="3029574" cy="499516"/>
          </a:xfrm>
          <a:prstGeom prst="rect">
            <a:avLst/>
          </a:prstGeom>
        </p:spPr>
        <p:txBody>
          <a:bodyPr anchor="t" rtlCol="false" tIns="0" lIns="0" bIns="0" rIns="0">
            <a:spAutoFit/>
          </a:bodyPr>
          <a:lstStyle/>
          <a:p>
            <a:pPr algn="ctr">
              <a:lnSpc>
                <a:spcPts val="4027"/>
              </a:lnSpc>
            </a:pPr>
            <a:r>
              <a:rPr lang="en-US" sz="3196" b="true">
                <a:solidFill>
                  <a:srgbClr val="511A40"/>
                </a:solidFill>
                <a:latin typeface="Teko Semi-Bold"/>
                <a:ea typeface="Teko Semi-Bold"/>
                <a:cs typeface="Teko Semi-Bold"/>
                <a:sym typeface="Teko Semi-Bold"/>
              </a:rPr>
              <a:t>Mulai Sekarang</a:t>
            </a:r>
          </a:p>
        </p:txBody>
      </p:sp>
      <p:sp>
        <p:nvSpPr>
          <p:cNvPr name="TextBox 22" id="22"/>
          <p:cNvSpPr txBox="true"/>
          <p:nvPr/>
        </p:nvSpPr>
        <p:spPr>
          <a:xfrm rot="0">
            <a:off x="5000696" y="7820112"/>
            <a:ext cx="2416152" cy="499516"/>
          </a:xfrm>
          <a:prstGeom prst="rect">
            <a:avLst/>
          </a:prstGeom>
        </p:spPr>
        <p:txBody>
          <a:bodyPr anchor="t" rtlCol="false" tIns="0" lIns="0" bIns="0" rIns="0">
            <a:spAutoFit/>
          </a:bodyPr>
          <a:lstStyle/>
          <a:p>
            <a:pPr algn="ctr">
              <a:lnSpc>
                <a:spcPts val="4027"/>
              </a:lnSpc>
            </a:pPr>
            <a:r>
              <a:rPr lang="en-US" sz="3196" b="true">
                <a:solidFill>
                  <a:srgbClr val="511A40"/>
                </a:solidFill>
                <a:latin typeface="Teko Semi-Bold"/>
                <a:ea typeface="Teko Semi-Bold"/>
                <a:cs typeface="Teko Semi-Bold"/>
                <a:sym typeface="Teko Semi-Bold"/>
              </a:rPr>
              <a:t>Info Lainnya</a:t>
            </a:r>
          </a:p>
        </p:txBody>
      </p:sp>
      <p:sp>
        <p:nvSpPr>
          <p:cNvPr name="TextBox 23" id="23"/>
          <p:cNvSpPr txBox="true"/>
          <p:nvPr/>
        </p:nvSpPr>
        <p:spPr>
          <a:xfrm rot="0">
            <a:off x="11008001" y="1312524"/>
            <a:ext cx="2067536" cy="350901"/>
          </a:xfrm>
          <a:prstGeom prst="rect">
            <a:avLst/>
          </a:prstGeom>
        </p:spPr>
        <p:txBody>
          <a:bodyPr anchor="t" rtlCol="false" tIns="0" lIns="0" bIns="0" rIns="0">
            <a:spAutoFit/>
          </a:bodyPr>
          <a:lstStyle/>
          <a:p>
            <a:pPr algn="ctr">
              <a:lnSpc>
                <a:spcPts val="2592"/>
              </a:lnSpc>
            </a:pPr>
            <a:r>
              <a:rPr lang="en-US" sz="2400" b="true">
                <a:solidFill>
                  <a:srgbClr val="0D0E10"/>
                </a:solidFill>
                <a:latin typeface="Poppins Semi-Bold"/>
                <a:ea typeface="Poppins Semi-Bold"/>
                <a:cs typeface="Poppins Semi-Bold"/>
                <a:sym typeface="Poppins Semi-Bold"/>
              </a:rPr>
              <a:t>Teknologi</a:t>
            </a:r>
          </a:p>
        </p:txBody>
      </p:sp>
      <p:sp>
        <p:nvSpPr>
          <p:cNvPr name="TextBox 24" id="24"/>
          <p:cNvSpPr txBox="true"/>
          <p:nvPr/>
        </p:nvSpPr>
        <p:spPr>
          <a:xfrm rot="0">
            <a:off x="15285324" y="1312524"/>
            <a:ext cx="1472855"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Kontak</a:t>
            </a:r>
          </a:p>
        </p:txBody>
      </p:sp>
      <p:sp>
        <p:nvSpPr>
          <p:cNvPr name="Freeform 25" id="25"/>
          <p:cNvSpPr/>
          <p:nvPr/>
        </p:nvSpPr>
        <p:spPr>
          <a:xfrm flipH="false" flipV="true" rot="0">
            <a:off x="-1930626" y="9434042"/>
            <a:ext cx="4127214" cy="852958"/>
          </a:xfrm>
          <a:custGeom>
            <a:avLst/>
            <a:gdLst/>
            <a:ahLst/>
            <a:cxnLst/>
            <a:rect r="r" b="b" t="t" l="l"/>
            <a:pathLst>
              <a:path h="852958" w="4127214">
                <a:moveTo>
                  <a:pt x="0" y="852958"/>
                </a:moveTo>
                <a:lnTo>
                  <a:pt x="4127215" y="852958"/>
                </a:lnTo>
                <a:lnTo>
                  <a:pt x="4127215" y="0"/>
                </a:lnTo>
                <a:lnTo>
                  <a:pt x="0" y="0"/>
                </a:lnTo>
                <a:lnTo>
                  <a:pt x="0" y="852958"/>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6" id="26"/>
          <p:cNvSpPr/>
          <p:nvPr/>
        </p:nvSpPr>
        <p:spPr>
          <a:xfrm flipH="false" flipV="false" rot="0">
            <a:off x="10805551" y="1005831"/>
            <a:ext cx="549045" cy="549045"/>
          </a:xfrm>
          <a:custGeom>
            <a:avLst/>
            <a:gdLst/>
            <a:ahLst/>
            <a:cxnLst/>
            <a:rect r="r" b="b" t="t" l="l"/>
            <a:pathLst>
              <a:path h="549045" w="549045">
                <a:moveTo>
                  <a:pt x="0" y="0"/>
                </a:moveTo>
                <a:lnTo>
                  <a:pt x="549045" y="0"/>
                </a:lnTo>
                <a:lnTo>
                  <a:pt x="549045" y="549045"/>
                </a:lnTo>
                <a:lnTo>
                  <a:pt x="0" y="5490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7" id="27"/>
          <p:cNvSpPr/>
          <p:nvPr/>
        </p:nvSpPr>
        <p:spPr>
          <a:xfrm flipH="false" flipV="false" rot="0">
            <a:off x="1482399" y="7655671"/>
            <a:ext cx="434914" cy="434914"/>
          </a:xfrm>
          <a:custGeom>
            <a:avLst/>
            <a:gdLst/>
            <a:ahLst/>
            <a:cxnLst/>
            <a:rect r="r" b="b" t="t" l="l"/>
            <a:pathLst>
              <a:path h="434914" w="434914">
                <a:moveTo>
                  <a:pt x="0" y="0"/>
                </a:moveTo>
                <a:lnTo>
                  <a:pt x="434914" y="0"/>
                </a:lnTo>
                <a:lnTo>
                  <a:pt x="434914" y="434915"/>
                </a:lnTo>
                <a:lnTo>
                  <a:pt x="0" y="43491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0">
            <a:off x="5000696" y="7655671"/>
            <a:ext cx="434914" cy="434914"/>
          </a:xfrm>
          <a:custGeom>
            <a:avLst/>
            <a:gdLst/>
            <a:ahLst/>
            <a:cxnLst/>
            <a:rect r="r" b="b" t="t" l="l"/>
            <a:pathLst>
              <a:path h="434914" w="434914">
                <a:moveTo>
                  <a:pt x="0" y="0"/>
                </a:moveTo>
                <a:lnTo>
                  <a:pt x="434914" y="0"/>
                </a:lnTo>
                <a:lnTo>
                  <a:pt x="434914" y="434915"/>
                </a:lnTo>
                <a:lnTo>
                  <a:pt x="0" y="43491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9" id="29"/>
          <p:cNvSpPr/>
          <p:nvPr/>
        </p:nvSpPr>
        <p:spPr>
          <a:xfrm flipH="true" flipV="true" rot="0">
            <a:off x="4133585" y="7996617"/>
            <a:ext cx="434914" cy="434914"/>
          </a:xfrm>
          <a:custGeom>
            <a:avLst/>
            <a:gdLst/>
            <a:ahLst/>
            <a:cxnLst/>
            <a:rect r="r" b="b" t="t" l="l"/>
            <a:pathLst>
              <a:path h="434914" w="434914">
                <a:moveTo>
                  <a:pt x="434914" y="434914"/>
                </a:moveTo>
                <a:lnTo>
                  <a:pt x="0" y="434914"/>
                </a:lnTo>
                <a:lnTo>
                  <a:pt x="0" y="0"/>
                </a:lnTo>
                <a:lnTo>
                  <a:pt x="434914" y="0"/>
                </a:lnTo>
                <a:lnTo>
                  <a:pt x="434914" y="434914"/>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0" id="30"/>
          <p:cNvSpPr/>
          <p:nvPr/>
        </p:nvSpPr>
        <p:spPr>
          <a:xfrm flipH="true" flipV="true" rot="0">
            <a:off x="7651882" y="7996617"/>
            <a:ext cx="434914" cy="434914"/>
          </a:xfrm>
          <a:custGeom>
            <a:avLst/>
            <a:gdLst/>
            <a:ahLst/>
            <a:cxnLst/>
            <a:rect r="r" b="b" t="t" l="l"/>
            <a:pathLst>
              <a:path h="434914" w="434914">
                <a:moveTo>
                  <a:pt x="434914" y="434914"/>
                </a:moveTo>
                <a:lnTo>
                  <a:pt x="0" y="434914"/>
                </a:lnTo>
                <a:lnTo>
                  <a:pt x="0" y="0"/>
                </a:lnTo>
                <a:lnTo>
                  <a:pt x="434914" y="0"/>
                </a:lnTo>
                <a:lnTo>
                  <a:pt x="434914" y="434914"/>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1" id="31"/>
          <p:cNvSpPr/>
          <p:nvPr/>
        </p:nvSpPr>
        <p:spPr>
          <a:xfrm flipH="true" flipV="true" rot="0">
            <a:off x="16710255" y="1411549"/>
            <a:ext cx="549045" cy="549045"/>
          </a:xfrm>
          <a:custGeom>
            <a:avLst/>
            <a:gdLst/>
            <a:ahLst/>
            <a:cxnLst/>
            <a:rect r="r" b="b" t="t" l="l"/>
            <a:pathLst>
              <a:path h="549045" w="549045">
                <a:moveTo>
                  <a:pt x="549045" y="549044"/>
                </a:moveTo>
                <a:lnTo>
                  <a:pt x="0" y="549044"/>
                </a:lnTo>
                <a:lnTo>
                  <a:pt x="0" y="0"/>
                </a:lnTo>
                <a:lnTo>
                  <a:pt x="549045" y="0"/>
                </a:lnTo>
                <a:lnTo>
                  <a:pt x="549045" y="549044"/>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0">
            <a:off x="9293218" y="5143500"/>
            <a:ext cx="812872" cy="812872"/>
          </a:xfrm>
          <a:custGeom>
            <a:avLst/>
            <a:gdLst/>
            <a:ahLst/>
            <a:cxnLst/>
            <a:rect r="r" b="b" t="t" l="l"/>
            <a:pathLst>
              <a:path h="812872" w="812872">
                <a:moveTo>
                  <a:pt x="0" y="0"/>
                </a:moveTo>
                <a:lnTo>
                  <a:pt x="812872" y="0"/>
                </a:lnTo>
                <a:lnTo>
                  <a:pt x="812872" y="812872"/>
                </a:lnTo>
                <a:lnTo>
                  <a:pt x="0" y="812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16966226" y="2927032"/>
            <a:ext cx="586148" cy="586148"/>
          </a:xfrm>
          <a:custGeom>
            <a:avLst/>
            <a:gdLst/>
            <a:ahLst/>
            <a:cxnLst/>
            <a:rect r="r" b="b" t="t" l="l"/>
            <a:pathLst>
              <a:path h="586148" w="586148">
                <a:moveTo>
                  <a:pt x="0" y="0"/>
                </a:moveTo>
                <a:lnTo>
                  <a:pt x="586148" y="0"/>
                </a:lnTo>
                <a:lnTo>
                  <a:pt x="586148" y="586147"/>
                </a:lnTo>
                <a:lnTo>
                  <a:pt x="0" y="5861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4" id="34"/>
          <p:cNvSpPr txBox="true"/>
          <p:nvPr/>
        </p:nvSpPr>
        <p:spPr>
          <a:xfrm rot="0">
            <a:off x="1505231" y="5052833"/>
            <a:ext cx="7787987" cy="692150"/>
          </a:xfrm>
          <a:prstGeom prst="rect">
            <a:avLst/>
          </a:prstGeom>
        </p:spPr>
        <p:txBody>
          <a:bodyPr anchor="t" rtlCol="false" tIns="0" lIns="0" bIns="0" rIns="0">
            <a:spAutoFit/>
          </a:bodyPr>
          <a:lstStyle/>
          <a:p>
            <a:pPr algn="l">
              <a:lnSpc>
                <a:spcPts val="2800"/>
              </a:lnSpc>
            </a:pPr>
            <a:r>
              <a:rPr lang="en-US" sz="2000">
                <a:solidFill>
                  <a:srgbClr val="FFFFFF">
                    <a:alpha val="69804"/>
                  </a:srgbClr>
                </a:solidFill>
                <a:latin typeface="Montserrat"/>
                <a:ea typeface="Montserrat"/>
                <a:cs typeface="Montserrat"/>
                <a:sym typeface="Montserrat"/>
              </a:rPr>
              <a:t>ABDURRAHMAN GILANG HARJUNA</a:t>
            </a:r>
          </a:p>
          <a:p>
            <a:pPr algn="l">
              <a:lnSpc>
                <a:spcPts val="2800"/>
              </a:lnSpc>
            </a:pPr>
            <a:r>
              <a:rPr lang="en-US" sz="2000">
                <a:solidFill>
                  <a:srgbClr val="FFFFFF">
                    <a:alpha val="69804"/>
                  </a:srgbClr>
                </a:solidFill>
                <a:latin typeface="Montserrat"/>
                <a:ea typeface="Montserrat"/>
                <a:cs typeface="Montserrat"/>
                <a:sym typeface="Montserrat"/>
              </a:rPr>
              <a:t>2310817110004</a:t>
            </a:r>
          </a:p>
        </p:txBody>
      </p:sp>
      <p:sp>
        <p:nvSpPr>
          <p:cNvPr name="TextBox 35" id="35"/>
          <p:cNvSpPr txBox="true"/>
          <p:nvPr/>
        </p:nvSpPr>
        <p:spPr>
          <a:xfrm rot="0">
            <a:off x="13217157" y="1312524"/>
            <a:ext cx="1687167"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Infomasi</a:t>
            </a:r>
          </a:p>
        </p:txBody>
      </p:sp>
      <p:grpSp>
        <p:nvGrpSpPr>
          <p:cNvPr name="Group 36" id="36"/>
          <p:cNvGrpSpPr/>
          <p:nvPr/>
        </p:nvGrpSpPr>
        <p:grpSpPr>
          <a:xfrm rot="0">
            <a:off x="1028700" y="1024409"/>
            <a:ext cx="917606" cy="917606"/>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9" id="39"/>
          <p:cNvSpPr/>
          <p:nvPr/>
        </p:nvSpPr>
        <p:spPr>
          <a:xfrm flipH="false" flipV="false" rot="0">
            <a:off x="1159816" y="1188976"/>
            <a:ext cx="655375" cy="588472"/>
          </a:xfrm>
          <a:custGeom>
            <a:avLst/>
            <a:gdLst/>
            <a:ahLst/>
            <a:cxnLst/>
            <a:rect r="r" b="b" t="t" l="l"/>
            <a:pathLst>
              <a:path h="588472" w="655375">
                <a:moveTo>
                  <a:pt x="0" y="0"/>
                </a:moveTo>
                <a:lnTo>
                  <a:pt x="655375" y="0"/>
                </a:lnTo>
                <a:lnTo>
                  <a:pt x="655375" y="588472"/>
                </a:lnTo>
                <a:lnTo>
                  <a:pt x="0" y="5884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51A43">
                <a:alpha val="100000"/>
              </a:srgbClr>
            </a:gs>
            <a:gs pos="100000">
              <a:srgbClr val="181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1048" y="16034"/>
            <a:ext cx="4052537" cy="2831710"/>
          </a:xfrm>
          <a:custGeom>
            <a:avLst/>
            <a:gdLst/>
            <a:ahLst/>
            <a:cxnLst/>
            <a:rect r="r" b="b" t="t" l="l"/>
            <a:pathLst>
              <a:path h="2831710" w="4052537">
                <a:moveTo>
                  <a:pt x="0" y="0"/>
                </a:moveTo>
                <a:lnTo>
                  <a:pt x="4052537" y="0"/>
                </a:lnTo>
                <a:lnTo>
                  <a:pt x="4052537" y="2831710"/>
                </a:lnTo>
                <a:lnTo>
                  <a:pt x="0" y="28317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235463" y="7455290"/>
            <a:ext cx="4052537" cy="2831710"/>
          </a:xfrm>
          <a:custGeom>
            <a:avLst/>
            <a:gdLst/>
            <a:ahLst/>
            <a:cxnLst/>
            <a:rect r="r" b="b" t="t" l="l"/>
            <a:pathLst>
              <a:path h="2831710" w="4052537">
                <a:moveTo>
                  <a:pt x="4052537" y="2831710"/>
                </a:moveTo>
                <a:lnTo>
                  <a:pt x="0" y="2831710"/>
                </a:lnTo>
                <a:lnTo>
                  <a:pt x="0" y="0"/>
                </a:lnTo>
                <a:lnTo>
                  <a:pt x="4052537" y="0"/>
                </a:lnTo>
                <a:lnTo>
                  <a:pt x="4052537" y="283171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857127" y="5622956"/>
            <a:ext cx="6539208" cy="2530861"/>
            <a:chOff x="0" y="0"/>
            <a:chExt cx="909010" cy="351813"/>
          </a:xfrm>
        </p:grpSpPr>
        <p:sp>
          <p:nvSpPr>
            <p:cNvPr name="Freeform 5" id="5"/>
            <p:cNvSpPr/>
            <p:nvPr/>
          </p:nvSpPr>
          <p:spPr>
            <a:xfrm flipH="false" flipV="false" rot="0">
              <a:off x="0" y="0"/>
              <a:ext cx="909010" cy="351813"/>
            </a:xfrm>
            <a:custGeom>
              <a:avLst/>
              <a:gdLst/>
              <a:ahLst/>
              <a:cxnLst/>
              <a:rect r="r" b="b" t="t" l="l"/>
              <a:pathLst>
                <a:path h="351813" w="909010">
                  <a:moveTo>
                    <a:pt x="46173" y="0"/>
                  </a:moveTo>
                  <a:lnTo>
                    <a:pt x="862837" y="0"/>
                  </a:lnTo>
                  <a:cubicBezTo>
                    <a:pt x="888338" y="0"/>
                    <a:pt x="909010" y="20672"/>
                    <a:pt x="909010" y="46173"/>
                  </a:cubicBezTo>
                  <a:lnTo>
                    <a:pt x="909010" y="305640"/>
                  </a:lnTo>
                  <a:cubicBezTo>
                    <a:pt x="909010" y="331141"/>
                    <a:pt x="888338" y="351813"/>
                    <a:pt x="862837" y="351813"/>
                  </a:cubicBezTo>
                  <a:lnTo>
                    <a:pt x="46173" y="351813"/>
                  </a:lnTo>
                  <a:cubicBezTo>
                    <a:pt x="33927" y="351813"/>
                    <a:pt x="22183" y="346948"/>
                    <a:pt x="13524" y="338289"/>
                  </a:cubicBezTo>
                  <a:cubicBezTo>
                    <a:pt x="4865" y="329630"/>
                    <a:pt x="0" y="317886"/>
                    <a:pt x="0" y="305640"/>
                  </a:cubicBezTo>
                  <a:lnTo>
                    <a:pt x="0" y="46173"/>
                  </a:lnTo>
                  <a:cubicBezTo>
                    <a:pt x="0" y="20672"/>
                    <a:pt x="20672" y="0"/>
                    <a:pt x="46173" y="0"/>
                  </a:cubicBezTo>
                  <a:close/>
                </a:path>
              </a:pathLst>
            </a:custGeom>
            <a:blipFill>
              <a:blip r:embed="rId4"/>
              <a:stretch>
                <a:fillRect l="0" t="-32035" r="0" b="-32035"/>
              </a:stretch>
            </a:blipFill>
            <a:ln w="76200" cap="rnd">
              <a:solidFill>
                <a:srgbClr val="FFFFFF"/>
              </a:solidFill>
              <a:prstDash val="solid"/>
              <a:round/>
            </a:ln>
          </p:spPr>
        </p:sp>
      </p:grpSp>
      <p:grpSp>
        <p:nvGrpSpPr>
          <p:cNvPr name="Group 6" id="6"/>
          <p:cNvGrpSpPr/>
          <p:nvPr/>
        </p:nvGrpSpPr>
        <p:grpSpPr>
          <a:xfrm rot="0">
            <a:off x="1857127" y="2696982"/>
            <a:ext cx="6539208" cy="2668799"/>
            <a:chOff x="0" y="0"/>
            <a:chExt cx="909010" cy="370988"/>
          </a:xfrm>
        </p:grpSpPr>
        <p:sp>
          <p:nvSpPr>
            <p:cNvPr name="Freeform 7" id="7"/>
            <p:cNvSpPr/>
            <p:nvPr/>
          </p:nvSpPr>
          <p:spPr>
            <a:xfrm flipH="false" flipV="false" rot="0">
              <a:off x="0" y="0"/>
              <a:ext cx="909010" cy="370988"/>
            </a:xfrm>
            <a:custGeom>
              <a:avLst/>
              <a:gdLst/>
              <a:ahLst/>
              <a:cxnLst/>
              <a:rect r="r" b="b" t="t" l="l"/>
              <a:pathLst>
                <a:path h="370988" w="909010">
                  <a:moveTo>
                    <a:pt x="46173" y="0"/>
                  </a:moveTo>
                  <a:lnTo>
                    <a:pt x="862837" y="0"/>
                  </a:lnTo>
                  <a:cubicBezTo>
                    <a:pt x="888338" y="0"/>
                    <a:pt x="909010" y="20672"/>
                    <a:pt x="909010" y="46173"/>
                  </a:cubicBezTo>
                  <a:lnTo>
                    <a:pt x="909010" y="324815"/>
                  </a:lnTo>
                  <a:cubicBezTo>
                    <a:pt x="909010" y="350315"/>
                    <a:pt x="888338" y="370988"/>
                    <a:pt x="862837" y="370988"/>
                  </a:cubicBezTo>
                  <a:lnTo>
                    <a:pt x="46173" y="370988"/>
                  </a:lnTo>
                  <a:cubicBezTo>
                    <a:pt x="20672" y="370988"/>
                    <a:pt x="0" y="350315"/>
                    <a:pt x="0" y="324815"/>
                  </a:cubicBezTo>
                  <a:lnTo>
                    <a:pt x="0" y="46173"/>
                  </a:lnTo>
                  <a:cubicBezTo>
                    <a:pt x="0" y="20672"/>
                    <a:pt x="20672" y="0"/>
                    <a:pt x="46173" y="0"/>
                  </a:cubicBezTo>
                  <a:close/>
                </a:path>
              </a:pathLst>
            </a:custGeom>
            <a:blipFill>
              <a:blip r:embed="rId5"/>
              <a:stretch>
                <a:fillRect l="0" t="-383" r="0" b="-383"/>
              </a:stretch>
            </a:blipFill>
            <a:ln w="76200" cap="rnd">
              <a:solidFill>
                <a:srgbClr val="FFFFFF"/>
              </a:solidFill>
              <a:prstDash val="solid"/>
              <a:round/>
            </a:ln>
          </p:spPr>
        </p:sp>
      </p:grpSp>
      <p:sp>
        <p:nvSpPr>
          <p:cNvPr name="TextBox 8" id="8"/>
          <p:cNvSpPr txBox="true"/>
          <p:nvPr/>
        </p:nvSpPr>
        <p:spPr>
          <a:xfrm rot="0">
            <a:off x="9326339" y="2782707"/>
            <a:ext cx="6482829" cy="742950"/>
          </a:xfrm>
          <a:prstGeom prst="rect">
            <a:avLst/>
          </a:prstGeom>
        </p:spPr>
        <p:txBody>
          <a:bodyPr anchor="t" rtlCol="false" tIns="0" lIns="0" bIns="0" rIns="0">
            <a:spAutoFit/>
          </a:bodyPr>
          <a:lstStyle/>
          <a:p>
            <a:pPr algn="l" marL="0" indent="0" lvl="0">
              <a:lnSpc>
                <a:spcPts val="5774"/>
              </a:lnSpc>
              <a:spcBef>
                <a:spcPct val="0"/>
              </a:spcBef>
            </a:pPr>
            <a:r>
              <a:rPr lang="en-US" b="true" sz="5499">
                <a:solidFill>
                  <a:srgbClr val="FFFFFF"/>
                </a:solidFill>
                <a:latin typeface="Teko Semi-Bold"/>
                <a:ea typeface="Teko Semi-Bold"/>
                <a:cs typeface="Teko Semi-Bold"/>
                <a:sym typeface="Teko Semi-Bold"/>
              </a:rPr>
              <a:t>DATASET</a:t>
            </a:r>
          </a:p>
        </p:txBody>
      </p:sp>
      <p:sp>
        <p:nvSpPr>
          <p:cNvPr name="TextBox 9" id="9"/>
          <p:cNvSpPr txBox="true"/>
          <p:nvPr/>
        </p:nvSpPr>
        <p:spPr>
          <a:xfrm rot="0">
            <a:off x="9326339" y="3487557"/>
            <a:ext cx="7150733" cy="3159125"/>
          </a:xfrm>
          <a:prstGeom prst="rect">
            <a:avLst/>
          </a:prstGeom>
        </p:spPr>
        <p:txBody>
          <a:bodyPr anchor="t" rtlCol="false" tIns="0" lIns="0" bIns="0" rIns="0">
            <a:spAutoFit/>
          </a:bodyPr>
          <a:lstStyle/>
          <a:p>
            <a:pPr algn="l">
              <a:lnSpc>
                <a:spcPts val="2800"/>
              </a:lnSpc>
            </a:pPr>
            <a:r>
              <a:rPr lang="en-US" sz="2000">
                <a:solidFill>
                  <a:srgbClr val="FFFFFF">
                    <a:alpha val="69804"/>
                  </a:srgbClr>
                </a:solidFill>
                <a:latin typeface="Montserrat"/>
                <a:ea typeface="Montserrat"/>
                <a:cs typeface="Montserrat"/>
                <a:sym typeface="Montserrat"/>
              </a:rPr>
              <a:t>Dataset yang digunakan berupa alat-alat gym yang berjumlah 100 lebih dan terbagi sebanyak 30 foto per classnya (balance. Dataset Equipment Gym ini dipilih untuk bisa mngenali alat yang berada gym, yang mana banyak sekali macam alat tapi kita tidak tau apa barang tersebut dan gunanya untuk apa? jadi Machine Learning ini lah yang akan mengenali pola-pola alat tersebut agar user bisa mengenali alat tersebut tanpa secara manual tapi hanya dengan klasifikasi.</a:t>
            </a:r>
          </a:p>
        </p:txBody>
      </p:sp>
      <p:sp>
        <p:nvSpPr>
          <p:cNvPr name="Freeform 10" id="10"/>
          <p:cNvSpPr/>
          <p:nvPr/>
        </p:nvSpPr>
        <p:spPr>
          <a:xfrm flipH="false" flipV="true" rot="0">
            <a:off x="-1930626" y="9434042"/>
            <a:ext cx="4127214" cy="852958"/>
          </a:xfrm>
          <a:custGeom>
            <a:avLst/>
            <a:gdLst/>
            <a:ahLst/>
            <a:cxnLst/>
            <a:rect r="r" b="b" t="t" l="l"/>
            <a:pathLst>
              <a:path h="852958" w="4127214">
                <a:moveTo>
                  <a:pt x="0" y="852958"/>
                </a:moveTo>
                <a:lnTo>
                  <a:pt x="4127215" y="852958"/>
                </a:lnTo>
                <a:lnTo>
                  <a:pt x="4127215" y="0"/>
                </a:lnTo>
                <a:lnTo>
                  <a:pt x="0" y="0"/>
                </a:lnTo>
                <a:lnTo>
                  <a:pt x="0" y="85295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6796677" y="8795677"/>
            <a:ext cx="462623" cy="462623"/>
          </a:xfrm>
          <a:custGeom>
            <a:avLst/>
            <a:gdLst/>
            <a:ahLst/>
            <a:cxnLst/>
            <a:rect r="r" b="b" t="t" l="l"/>
            <a:pathLst>
              <a:path h="462623" w="462623">
                <a:moveTo>
                  <a:pt x="0" y="0"/>
                </a:moveTo>
                <a:lnTo>
                  <a:pt x="462623" y="0"/>
                </a:lnTo>
                <a:lnTo>
                  <a:pt x="462623" y="462623"/>
                </a:lnTo>
                <a:lnTo>
                  <a:pt x="0" y="4626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7160799" y="1279635"/>
            <a:ext cx="812872" cy="812872"/>
          </a:xfrm>
          <a:custGeom>
            <a:avLst/>
            <a:gdLst/>
            <a:ahLst/>
            <a:cxnLst/>
            <a:rect r="r" b="b" t="t" l="l"/>
            <a:pathLst>
              <a:path h="812872" w="812872">
                <a:moveTo>
                  <a:pt x="0" y="0"/>
                </a:moveTo>
                <a:lnTo>
                  <a:pt x="812872" y="0"/>
                </a:lnTo>
                <a:lnTo>
                  <a:pt x="812872" y="812872"/>
                </a:lnTo>
                <a:lnTo>
                  <a:pt x="0" y="8128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6261732" y="4046208"/>
            <a:ext cx="586148" cy="586148"/>
          </a:xfrm>
          <a:custGeom>
            <a:avLst/>
            <a:gdLst/>
            <a:ahLst/>
            <a:cxnLst/>
            <a:rect r="r" b="b" t="t" l="l"/>
            <a:pathLst>
              <a:path h="586148" w="586148">
                <a:moveTo>
                  <a:pt x="0" y="0"/>
                </a:moveTo>
                <a:lnTo>
                  <a:pt x="586148" y="0"/>
                </a:lnTo>
                <a:lnTo>
                  <a:pt x="586148" y="586148"/>
                </a:lnTo>
                <a:lnTo>
                  <a:pt x="0" y="58614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9354602" y="7377958"/>
            <a:ext cx="3086100" cy="775859"/>
            <a:chOff x="0" y="0"/>
            <a:chExt cx="812800" cy="204342"/>
          </a:xfrm>
        </p:grpSpPr>
        <p:sp>
          <p:nvSpPr>
            <p:cNvPr name="Freeform 15" id="15"/>
            <p:cNvSpPr/>
            <p:nvPr/>
          </p:nvSpPr>
          <p:spPr>
            <a:xfrm flipH="false" flipV="false" rot="0">
              <a:off x="0" y="0"/>
              <a:ext cx="812800" cy="204342"/>
            </a:xfrm>
            <a:custGeom>
              <a:avLst/>
              <a:gdLst/>
              <a:ahLst/>
              <a:cxnLst/>
              <a:rect r="r" b="b" t="t" l="l"/>
              <a:pathLst>
                <a:path h="204342" w="812800">
                  <a:moveTo>
                    <a:pt x="102171" y="0"/>
                  </a:moveTo>
                  <a:lnTo>
                    <a:pt x="710629" y="0"/>
                  </a:lnTo>
                  <a:cubicBezTo>
                    <a:pt x="767057" y="0"/>
                    <a:pt x="812800" y="45743"/>
                    <a:pt x="812800" y="102171"/>
                  </a:cubicBezTo>
                  <a:lnTo>
                    <a:pt x="812800" y="102171"/>
                  </a:lnTo>
                  <a:cubicBezTo>
                    <a:pt x="812800" y="129268"/>
                    <a:pt x="802036" y="155256"/>
                    <a:pt x="782875" y="174416"/>
                  </a:cubicBezTo>
                  <a:cubicBezTo>
                    <a:pt x="763714" y="193577"/>
                    <a:pt x="737727" y="204342"/>
                    <a:pt x="710629" y="204342"/>
                  </a:cubicBezTo>
                  <a:lnTo>
                    <a:pt x="102171" y="204342"/>
                  </a:lnTo>
                  <a:cubicBezTo>
                    <a:pt x="45743" y="204342"/>
                    <a:pt x="0" y="158598"/>
                    <a:pt x="0" y="102171"/>
                  </a:cubicBezTo>
                  <a:lnTo>
                    <a:pt x="0" y="102171"/>
                  </a:lnTo>
                  <a:cubicBezTo>
                    <a:pt x="0" y="45743"/>
                    <a:pt x="45743" y="0"/>
                    <a:pt x="102171" y="0"/>
                  </a:cubicBezTo>
                  <a:close/>
                </a:path>
              </a:pathLst>
            </a:custGeom>
            <a:solidFill>
              <a:srgbClr val="FFFFFF"/>
            </a:solidFill>
          </p:spPr>
        </p:sp>
        <p:sp>
          <p:nvSpPr>
            <p:cNvPr name="TextBox 16" id="16"/>
            <p:cNvSpPr txBox="true"/>
            <p:nvPr/>
          </p:nvSpPr>
          <p:spPr>
            <a:xfrm>
              <a:off x="0" y="-38100"/>
              <a:ext cx="812800" cy="242442"/>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9382865" y="7542399"/>
            <a:ext cx="3029574" cy="499516"/>
          </a:xfrm>
          <a:prstGeom prst="rect">
            <a:avLst/>
          </a:prstGeom>
        </p:spPr>
        <p:txBody>
          <a:bodyPr anchor="t" rtlCol="false" tIns="0" lIns="0" bIns="0" rIns="0">
            <a:spAutoFit/>
          </a:bodyPr>
          <a:lstStyle/>
          <a:p>
            <a:pPr algn="ctr">
              <a:lnSpc>
                <a:spcPts val="4027"/>
              </a:lnSpc>
            </a:pPr>
            <a:r>
              <a:rPr lang="en-US" sz="3196" b="true">
                <a:solidFill>
                  <a:srgbClr val="511A40"/>
                </a:solidFill>
                <a:latin typeface="Teko Semi-Bold"/>
                <a:ea typeface="Teko Semi-Bold"/>
                <a:cs typeface="Teko Semi-Bold"/>
                <a:sym typeface="Teko Semi-Bold"/>
              </a:rPr>
              <a:t>Lihat Informasi</a:t>
            </a:r>
          </a:p>
        </p:txBody>
      </p:sp>
      <p:sp>
        <p:nvSpPr>
          <p:cNvPr name="Freeform 18" id="18"/>
          <p:cNvSpPr/>
          <p:nvPr/>
        </p:nvSpPr>
        <p:spPr>
          <a:xfrm flipH="false" flipV="false" rot="0">
            <a:off x="9354602" y="7377958"/>
            <a:ext cx="434914" cy="434914"/>
          </a:xfrm>
          <a:custGeom>
            <a:avLst/>
            <a:gdLst/>
            <a:ahLst/>
            <a:cxnLst/>
            <a:rect r="r" b="b" t="t" l="l"/>
            <a:pathLst>
              <a:path h="434914" w="434914">
                <a:moveTo>
                  <a:pt x="0" y="0"/>
                </a:moveTo>
                <a:lnTo>
                  <a:pt x="434914" y="0"/>
                </a:lnTo>
                <a:lnTo>
                  <a:pt x="434914" y="434914"/>
                </a:lnTo>
                <a:lnTo>
                  <a:pt x="0" y="43491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true" flipV="true" rot="0">
            <a:off x="12005788" y="7718903"/>
            <a:ext cx="434914" cy="434914"/>
          </a:xfrm>
          <a:custGeom>
            <a:avLst/>
            <a:gdLst/>
            <a:ahLst/>
            <a:cxnLst/>
            <a:rect r="r" b="b" t="t" l="l"/>
            <a:pathLst>
              <a:path h="434914" w="434914">
                <a:moveTo>
                  <a:pt x="434914" y="434915"/>
                </a:moveTo>
                <a:lnTo>
                  <a:pt x="0" y="434915"/>
                </a:lnTo>
                <a:lnTo>
                  <a:pt x="0" y="0"/>
                </a:lnTo>
                <a:lnTo>
                  <a:pt x="434914" y="0"/>
                </a:lnTo>
                <a:lnTo>
                  <a:pt x="434914" y="434915"/>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0" id="20"/>
          <p:cNvGrpSpPr/>
          <p:nvPr/>
        </p:nvGrpSpPr>
        <p:grpSpPr>
          <a:xfrm rot="0">
            <a:off x="10804221" y="1005831"/>
            <a:ext cx="6455079" cy="954762"/>
            <a:chOff x="0" y="0"/>
            <a:chExt cx="1700103" cy="251460"/>
          </a:xfrm>
        </p:grpSpPr>
        <p:sp>
          <p:nvSpPr>
            <p:cNvPr name="Freeform 21" id="21"/>
            <p:cNvSpPr/>
            <p:nvPr/>
          </p:nvSpPr>
          <p:spPr>
            <a:xfrm flipH="false" flipV="false" rot="0">
              <a:off x="0" y="0"/>
              <a:ext cx="1700103" cy="251460"/>
            </a:xfrm>
            <a:custGeom>
              <a:avLst/>
              <a:gdLst/>
              <a:ahLst/>
              <a:cxnLst/>
              <a:rect r="r" b="b" t="t" l="l"/>
              <a:pathLst>
                <a:path h="251460" w="1700103">
                  <a:moveTo>
                    <a:pt x="119935" y="0"/>
                  </a:moveTo>
                  <a:lnTo>
                    <a:pt x="1580168" y="0"/>
                  </a:lnTo>
                  <a:cubicBezTo>
                    <a:pt x="1646406" y="0"/>
                    <a:pt x="1700103" y="53697"/>
                    <a:pt x="1700103" y="119935"/>
                  </a:cubicBezTo>
                  <a:lnTo>
                    <a:pt x="1700103" y="131525"/>
                  </a:lnTo>
                  <a:cubicBezTo>
                    <a:pt x="1700103" y="197763"/>
                    <a:pt x="1646406" y="251460"/>
                    <a:pt x="1580168" y="251460"/>
                  </a:cubicBezTo>
                  <a:lnTo>
                    <a:pt x="119935" y="251460"/>
                  </a:lnTo>
                  <a:cubicBezTo>
                    <a:pt x="53697" y="251460"/>
                    <a:pt x="0" y="197763"/>
                    <a:pt x="0" y="131525"/>
                  </a:cubicBezTo>
                  <a:lnTo>
                    <a:pt x="0" y="119935"/>
                  </a:lnTo>
                  <a:cubicBezTo>
                    <a:pt x="0" y="53697"/>
                    <a:pt x="53697" y="0"/>
                    <a:pt x="119935" y="0"/>
                  </a:cubicBezTo>
                  <a:close/>
                </a:path>
              </a:pathLst>
            </a:custGeom>
            <a:solidFill>
              <a:srgbClr val="FFFFFF"/>
            </a:solidFill>
          </p:spPr>
        </p:sp>
        <p:sp>
          <p:nvSpPr>
            <p:cNvPr name="TextBox 22" id="22"/>
            <p:cNvSpPr txBox="true"/>
            <p:nvPr/>
          </p:nvSpPr>
          <p:spPr>
            <a:xfrm>
              <a:off x="0" y="-38100"/>
              <a:ext cx="1700103" cy="28956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1008001" y="1312524"/>
            <a:ext cx="2067536" cy="350901"/>
          </a:xfrm>
          <a:prstGeom prst="rect">
            <a:avLst/>
          </a:prstGeom>
        </p:spPr>
        <p:txBody>
          <a:bodyPr anchor="t" rtlCol="false" tIns="0" lIns="0" bIns="0" rIns="0">
            <a:spAutoFit/>
          </a:bodyPr>
          <a:lstStyle/>
          <a:p>
            <a:pPr algn="ctr">
              <a:lnSpc>
                <a:spcPts val="2592"/>
              </a:lnSpc>
            </a:pPr>
            <a:r>
              <a:rPr lang="en-US" sz="2400" b="true">
                <a:solidFill>
                  <a:srgbClr val="0D0E10"/>
                </a:solidFill>
                <a:latin typeface="Poppins Semi-Bold"/>
                <a:ea typeface="Poppins Semi-Bold"/>
                <a:cs typeface="Poppins Semi-Bold"/>
                <a:sym typeface="Poppins Semi-Bold"/>
              </a:rPr>
              <a:t>Teknologi</a:t>
            </a:r>
          </a:p>
        </p:txBody>
      </p:sp>
      <p:sp>
        <p:nvSpPr>
          <p:cNvPr name="TextBox 24" id="24"/>
          <p:cNvSpPr txBox="true"/>
          <p:nvPr/>
        </p:nvSpPr>
        <p:spPr>
          <a:xfrm rot="0">
            <a:off x="15285324" y="1312524"/>
            <a:ext cx="1472855"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Kontak</a:t>
            </a:r>
          </a:p>
        </p:txBody>
      </p:sp>
      <p:sp>
        <p:nvSpPr>
          <p:cNvPr name="Freeform 25" id="25"/>
          <p:cNvSpPr/>
          <p:nvPr/>
        </p:nvSpPr>
        <p:spPr>
          <a:xfrm flipH="false" flipV="false" rot="0">
            <a:off x="10805551" y="1005831"/>
            <a:ext cx="549045" cy="549045"/>
          </a:xfrm>
          <a:custGeom>
            <a:avLst/>
            <a:gdLst/>
            <a:ahLst/>
            <a:cxnLst/>
            <a:rect r="r" b="b" t="t" l="l"/>
            <a:pathLst>
              <a:path h="549045" w="549045">
                <a:moveTo>
                  <a:pt x="0" y="0"/>
                </a:moveTo>
                <a:lnTo>
                  <a:pt x="549045" y="0"/>
                </a:lnTo>
                <a:lnTo>
                  <a:pt x="549045" y="549045"/>
                </a:lnTo>
                <a:lnTo>
                  <a:pt x="0" y="54904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true" flipV="true" rot="0">
            <a:off x="16710255" y="1411549"/>
            <a:ext cx="549045" cy="549045"/>
          </a:xfrm>
          <a:custGeom>
            <a:avLst/>
            <a:gdLst/>
            <a:ahLst/>
            <a:cxnLst/>
            <a:rect r="r" b="b" t="t" l="l"/>
            <a:pathLst>
              <a:path h="549045" w="549045">
                <a:moveTo>
                  <a:pt x="549045" y="549044"/>
                </a:moveTo>
                <a:lnTo>
                  <a:pt x="0" y="549044"/>
                </a:lnTo>
                <a:lnTo>
                  <a:pt x="0" y="0"/>
                </a:lnTo>
                <a:lnTo>
                  <a:pt x="549045" y="0"/>
                </a:lnTo>
                <a:lnTo>
                  <a:pt x="549045" y="549044"/>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7" id="27"/>
          <p:cNvSpPr txBox="true"/>
          <p:nvPr/>
        </p:nvSpPr>
        <p:spPr>
          <a:xfrm rot="0">
            <a:off x="13217157" y="1312524"/>
            <a:ext cx="1687167"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Infomasi</a:t>
            </a:r>
          </a:p>
        </p:txBody>
      </p:sp>
      <p:sp>
        <p:nvSpPr>
          <p:cNvPr name="TextBox 28" id="28"/>
          <p:cNvSpPr txBox="true"/>
          <p:nvPr/>
        </p:nvSpPr>
        <p:spPr>
          <a:xfrm rot="0">
            <a:off x="2196589" y="1217551"/>
            <a:ext cx="2571982" cy="645795"/>
          </a:xfrm>
          <a:prstGeom prst="rect">
            <a:avLst/>
          </a:prstGeom>
        </p:spPr>
        <p:txBody>
          <a:bodyPr anchor="t" rtlCol="false" tIns="0" lIns="0" bIns="0" rIns="0">
            <a:spAutoFit/>
          </a:bodyPr>
          <a:lstStyle/>
          <a:p>
            <a:pPr algn="l">
              <a:lnSpc>
                <a:spcPts val="2520"/>
              </a:lnSpc>
            </a:pPr>
            <a:r>
              <a:rPr lang="en-US" sz="2400" b="true">
                <a:solidFill>
                  <a:srgbClr val="FFFFFF"/>
                </a:solidFill>
                <a:latin typeface="Teko Bold"/>
                <a:ea typeface="Teko Bold"/>
                <a:cs typeface="Teko Bold"/>
                <a:sym typeface="Teko Bold"/>
              </a:rPr>
              <a:t>MACHINE</a:t>
            </a:r>
          </a:p>
          <a:p>
            <a:pPr algn="l">
              <a:lnSpc>
                <a:spcPts val="2520"/>
              </a:lnSpc>
            </a:pPr>
            <a:r>
              <a:rPr lang="en-US" sz="2400" b="true">
                <a:solidFill>
                  <a:srgbClr val="FFFFFF"/>
                </a:solidFill>
                <a:latin typeface="Teko Bold"/>
                <a:ea typeface="Teko Bold"/>
                <a:cs typeface="Teko Bold"/>
                <a:sym typeface="Teko Bold"/>
              </a:rPr>
              <a:t>LEARNING</a:t>
            </a:r>
          </a:p>
        </p:txBody>
      </p:sp>
      <p:grpSp>
        <p:nvGrpSpPr>
          <p:cNvPr name="Group 29" id="29"/>
          <p:cNvGrpSpPr/>
          <p:nvPr/>
        </p:nvGrpSpPr>
        <p:grpSpPr>
          <a:xfrm rot="0">
            <a:off x="1028700" y="1024409"/>
            <a:ext cx="917606" cy="917606"/>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1159816" y="1188976"/>
            <a:ext cx="655375" cy="588472"/>
          </a:xfrm>
          <a:custGeom>
            <a:avLst/>
            <a:gdLst/>
            <a:ahLst/>
            <a:cxnLst/>
            <a:rect r="r" b="b" t="t" l="l"/>
            <a:pathLst>
              <a:path h="588472" w="655375">
                <a:moveTo>
                  <a:pt x="0" y="0"/>
                </a:moveTo>
                <a:lnTo>
                  <a:pt x="655375" y="0"/>
                </a:lnTo>
                <a:lnTo>
                  <a:pt x="655375" y="588472"/>
                </a:lnTo>
                <a:lnTo>
                  <a:pt x="0" y="58847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51A43">
                <a:alpha val="100000"/>
              </a:srgbClr>
            </a:gs>
            <a:gs pos="100000">
              <a:srgbClr val="181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1048" y="16034"/>
            <a:ext cx="4052537" cy="2831710"/>
          </a:xfrm>
          <a:custGeom>
            <a:avLst/>
            <a:gdLst/>
            <a:ahLst/>
            <a:cxnLst/>
            <a:rect r="r" b="b" t="t" l="l"/>
            <a:pathLst>
              <a:path h="2831710" w="4052537">
                <a:moveTo>
                  <a:pt x="0" y="0"/>
                </a:moveTo>
                <a:lnTo>
                  <a:pt x="4052537" y="0"/>
                </a:lnTo>
                <a:lnTo>
                  <a:pt x="4052537" y="2831710"/>
                </a:lnTo>
                <a:lnTo>
                  <a:pt x="0" y="28317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235463" y="7455290"/>
            <a:ext cx="4052537" cy="2831710"/>
          </a:xfrm>
          <a:custGeom>
            <a:avLst/>
            <a:gdLst/>
            <a:ahLst/>
            <a:cxnLst/>
            <a:rect r="r" b="b" t="t" l="l"/>
            <a:pathLst>
              <a:path h="2831710" w="4052537">
                <a:moveTo>
                  <a:pt x="4052537" y="2831710"/>
                </a:moveTo>
                <a:lnTo>
                  <a:pt x="0" y="2831710"/>
                </a:lnTo>
                <a:lnTo>
                  <a:pt x="0" y="0"/>
                </a:lnTo>
                <a:lnTo>
                  <a:pt x="4052537" y="0"/>
                </a:lnTo>
                <a:lnTo>
                  <a:pt x="4052537" y="283171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9886260" y="2660186"/>
            <a:ext cx="6135491" cy="6135491"/>
            <a:chOff x="0" y="0"/>
            <a:chExt cx="5600700" cy="5600700"/>
          </a:xfrm>
        </p:grpSpPr>
        <p:sp>
          <p:nvSpPr>
            <p:cNvPr name="Freeform 5" id="5"/>
            <p:cNvSpPr/>
            <p:nvPr/>
          </p:nvSpPr>
          <p:spPr>
            <a:xfrm flipH="false" flipV="false" rot="0">
              <a:off x="0" y="0"/>
              <a:ext cx="5600700" cy="5600700"/>
            </a:xfrm>
            <a:custGeom>
              <a:avLst/>
              <a:gdLst/>
              <a:ahLst/>
              <a:cxnLst/>
              <a:rect r="r" b="b" t="t" l="l"/>
              <a:pathLst>
                <a:path h="5600700" w="5600700">
                  <a:moveTo>
                    <a:pt x="2942781" y="0"/>
                  </a:moveTo>
                  <a:lnTo>
                    <a:pt x="234759" y="0"/>
                  </a:lnTo>
                  <a:cubicBezTo>
                    <a:pt x="105105" y="0"/>
                    <a:pt x="0" y="105105"/>
                    <a:pt x="0" y="234759"/>
                  </a:cubicBezTo>
                  <a:lnTo>
                    <a:pt x="0" y="3960051"/>
                  </a:lnTo>
                  <a:cubicBezTo>
                    <a:pt x="0" y="4089705"/>
                    <a:pt x="105105" y="4194810"/>
                    <a:pt x="234759" y="4194810"/>
                  </a:cubicBezTo>
                  <a:lnTo>
                    <a:pt x="2187131" y="4194810"/>
                  </a:lnTo>
                  <a:cubicBezTo>
                    <a:pt x="2316785" y="4194810"/>
                    <a:pt x="2421890" y="4299915"/>
                    <a:pt x="2421890" y="4429568"/>
                  </a:cubicBezTo>
                  <a:lnTo>
                    <a:pt x="2421890" y="5365941"/>
                  </a:lnTo>
                  <a:cubicBezTo>
                    <a:pt x="2421890" y="5428203"/>
                    <a:pt x="2446623" y="5487915"/>
                    <a:pt x="2490649" y="5531941"/>
                  </a:cubicBezTo>
                  <a:cubicBezTo>
                    <a:pt x="2534675" y="5575967"/>
                    <a:pt x="2594387" y="5600700"/>
                    <a:pt x="2656649" y="5600700"/>
                  </a:cubicBezTo>
                  <a:lnTo>
                    <a:pt x="5365941" y="5600700"/>
                  </a:lnTo>
                  <a:cubicBezTo>
                    <a:pt x="5495595" y="5600700"/>
                    <a:pt x="5600700" y="5495595"/>
                    <a:pt x="5600700" y="5365941"/>
                  </a:cubicBezTo>
                  <a:lnTo>
                    <a:pt x="5600700" y="1640649"/>
                  </a:lnTo>
                  <a:cubicBezTo>
                    <a:pt x="5600700" y="1510995"/>
                    <a:pt x="5495595" y="1405890"/>
                    <a:pt x="5365941" y="1405890"/>
                  </a:cubicBezTo>
                  <a:lnTo>
                    <a:pt x="3412299" y="1405890"/>
                  </a:lnTo>
                  <a:cubicBezTo>
                    <a:pt x="3282645" y="1405890"/>
                    <a:pt x="3177540" y="1300785"/>
                    <a:pt x="3177540" y="1171131"/>
                  </a:cubicBezTo>
                  <a:lnTo>
                    <a:pt x="3177540" y="234759"/>
                  </a:lnTo>
                  <a:cubicBezTo>
                    <a:pt x="3177540" y="105105"/>
                    <a:pt x="3072435" y="0"/>
                    <a:pt x="2942781" y="0"/>
                  </a:cubicBezTo>
                  <a:close/>
                </a:path>
              </a:pathLst>
            </a:custGeom>
            <a:blipFill>
              <a:blip r:embed="rId4"/>
              <a:stretch>
                <a:fillRect l="-22799" t="-8358" r="-40603" b="-509"/>
              </a:stretch>
            </a:blipFill>
            <a:ln w="76200" cap="rnd">
              <a:solidFill>
                <a:srgbClr val="FFFFFF"/>
              </a:solidFill>
              <a:prstDash val="solid"/>
              <a:round/>
            </a:ln>
          </p:spPr>
        </p:sp>
      </p:grpSp>
      <p:sp>
        <p:nvSpPr>
          <p:cNvPr name="Freeform 6" id="6"/>
          <p:cNvSpPr/>
          <p:nvPr/>
        </p:nvSpPr>
        <p:spPr>
          <a:xfrm flipH="false" flipV="false" rot="0">
            <a:off x="16796677" y="8795677"/>
            <a:ext cx="462623" cy="462623"/>
          </a:xfrm>
          <a:custGeom>
            <a:avLst/>
            <a:gdLst/>
            <a:ahLst/>
            <a:cxnLst/>
            <a:rect r="r" b="b" t="t" l="l"/>
            <a:pathLst>
              <a:path h="462623" w="462623">
                <a:moveTo>
                  <a:pt x="0" y="0"/>
                </a:moveTo>
                <a:lnTo>
                  <a:pt x="462623" y="0"/>
                </a:lnTo>
                <a:lnTo>
                  <a:pt x="462623" y="462623"/>
                </a:lnTo>
                <a:lnTo>
                  <a:pt x="0" y="4626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917313" y="3073277"/>
            <a:ext cx="7564134" cy="742950"/>
          </a:xfrm>
          <a:prstGeom prst="rect">
            <a:avLst/>
          </a:prstGeom>
        </p:spPr>
        <p:txBody>
          <a:bodyPr anchor="t" rtlCol="false" tIns="0" lIns="0" bIns="0" rIns="0">
            <a:spAutoFit/>
          </a:bodyPr>
          <a:lstStyle/>
          <a:p>
            <a:pPr algn="l" marL="0" indent="0" lvl="0">
              <a:lnSpc>
                <a:spcPts val="5774"/>
              </a:lnSpc>
              <a:spcBef>
                <a:spcPct val="0"/>
              </a:spcBef>
            </a:pPr>
            <a:r>
              <a:rPr lang="en-US" b="true" sz="5499">
                <a:solidFill>
                  <a:srgbClr val="FFFFFF"/>
                </a:solidFill>
                <a:latin typeface="Teko Semi-Bold"/>
                <a:ea typeface="Teko Semi-Bold"/>
                <a:cs typeface="Teko Semi-Bold"/>
                <a:sym typeface="Teko Semi-Bold"/>
              </a:rPr>
              <a:t>TUJUAN DATASET</a:t>
            </a:r>
          </a:p>
        </p:txBody>
      </p:sp>
      <p:sp>
        <p:nvSpPr>
          <p:cNvPr name="TextBox 8" id="8"/>
          <p:cNvSpPr txBox="true"/>
          <p:nvPr/>
        </p:nvSpPr>
        <p:spPr>
          <a:xfrm rot="0">
            <a:off x="1917313" y="3778127"/>
            <a:ext cx="7150733" cy="3749040"/>
          </a:xfrm>
          <a:prstGeom prst="rect">
            <a:avLst/>
          </a:prstGeom>
        </p:spPr>
        <p:txBody>
          <a:bodyPr anchor="t" rtlCol="false" tIns="0" lIns="0" bIns="0" rIns="0">
            <a:spAutoFit/>
          </a:bodyPr>
          <a:lstStyle/>
          <a:p>
            <a:pPr algn="l" marL="518158" indent="-259079" lvl="1">
              <a:lnSpc>
                <a:spcPts val="3359"/>
              </a:lnSpc>
              <a:buFont typeface="Arial"/>
              <a:buChar char="•"/>
            </a:pPr>
            <a:r>
              <a:rPr lang="en-US" sz="2399">
                <a:solidFill>
                  <a:srgbClr val="FFFFFF"/>
                </a:solidFill>
                <a:latin typeface="Montserrat"/>
                <a:ea typeface="Montserrat"/>
                <a:cs typeface="Montserrat"/>
                <a:sym typeface="Montserrat"/>
              </a:rPr>
              <a:t>Agar model klasifikasi mampu untuk mengenali alat-lat gym</a:t>
            </a:r>
          </a:p>
          <a:p>
            <a:pPr algn="l" marL="518158" indent="-259079" lvl="1">
              <a:lnSpc>
                <a:spcPts val="3359"/>
              </a:lnSpc>
              <a:buFont typeface="Arial"/>
              <a:buChar char="•"/>
            </a:pPr>
            <a:r>
              <a:rPr lang="en-US" sz="2399">
                <a:solidFill>
                  <a:srgbClr val="FFFFFF"/>
                </a:solidFill>
                <a:latin typeface="Montserrat"/>
                <a:ea typeface="Montserrat"/>
                <a:cs typeface="Montserrat"/>
                <a:sym typeface="Montserrat"/>
              </a:rPr>
              <a:t>Mencegah overfitting pada model dengan memberikan variasi kondisi lingkungan yang berbeda</a:t>
            </a:r>
          </a:p>
          <a:p>
            <a:pPr algn="l" marL="518158" indent="-259079" lvl="1">
              <a:lnSpc>
                <a:spcPts val="3359"/>
              </a:lnSpc>
              <a:buFont typeface="Arial"/>
              <a:buChar char="•"/>
            </a:pPr>
            <a:r>
              <a:rPr lang="en-US" sz="2399">
                <a:solidFill>
                  <a:srgbClr val="FFFFFF"/>
                </a:solidFill>
                <a:latin typeface="Montserrat"/>
                <a:ea typeface="Montserrat"/>
                <a:cs typeface="Montserrat"/>
                <a:sym typeface="Montserrat"/>
              </a:rPr>
              <a:t>melatih ketahanan/robustness model terhadap posisi objek yang tidak beraturan</a:t>
            </a:r>
          </a:p>
          <a:p>
            <a:pPr algn="l" marL="518158" indent="-259079" lvl="1">
              <a:lnSpc>
                <a:spcPts val="3359"/>
              </a:lnSpc>
              <a:buFont typeface="Arial"/>
              <a:buChar char="•"/>
            </a:pPr>
            <a:r>
              <a:rPr lang="en-US" sz="2399">
                <a:solidFill>
                  <a:srgbClr val="FFFFFF"/>
                </a:solidFill>
                <a:latin typeface="Montserrat"/>
                <a:ea typeface="Montserrat"/>
                <a:cs typeface="Montserrat"/>
                <a:sym typeface="Montserrat"/>
              </a:rPr>
              <a:t>Memudahkan pemula untuk mengenali alat tersebut</a:t>
            </a:r>
          </a:p>
        </p:txBody>
      </p:sp>
      <p:sp>
        <p:nvSpPr>
          <p:cNvPr name="Freeform 9" id="9"/>
          <p:cNvSpPr/>
          <p:nvPr/>
        </p:nvSpPr>
        <p:spPr>
          <a:xfrm flipH="false" flipV="false" rot="0">
            <a:off x="15285324" y="2912005"/>
            <a:ext cx="812872" cy="812872"/>
          </a:xfrm>
          <a:custGeom>
            <a:avLst/>
            <a:gdLst/>
            <a:ahLst/>
            <a:cxnLst/>
            <a:rect r="r" b="b" t="t" l="l"/>
            <a:pathLst>
              <a:path h="812872" w="812872">
                <a:moveTo>
                  <a:pt x="0" y="0"/>
                </a:moveTo>
                <a:lnTo>
                  <a:pt x="812872" y="0"/>
                </a:lnTo>
                <a:lnTo>
                  <a:pt x="812872" y="812872"/>
                </a:lnTo>
                <a:lnTo>
                  <a:pt x="0" y="8128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9886260" y="7922535"/>
            <a:ext cx="586148" cy="586148"/>
          </a:xfrm>
          <a:custGeom>
            <a:avLst/>
            <a:gdLst/>
            <a:ahLst/>
            <a:cxnLst/>
            <a:rect r="r" b="b" t="t" l="l"/>
            <a:pathLst>
              <a:path h="586148" w="586148">
                <a:moveTo>
                  <a:pt x="0" y="0"/>
                </a:moveTo>
                <a:lnTo>
                  <a:pt x="586148" y="0"/>
                </a:lnTo>
                <a:lnTo>
                  <a:pt x="586148" y="586148"/>
                </a:lnTo>
                <a:lnTo>
                  <a:pt x="0" y="5861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true" rot="0">
            <a:off x="-1930626" y="9434042"/>
            <a:ext cx="4127214" cy="852958"/>
          </a:xfrm>
          <a:custGeom>
            <a:avLst/>
            <a:gdLst/>
            <a:ahLst/>
            <a:cxnLst/>
            <a:rect r="r" b="b" t="t" l="l"/>
            <a:pathLst>
              <a:path h="852958" w="4127214">
                <a:moveTo>
                  <a:pt x="0" y="852958"/>
                </a:moveTo>
                <a:lnTo>
                  <a:pt x="4127215" y="852958"/>
                </a:lnTo>
                <a:lnTo>
                  <a:pt x="4127215" y="0"/>
                </a:lnTo>
                <a:lnTo>
                  <a:pt x="0" y="0"/>
                </a:lnTo>
                <a:lnTo>
                  <a:pt x="0" y="852958"/>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10804221" y="1005831"/>
            <a:ext cx="6455079" cy="954762"/>
            <a:chOff x="0" y="0"/>
            <a:chExt cx="1700103" cy="251460"/>
          </a:xfrm>
        </p:grpSpPr>
        <p:sp>
          <p:nvSpPr>
            <p:cNvPr name="Freeform 13" id="13"/>
            <p:cNvSpPr/>
            <p:nvPr/>
          </p:nvSpPr>
          <p:spPr>
            <a:xfrm flipH="false" flipV="false" rot="0">
              <a:off x="0" y="0"/>
              <a:ext cx="1700103" cy="251460"/>
            </a:xfrm>
            <a:custGeom>
              <a:avLst/>
              <a:gdLst/>
              <a:ahLst/>
              <a:cxnLst/>
              <a:rect r="r" b="b" t="t" l="l"/>
              <a:pathLst>
                <a:path h="251460" w="1700103">
                  <a:moveTo>
                    <a:pt x="119935" y="0"/>
                  </a:moveTo>
                  <a:lnTo>
                    <a:pt x="1580168" y="0"/>
                  </a:lnTo>
                  <a:cubicBezTo>
                    <a:pt x="1646406" y="0"/>
                    <a:pt x="1700103" y="53697"/>
                    <a:pt x="1700103" y="119935"/>
                  </a:cubicBezTo>
                  <a:lnTo>
                    <a:pt x="1700103" y="131525"/>
                  </a:lnTo>
                  <a:cubicBezTo>
                    <a:pt x="1700103" y="197763"/>
                    <a:pt x="1646406" y="251460"/>
                    <a:pt x="1580168" y="251460"/>
                  </a:cubicBezTo>
                  <a:lnTo>
                    <a:pt x="119935" y="251460"/>
                  </a:lnTo>
                  <a:cubicBezTo>
                    <a:pt x="53697" y="251460"/>
                    <a:pt x="0" y="197763"/>
                    <a:pt x="0" y="131525"/>
                  </a:cubicBezTo>
                  <a:lnTo>
                    <a:pt x="0" y="119935"/>
                  </a:lnTo>
                  <a:cubicBezTo>
                    <a:pt x="0" y="53697"/>
                    <a:pt x="53697" y="0"/>
                    <a:pt x="119935" y="0"/>
                  </a:cubicBezTo>
                  <a:close/>
                </a:path>
              </a:pathLst>
            </a:custGeom>
            <a:solidFill>
              <a:srgbClr val="FFFFFF"/>
            </a:solidFill>
          </p:spPr>
        </p:sp>
        <p:sp>
          <p:nvSpPr>
            <p:cNvPr name="TextBox 14" id="14"/>
            <p:cNvSpPr txBox="true"/>
            <p:nvPr/>
          </p:nvSpPr>
          <p:spPr>
            <a:xfrm>
              <a:off x="0" y="-38100"/>
              <a:ext cx="1700103" cy="28956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1008001" y="1312524"/>
            <a:ext cx="2067536" cy="350901"/>
          </a:xfrm>
          <a:prstGeom prst="rect">
            <a:avLst/>
          </a:prstGeom>
        </p:spPr>
        <p:txBody>
          <a:bodyPr anchor="t" rtlCol="false" tIns="0" lIns="0" bIns="0" rIns="0">
            <a:spAutoFit/>
          </a:bodyPr>
          <a:lstStyle/>
          <a:p>
            <a:pPr algn="ctr">
              <a:lnSpc>
                <a:spcPts val="2592"/>
              </a:lnSpc>
            </a:pPr>
            <a:r>
              <a:rPr lang="en-US" sz="2400" b="true">
                <a:solidFill>
                  <a:srgbClr val="0D0E10"/>
                </a:solidFill>
                <a:latin typeface="Poppins Semi-Bold"/>
                <a:ea typeface="Poppins Semi-Bold"/>
                <a:cs typeface="Poppins Semi-Bold"/>
                <a:sym typeface="Poppins Semi-Bold"/>
              </a:rPr>
              <a:t>Teknologi</a:t>
            </a:r>
          </a:p>
        </p:txBody>
      </p:sp>
      <p:sp>
        <p:nvSpPr>
          <p:cNvPr name="TextBox 16" id="16"/>
          <p:cNvSpPr txBox="true"/>
          <p:nvPr/>
        </p:nvSpPr>
        <p:spPr>
          <a:xfrm rot="0">
            <a:off x="15285324" y="1312524"/>
            <a:ext cx="1472855"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Kontak</a:t>
            </a:r>
          </a:p>
        </p:txBody>
      </p:sp>
      <p:sp>
        <p:nvSpPr>
          <p:cNvPr name="Freeform 17" id="17"/>
          <p:cNvSpPr/>
          <p:nvPr/>
        </p:nvSpPr>
        <p:spPr>
          <a:xfrm flipH="false" flipV="false" rot="0">
            <a:off x="10805551" y="1005831"/>
            <a:ext cx="549045" cy="549045"/>
          </a:xfrm>
          <a:custGeom>
            <a:avLst/>
            <a:gdLst/>
            <a:ahLst/>
            <a:cxnLst/>
            <a:rect r="r" b="b" t="t" l="l"/>
            <a:pathLst>
              <a:path h="549045" w="549045">
                <a:moveTo>
                  <a:pt x="0" y="0"/>
                </a:moveTo>
                <a:lnTo>
                  <a:pt x="549045" y="0"/>
                </a:lnTo>
                <a:lnTo>
                  <a:pt x="549045" y="549045"/>
                </a:lnTo>
                <a:lnTo>
                  <a:pt x="0" y="5490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true" flipV="true" rot="0">
            <a:off x="16710255" y="1411549"/>
            <a:ext cx="549045" cy="549045"/>
          </a:xfrm>
          <a:custGeom>
            <a:avLst/>
            <a:gdLst/>
            <a:ahLst/>
            <a:cxnLst/>
            <a:rect r="r" b="b" t="t" l="l"/>
            <a:pathLst>
              <a:path h="549045" w="549045">
                <a:moveTo>
                  <a:pt x="549045" y="549044"/>
                </a:moveTo>
                <a:lnTo>
                  <a:pt x="0" y="549044"/>
                </a:lnTo>
                <a:lnTo>
                  <a:pt x="0" y="0"/>
                </a:lnTo>
                <a:lnTo>
                  <a:pt x="549045" y="0"/>
                </a:lnTo>
                <a:lnTo>
                  <a:pt x="549045" y="549044"/>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13217157" y="1312524"/>
            <a:ext cx="1687167"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Infomasi</a:t>
            </a:r>
          </a:p>
        </p:txBody>
      </p:sp>
      <p:sp>
        <p:nvSpPr>
          <p:cNvPr name="TextBox 20" id="20"/>
          <p:cNvSpPr txBox="true"/>
          <p:nvPr/>
        </p:nvSpPr>
        <p:spPr>
          <a:xfrm rot="0">
            <a:off x="2196589" y="1217551"/>
            <a:ext cx="2571982" cy="645795"/>
          </a:xfrm>
          <a:prstGeom prst="rect">
            <a:avLst/>
          </a:prstGeom>
        </p:spPr>
        <p:txBody>
          <a:bodyPr anchor="t" rtlCol="false" tIns="0" lIns="0" bIns="0" rIns="0">
            <a:spAutoFit/>
          </a:bodyPr>
          <a:lstStyle/>
          <a:p>
            <a:pPr algn="l">
              <a:lnSpc>
                <a:spcPts val="2520"/>
              </a:lnSpc>
            </a:pPr>
            <a:r>
              <a:rPr lang="en-US" sz="2400" b="true">
                <a:solidFill>
                  <a:srgbClr val="FFFFFF"/>
                </a:solidFill>
                <a:latin typeface="Teko Bold"/>
                <a:ea typeface="Teko Bold"/>
                <a:cs typeface="Teko Bold"/>
                <a:sym typeface="Teko Bold"/>
              </a:rPr>
              <a:t>MACHINE</a:t>
            </a:r>
          </a:p>
          <a:p>
            <a:pPr algn="l">
              <a:lnSpc>
                <a:spcPts val="2520"/>
              </a:lnSpc>
            </a:pPr>
            <a:r>
              <a:rPr lang="en-US" sz="2400" b="true">
                <a:solidFill>
                  <a:srgbClr val="FFFFFF"/>
                </a:solidFill>
                <a:latin typeface="Teko Bold"/>
                <a:ea typeface="Teko Bold"/>
                <a:cs typeface="Teko Bold"/>
                <a:sym typeface="Teko Bold"/>
              </a:rPr>
              <a:t>LEARNING</a:t>
            </a:r>
          </a:p>
        </p:txBody>
      </p:sp>
      <p:grpSp>
        <p:nvGrpSpPr>
          <p:cNvPr name="Group 21" id="21"/>
          <p:cNvGrpSpPr/>
          <p:nvPr/>
        </p:nvGrpSpPr>
        <p:grpSpPr>
          <a:xfrm rot="0">
            <a:off x="1028700" y="1024409"/>
            <a:ext cx="917606" cy="91760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159816" y="1188976"/>
            <a:ext cx="655375" cy="588472"/>
          </a:xfrm>
          <a:custGeom>
            <a:avLst/>
            <a:gdLst/>
            <a:ahLst/>
            <a:cxnLst/>
            <a:rect r="r" b="b" t="t" l="l"/>
            <a:pathLst>
              <a:path h="588472" w="655375">
                <a:moveTo>
                  <a:pt x="0" y="0"/>
                </a:moveTo>
                <a:lnTo>
                  <a:pt x="655375" y="0"/>
                </a:lnTo>
                <a:lnTo>
                  <a:pt x="655375" y="588472"/>
                </a:lnTo>
                <a:lnTo>
                  <a:pt x="0" y="5884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51A43">
                <a:alpha val="100000"/>
              </a:srgbClr>
            </a:gs>
            <a:gs pos="100000">
              <a:srgbClr val="181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1048" y="16034"/>
            <a:ext cx="4052537" cy="2831710"/>
          </a:xfrm>
          <a:custGeom>
            <a:avLst/>
            <a:gdLst/>
            <a:ahLst/>
            <a:cxnLst/>
            <a:rect r="r" b="b" t="t" l="l"/>
            <a:pathLst>
              <a:path h="2831710" w="4052537">
                <a:moveTo>
                  <a:pt x="0" y="0"/>
                </a:moveTo>
                <a:lnTo>
                  <a:pt x="4052537" y="0"/>
                </a:lnTo>
                <a:lnTo>
                  <a:pt x="4052537" y="2831710"/>
                </a:lnTo>
                <a:lnTo>
                  <a:pt x="0" y="28317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235463" y="7455290"/>
            <a:ext cx="4052537" cy="2831710"/>
          </a:xfrm>
          <a:custGeom>
            <a:avLst/>
            <a:gdLst/>
            <a:ahLst/>
            <a:cxnLst/>
            <a:rect r="r" b="b" t="t" l="l"/>
            <a:pathLst>
              <a:path h="2831710" w="4052537">
                <a:moveTo>
                  <a:pt x="4052537" y="2831710"/>
                </a:moveTo>
                <a:lnTo>
                  <a:pt x="0" y="2831710"/>
                </a:lnTo>
                <a:lnTo>
                  <a:pt x="0" y="0"/>
                </a:lnTo>
                <a:lnTo>
                  <a:pt x="4052537" y="0"/>
                </a:lnTo>
                <a:lnTo>
                  <a:pt x="4052537" y="283171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509737" y="2763164"/>
            <a:ext cx="5847095" cy="5719661"/>
            <a:chOff x="0" y="0"/>
            <a:chExt cx="812800" cy="795086"/>
          </a:xfrm>
        </p:grpSpPr>
        <p:sp>
          <p:nvSpPr>
            <p:cNvPr name="Freeform 5" id="5"/>
            <p:cNvSpPr/>
            <p:nvPr/>
          </p:nvSpPr>
          <p:spPr>
            <a:xfrm flipH="false" flipV="false" rot="0">
              <a:off x="0" y="0"/>
              <a:ext cx="812800" cy="795086"/>
            </a:xfrm>
            <a:custGeom>
              <a:avLst/>
              <a:gdLst/>
              <a:ahLst/>
              <a:cxnLst/>
              <a:rect r="r" b="b" t="t" l="l"/>
              <a:pathLst>
                <a:path h="795086" w="812800">
                  <a:moveTo>
                    <a:pt x="51638" y="0"/>
                  </a:moveTo>
                  <a:lnTo>
                    <a:pt x="761162" y="0"/>
                  </a:lnTo>
                  <a:cubicBezTo>
                    <a:pt x="789681" y="0"/>
                    <a:pt x="812800" y="23119"/>
                    <a:pt x="812800" y="51638"/>
                  </a:cubicBezTo>
                  <a:lnTo>
                    <a:pt x="812800" y="743447"/>
                  </a:lnTo>
                  <a:cubicBezTo>
                    <a:pt x="812800" y="771966"/>
                    <a:pt x="789681" y="795086"/>
                    <a:pt x="761162" y="795086"/>
                  </a:cubicBezTo>
                  <a:lnTo>
                    <a:pt x="51638" y="795086"/>
                  </a:lnTo>
                  <a:cubicBezTo>
                    <a:pt x="23119" y="795086"/>
                    <a:pt x="0" y="771966"/>
                    <a:pt x="0" y="743447"/>
                  </a:cubicBezTo>
                  <a:lnTo>
                    <a:pt x="0" y="51638"/>
                  </a:lnTo>
                  <a:cubicBezTo>
                    <a:pt x="0" y="23119"/>
                    <a:pt x="23119" y="0"/>
                    <a:pt x="51638" y="0"/>
                  </a:cubicBezTo>
                  <a:close/>
                </a:path>
              </a:pathLst>
            </a:custGeom>
            <a:blipFill>
              <a:blip r:embed="rId4"/>
              <a:stretch>
                <a:fillRect l="-35034" t="-9933" r="-35096" b="-5941"/>
              </a:stretch>
            </a:blipFill>
            <a:ln w="76200" cap="rnd">
              <a:solidFill>
                <a:srgbClr val="FFFFFF"/>
              </a:solidFill>
              <a:prstDash val="solid"/>
              <a:round/>
            </a:ln>
          </p:spPr>
        </p:sp>
      </p:grpSp>
      <p:sp>
        <p:nvSpPr>
          <p:cNvPr name="Freeform 6" id="6"/>
          <p:cNvSpPr/>
          <p:nvPr/>
        </p:nvSpPr>
        <p:spPr>
          <a:xfrm flipH="false" flipV="true" rot="0">
            <a:off x="-1930626" y="9434042"/>
            <a:ext cx="4127214" cy="852958"/>
          </a:xfrm>
          <a:custGeom>
            <a:avLst/>
            <a:gdLst/>
            <a:ahLst/>
            <a:cxnLst/>
            <a:rect r="r" b="b" t="t" l="l"/>
            <a:pathLst>
              <a:path h="852958" w="4127214">
                <a:moveTo>
                  <a:pt x="0" y="852958"/>
                </a:moveTo>
                <a:lnTo>
                  <a:pt x="4127215" y="852958"/>
                </a:lnTo>
                <a:lnTo>
                  <a:pt x="4127215" y="0"/>
                </a:lnTo>
                <a:lnTo>
                  <a:pt x="0" y="0"/>
                </a:lnTo>
                <a:lnTo>
                  <a:pt x="0" y="852958"/>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324589" y="5683022"/>
            <a:ext cx="3593104" cy="1041659"/>
            <a:chOff x="0" y="0"/>
            <a:chExt cx="596400" cy="172899"/>
          </a:xfrm>
        </p:grpSpPr>
        <p:sp>
          <p:nvSpPr>
            <p:cNvPr name="Freeform 8" id="8"/>
            <p:cNvSpPr/>
            <p:nvPr/>
          </p:nvSpPr>
          <p:spPr>
            <a:xfrm flipH="false" flipV="false" rot="0">
              <a:off x="0" y="0"/>
              <a:ext cx="596400" cy="172899"/>
            </a:xfrm>
            <a:custGeom>
              <a:avLst/>
              <a:gdLst/>
              <a:ahLst/>
              <a:cxnLst/>
              <a:rect r="r" b="b" t="t" l="l"/>
              <a:pathLst>
                <a:path h="172899" w="596400">
                  <a:moveTo>
                    <a:pt x="86450" y="0"/>
                  </a:moveTo>
                  <a:lnTo>
                    <a:pt x="509950" y="0"/>
                  </a:lnTo>
                  <a:cubicBezTo>
                    <a:pt x="532878" y="0"/>
                    <a:pt x="554867" y="9108"/>
                    <a:pt x="571080" y="25321"/>
                  </a:cubicBezTo>
                  <a:cubicBezTo>
                    <a:pt x="587292" y="41533"/>
                    <a:pt x="596400" y="63522"/>
                    <a:pt x="596400" y="86450"/>
                  </a:cubicBezTo>
                  <a:lnTo>
                    <a:pt x="596400" y="86450"/>
                  </a:lnTo>
                  <a:cubicBezTo>
                    <a:pt x="596400" y="134195"/>
                    <a:pt x="557695" y="172899"/>
                    <a:pt x="509950" y="172899"/>
                  </a:cubicBezTo>
                  <a:lnTo>
                    <a:pt x="86450" y="172899"/>
                  </a:lnTo>
                  <a:cubicBezTo>
                    <a:pt x="63522" y="172899"/>
                    <a:pt x="41533" y="163791"/>
                    <a:pt x="25321" y="147579"/>
                  </a:cubicBezTo>
                  <a:cubicBezTo>
                    <a:pt x="9108" y="131366"/>
                    <a:pt x="0" y="109378"/>
                    <a:pt x="0" y="86450"/>
                  </a:cubicBezTo>
                  <a:lnTo>
                    <a:pt x="0" y="86450"/>
                  </a:lnTo>
                  <a:cubicBezTo>
                    <a:pt x="0" y="63522"/>
                    <a:pt x="9108" y="41533"/>
                    <a:pt x="25321" y="25321"/>
                  </a:cubicBezTo>
                  <a:cubicBezTo>
                    <a:pt x="41533" y="9108"/>
                    <a:pt x="63522" y="0"/>
                    <a:pt x="86450" y="0"/>
                  </a:cubicBezTo>
                  <a:close/>
                </a:path>
              </a:pathLst>
            </a:custGeom>
            <a:solidFill>
              <a:srgbClr val="923776"/>
            </a:solidFill>
          </p:spPr>
        </p:sp>
        <p:sp>
          <p:nvSpPr>
            <p:cNvPr name="TextBox 9" id="9"/>
            <p:cNvSpPr txBox="true"/>
            <p:nvPr/>
          </p:nvSpPr>
          <p:spPr>
            <a:xfrm>
              <a:off x="0" y="-38100"/>
              <a:ext cx="596400" cy="210999"/>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324589" y="6963430"/>
            <a:ext cx="3593104" cy="1041659"/>
            <a:chOff x="0" y="0"/>
            <a:chExt cx="596400" cy="172899"/>
          </a:xfrm>
        </p:grpSpPr>
        <p:sp>
          <p:nvSpPr>
            <p:cNvPr name="Freeform 11" id="11"/>
            <p:cNvSpPr/>
            <p:nvPr/>
          </p:nvSpPr>
          <p:spPr>
            <a:xfrm flipH="false" flipV="false" rot="0">
              <a:off x="0" y="0"/>
              <a:ext cx="596400" cy="172899"/>
            </a:xfrm>
            <a:custGeom>
              <a:avLst/>
              <a:gdLst/>
              <a:ahLst/>
              <a:cxnLst/>
              <a:rect r="r" b="b" t="t" l="l"/>
              <a:pathLst>
                <a:path h="172899" w="596400">
                  <a:moveTo>
                    <a:pt x="86450" y="0"/>
                  </a:moveTo>
                  <a:lnTo>
                    <a:pt x="509950" y="0"/>
                  </a:lnTo>
                  <a:cubicBezTo>
                    <a:pt x="532878" y="0"/>
                    <a:pt x="554867" y="9108"/>
                    <a:pt x="571080" y="25321"/>
                  </a:cubicBezTo>
                  <a:cubicBezTo>
                    <a:pt x="587292" y="41533"/>
                    <a:pt x="596400" y="63522"/>
                    <a:pt x="596400" y="86450"/>
                  </a:cubicBezTo>
                  <a:lnTo>
                    <a:pt x="596400" y="86450"/>
                  </a:lnTo>
                  <a:cubicBezTo>
                    <a:pt x="596400" y="134195"/>
                    <a:pt x="557695" y="172899"/>
                    <a:pt x="509950" y="172899"/>
                  </a:cubicBezTo>
                  <a:lnTo>
                    <a:pt x="86450" y="172899"/>
                  </a:lnTo>
                  <a:cubicBezTo>
                    <a:pt x="63522" y="172899"/>
                    <a:pt x="41533" y="163791"/>
                    <a:pt x="25321" y="147579"/>
                  </a:cubicBezTo>
                  <a:cubicBezTo>
                    <a:pt x="9108" y="131366"/>
                    <a:pt x="0" y="109378"/>
                    <a:pt x="0" y="86450"/>
                  </a:cubicBezTo>
                  <a:lnTo>
                    <a:pt x="0" y="86450"/>
                  </a:lnTo>
                  <a:cubicBezTo>
                    <a:pt x="0" y="63522"/>
                    <a:pt x="9108" y="41533"/>
                    <a:pt x="25321" y="25321"/>
                  </a:cubicBezTo>
                  <a:cubicBezTo>
                    <a:pt x="41533" y="9108"/>
                    <a:pt x="63522" y="0"/>
                    <a:pt x="86450" y="0"/>
                  </a:cubicBezTo>
                  <a:close/>
                </a:path>
              </a:pathLst>
            </a:custGeom>
            <a:solidFill>
              <a:srgbClr val="FFFFFF"/>
            </a:solidFill>
          </p:spPr>
        </p:sp>
        <p:sp>
          <p:nvSpPr>
            <p:cNvPr name="TextBox 12" id="12"/>
            <p:cNvSpPr txBox="true"/>
            <p:nvPr/>
          </p:nvSpPr>
          <p:spPr>
            <a:xfrm>
              <a:off x="0" y="-38100"/>
              <a:ext cx="596400" cy="21099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324589" y="5683022"/>
            <a:ext cx="690095" cy="690095"/>
          </a:xfrm>
          <a:custGeom>
            <a:avLst/>
            <a:gdLst/>
            <a:ahLst/>
            <a:cxnLst/>
            <a:rect r="r" b="b" t="t" l="l"/>
            <a:pathLst>
              <a:path h="690095" w="690095">
                <a:moveTo>
                  <a:pt x="0" y="0"/>
                </a:moveTo>
                <a:lnTo>
                  <a:pt x="690095" y="0"/>
                </a:lnTo>
                <a:lnTo>
                  <a:pt x="690095" y="690096"/>
                </a:lnTo>
                <a:lnTo>
                  <a:pt x="0" y="6900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324589" y="6963430"/>
            <a:ext cx="690095" cy="690095"/>
          </a:xfrm>
          <a:custGeom>
            <a:avLst/>
            <a:gdLst/>
            <a:ahLst/>
            <a:cxnLst/>
            <a:rect r="r" b="b" t="t" l="l"/>
            <a:pathLst>
              <a:path h="690095" w="690095">
                <a:moveTo>
                  <a:pt x="0" y="0"/>
                </a:moveTo>
                <a:lnTo>
                  <a:pt x="690095" y="0"/>
                </a:lnTo>
                <a:lnTo>
                  <a:pt x="690095" y="690095"/>
                </a:lnTo>
                <a:lnTo>
                  <a:pt x="0" y="69009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true" flipV="true" rot="0">
            <a:off x="4227597" y="6034586"/>
            <a:ext cx="690095" cy="690095"/>
          </a:xfrm>
          <a:custGeom>
            <a:avLst/>
            <a:gdLst/>
            <a:ahLst/>
            <a:cxnLst/>
            <a:rect r="r" b="b" t="t" l="l"/>
            <a:pathLst>
              <a:path h="690095" w="690095">
                <a:moveTo>
                  <a:pt x="690095" y="690095"/>
                </a:moveTo>
                <a:lnTo>
                  <a:pt x="0" y="690095"/>
                </a:lnTo>
                <a:lnTo>
                  <a:pt x="0" y="0"/>
                </a:lnTo>
                <a:lnTo>
                  <a:pt x="690095" y="0"/>
                </a:lnTo>
                <a:lnTo>
                  <a:pt x="690095" y="69009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true" flipV="true" rot="0">
            <a:off x="4227597" y="7314993"/>
            <a:ext cx="690095" cy="690095"/>
          </a:xfrm>
          <a:custGeom>
            <a:avLst/>
            <a:gdLst/>
            <a:ahLst/>
            <a:cxnLst/>
            <a:rect r="r" b="b" t="t" l="l"/>
            <a:pathLst>
              <a:path h="690095" w="690095">
                <a:moveTo>
                  <a:pt x="690095" y="690096"/>
                </a:moveTo>
                <a:lnTo>
                  <a:pt x="0" y="690096"/>
                </a:lnTo>
                <a:lnTo>
                  <a:pt x="0" y="0"/>
                </a:lnTo>
                <a:lnTo>
                  <a:pt x="690095" y="0"/>
                </a:lnTo>
                <a:lnTo>
                  <a:pt x="690095" y="690096"/>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1626838" y="6027551"/>
            <a:ext cx="2988605" cy="345567"/>
          </a:xfrm>
          <a:prstGeom prst="rect">
            <a:avLst/>
          </a:prstGeom>
        </p:spPr>
        <p:txBody>
          <a:bodyPr anchor="t" rtlCol="false" tIns="0" lIns="0" bIns="0" rIns="0">
            <a:spAutoFit/>
          </a:bodyPr>
          <a:lstStyle/>
          <a:p>
            <a:pPr algn="ctr">
              <a:lnSpc>
                <a:spcPts val="2783"/>
              </a:lnSpc>
            </a:pPr>
            <a:r>
              <a:rPr lang="en-US" sz="2399" b="true">
                <a:solidFill>
                  <a:srgbClr val="FFFFFF"/>
                </a:solidFill>
                <a:latin typeface="Montserrat Bold"/>
                <a:ea typeface="Montserrat Bold"/>
                <a:cs typeface="Montserrat Bold"/>
                <a:sym typeface="Montserrat Bold"/>
              </a:rPr>
              <a:t>Alat</a:t>
            </a:r>
          </a:p>
        </p:txBody>
      </p:sp>
      <p:sp>
        <p:nvSpPr>
          <p:cNvPr name="TextBox 18" id="18"/>
          <p:cNvSpPr txBox="true"/>
          <p:nvPr/>
        </p:nvSpPr>
        <p:spPr>
          <a:xfrm rot="0">
            <a:off x="1626838" y="7307958"/>
            <a:ext cx="2988605" cy="345567"/>
          </a:xfrm>
          <a:prstGeom prst="rect">
            <a:avLst/>
          </a:prstGeom>
        </p:spPr>
        <p:txBody>
          <a:bodyPr anchor="t" rtlCol="false" tIns="0" lIns="0" bIns="0" rIns="0">
            <a:spAutoFit/>
          </a:bodyPr>
          <a:lstStyle/>
          <a:p>
            <a:pPr algn="ctr">
              <a:lnSpc>
                <a:spcPts val="2783"/>
              </a:lnSpc>
            </a:pPr>
            <a:r>
              <a:rPr lang="en-US" sz="2399" b="true">
                <a:solidFill>
                  <a:srgbClr val="923776"/>
                </a:solidFill>
                <a:latin typeface="Montserrat Bold"/>
                <a:ea typeface="Montserrat Bold"/>
                <a:cs typeface="Montserrat Bold"/>
                <a:sym typeface="Montserrat Bold"/>
              </a:rPr>
              <a:t>Lokasi</a:t>
            </a:r>
          </a:p>
        </p:txBody>
      </p:sp>
      <p:sp>
        <p:nvSpPr>
          <p:cNvPr name="TextBox 19" id="19"/>
          <p:cNvSpPr txBox="true"/>
          <p:nvPr/>
        </p:nvSpPr>
        <p:spPr>
          <a:xfrm rot="0">
            <a:off x="9525199" y="3188904"/>
            <a:ext cx="7383916" cy="742950"/>
          </a:xfrm>
          <a:prstGeom prst="rect">
            <a:avLst/>
          </a:prstGeom>
        </p:spPr>
        <p:txBody>
          <a:bodyPr anchor="t" rtlCol="false" tIns="0" lIns="0" bIns="0" rIns="0">
            <a:spAutoFit/>
          </a:bodyPr>
          <a:lstStyle/>
          <a:p>
            <a:pPr algn="l" marL="0" indent="0" lvl="0">
              <a:lnSpc>
                <a:spcPts val="5774"/>
              </a:lnSpc>
              <a:spcBef>
                <a:spcPct val="0"/>
              </a:spcBef>
            </a:pPr>
            <a:r>
              <a:rPr lang="en-US" b="true" sz="5499">
                <a:solidFill>
                  <a:srgbClr val="FFFFFF"/>
                </a:solidFill>
                <a:latin typeface="Teko Semi-Bold"/>
                <a:ea typeface="Teko Semi-Bold"/>
                <a:cs typeface="Teko Semi-Bold"/>
                <a:sym typeface="Teko Semi-Bold"/>
              </a:rPr>
              <a:t>PROSES PENGAMBILAN DATA</a:t>
            </a:r>
          </a:p>
        </p:txBody>
      </p:sp>
      <p:sp>
        <p:nvSpPr>
          <p:cNvPr name="TextBox 20" id="20"/>
          <p:cNvSpPr txBox="true"/>
          <p:nvPr/>
        </p:nvSpPr>
        <p:spPr>
          <a:xfrm rot="0">
            <a:off x="9500171" y="3893754"/>
            <a:ext cx="7150733" cy="1397000"/>
          </a:xfrm>
          <a:prstGeom prst="rect">
            <a:avLst/>
          </a:prstGeom>
        </p:spPr>
        <p:txBody>
          <a:bodyPr anchor="t" rtlCol="false" tIns="0" lIns="0" bIns="0" rIns="0">
            <a:spAutoFit/>
          </a:bodyPr>
          <a:lstStyle/>
          <a:p>
            <a:pPr algn="l">
              <a:lnSpc>
                <a:spcPts val="2800"/>
              </a:lnSpc>
            </a:pPr>
            <a:r>
              <a:rPr lang="en-US" sz="2000">
                <a:solidFill>
                  <a:srgbClr val="FFFFFF">
                    <a:alpha val="69804"/>
                  </a:srgbClr>
                </a:solidFill>
                <a:latin typeface="Montserrat"/>
                <a:ea typeface="Montserrat"/>
                <a:cs typeface="Montserrat"/>
                <a:sym typeface="Montserrat"/>
              </a:rPr>
              <a:t>Dataset ini diambil menggunakan kamera HP Infinix GT 30 Pro dengan perbandingan 1:1. Pengambilan dataset ini berlokasi dirumah dan digym, saat siang dan sore hari.</a:t>
            </a:r>
          </a:p>
        </p:txBody>
      </p:sp>
      <p:sp>
        <p:nvSpPr>
          <p:cNvPr name="Freeform 21" id="21"/>
          <p:cNvSpPr/>
          <p:nvPr/>
        </p:nvSpPr>
        <p:spPr>
          <a:xfrm flipH="false" flipV="false" rot="0">
            <a:off x="16796677" y="8795677"/>
            <a:ext cx="462623" cy="462623"/>
          </a:xfrm>
          <a:custGeom>
            <a:avLst/>
            <a:gdLst/>
            <a:ahLst/>
            <a:cxnLst/>
            <a:rect r="r" b="b" t="t" l="l"/>
            <a:pathLst>
              <a:path h="462623" w="462623">
                <a:moveTo>
                  <a:pt x="0" y="0"/>
                </a:moveTo>
                <a:lnTo>
                  <a:pt x="462623" y="0"/>
                </a:lnTo>
                <a:lnTo>
                  <a:pt x="462623" y="462623"/>
                </a:lnTo>
                <a:lnTo>
                  <a:pt x="0" y="4626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7940468" y="1229698"/>
            <a:ext cx="812872" cy="812872"/>
          </a:xfrm>
          <a:custGeom>
            <a:avLst/>
            <a:gdLst/>
            <a:ahLst/>
            <a:cxnLst/>
            <a:rect r="r" b="b" t="t" l="l"/>
            <a:pathLst>
              <a:path h="812872" w="812872">
                <a:moveTo>
                  <a:pt x="0" y="0"/>
                </a:moveTo>
                <a:lnTo>
                  <a:pt x="812872" y="0"/>
                </a:lnTo>
                <a:lnTo>
                  <a:pt x="812872" y="812872"/>
                </a:lnTo>
                <a:lnTo>
                  <a:pt x="0" y="812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3" id="23"/>
          <p:cNvSpPr/>
          <p:nvPr/>
        </p:nvSpPr>
        <p:spPr>
          <a:xfrm flipH="false" flipV="false" rot="0">
            <a:off x="17027989" y="4387310"/>
            <a:ext cx="586148" cy="586148"/>
          </a:xfrm>
          <a:custGeom>
            <a:avLst/>
            <a:gdLst/>
            <a:ahLst/>
            <a:cxnLst/>
            <a:rect r="r" b="b" t="t" l="l"/>
            <a:pathLst>
              <a:path h="586148" w="586148">
                <a:moveTo>
                  <a:pt x="0" y="0"/>
                </a:moveTo>
                <a:lnTo>
                  <a:pt x="586147" y="0"/>
                </a:lnTo>
                <a:lnTo>
                  <a:pt x="586147" y="586147"/>
                </a:lnTo>
                <a:lnTo>
                  <a:pt x="0" y="58614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4" id="24"/>
          <p:cNvGrpSpPr/>
          <p:nvPr/>
        </p:nvGrpSpPr>
        <p:grpSpPr>
          <a:xfrm rot="0">
            <a:off x="10804221" y="1005831"/>
            <a:ext cx="6455079" cy="954762"/>
            <a:chOff x="0" y="0"/>
            <a:chExt cx="1700103" cy="251460"/>
          </a:xfrm>
        </p:grpSpPr>
        <p:sp>
          <p:nvSpPr>
            <p:cNvPr name="Freeform 25" id="25"/>
            <p:cNvSpPr/>
            <p:nvPr/>
          </p:nvSpPr>
          <p:spPr>
            <a:xfrm flipH="false" flipV="false" rot="0">
              <a:off x="0" y="0"/>
              <a:ext cx="1700103" cy="251460"/>
            </a:xfrm>
            <a:custGeom>
              <a:avLst/>
              <a:gdLst/>
              <a:ahLst/>
              <a:cxnLst/>
              <a:rect r="r" b="b" t="t" l="l"/>
              <a:pathLst>
                <a:path h="251460" w="1700103">
                  <a:moveTo>
                    <a:pt x="119935" y="0"/>
                  </a:moveTo>
                  <a:lnTo>
                    <a:pt x="1580168" y="0"/>
                  </a:lnTo>
                  <a:cubicBezTo>
                    <a:pt x="1646406" y="0"/>
                    <a:pt x="1700103" y="53697"/>
                    <a:pt x="1700103" y="119935"/>
                  </a:cubicBezTo>
                  <a:lnTo>
                    <a:pt x="1700103" y="131525"/>
                  </a:lnTo>
                  <a:cubicBezTo>
                    <a:pt x="1700103" y="197763"/>
                    <a:pt x="1646406" y="251460"/>
                    <a:pt x="1580168" y="251460"/>
                  </a:cubicBezTo>
                  <a:lnTo>
                    <a:pt x="119935" y="251460"/>
                  </a:lnTo>
                  <a:cubicBezTo>
                    <a:pt x="53697" y="251460"/>
                    <a:pt x="0" y="197763"/>
                    <a:pt x="0" y="131525"/>
                  </a:cubicBezTo>
                  <a:lnTo>
                    <a:pt x="0" y="119935"/>
                  </a:lnTo>
                  <a:cubicBezTo>
                    <a:pt x="0" y="53697"/>
                    <a:pt x="53697" y="0"/>
                    <a:pt x="119935" y="0"/>
                  </a:cubicBezTo>
                  <a:close/>
                </a:path>
              </a:pathLst>
            </a:custGeom>
            <a:solidFill>
              <a:srgbClr val="FFFFFF"/>
            </a:solidFill>
          </p:spPr>
        </p:sp>
        <p:sp>
          <p:nvSpPr>
            <p:cNvPr name="TextBox 26" id="26"/>
            <p:cNvSpPr txBox="true"/>
            <p:nvPr/>
          </p:nvSpPr>
          <p:spPr>
            <a:xfrm>
              <a:off x="0" y="-38100"/>
              <a:ext cx="1700103" cy="28956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1008001" y="1312524"/>
            <a:ext cx="2067536" cy="350901"/>
          </a:xfrm>
          <a:prstGeom prst="rect">
            <a:avLst/>
          </a:prstGeom>
        </p:spPr>
        <p:txBody>
          <a:bodyPr anchor="t" rtlCol="false" tIns="0" lIns="0" bIns="0" rIns="0">
            <a:spAutoFit/>
          </a:bodyPr>
          <a:lstStyle/>
          <a:p>
            <a:pPr algn="ctr">
              <a:lnSpc>
                <a:spcPts val="2592"/>
              </a:lnSpc>
            </a:pPr>
            <a:r>
              <a:rPr lang="en-US" sz="2400" b="true">
                <a:solidFill>
                  <a:srgbClr val="0D0E10"/>
                </a:solidFill>
                <a:latin typeface="Poppins Semi-Bold"/>
                <a:ea typeface="Poppins Semi-Bold"/>
                <a:cs typeface="Poppins Semi-Bold"/>
                <a:sym typeface="Poppins Semi-Bold"/>
              </a:rPr>
              <a:t>Teknologi</a:t>
            </a:r>
          </a:p>
        </p:txBody>
      </p:sp>
      <p:sp>
        <p:nvSpPr>
          <p:cNvPr name="TextBox 28" id="28"/>
          <p:cNvSpPr txBox="true"/>
          <p:nvPr/>
        </p:nvSpPr>
        <p:spPr>
          <a:xfrm rot="0">
            <a:off x="15285324" y="1312524"/>
            <a:ext cx="1472855"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Kontak</a:t>
            </a:r>
          </a:p>
        </p:txBody>
      </p:sp>
      <p:sp>
        <p:nvSpPr>
          <p:cNvPr name="Freeform 29" id="29"/>
          <p:cNvSpPr/>
          <p:nvPr/>
        </p:nvSpPr>
        <p:spPr>
          <a:xfrm flipH="false" flipV="false" rot="0">
            <a:off x="10805551" y="1005831"/>
            <a:ext cx="549045" cy="549045"/>
          </a:xfrm>
          <a:custGeom>
            <a:avLst/>
            <a:gdLst/>
            <a:ahLst/>
            <a:cxnLst/>
            <a:rect r="r" b="b" t="t" l="l"/>
            <a:pathLst>
              <a:path h="549045" w="549045">
                <a:moveTo>
                  <a:pt x="0" y="0"/>
                </a:moveTo>
                <a:lnTo>
                  <a:pt x="549045" y="0"/>
                </a:lnTo>
                <a:lnTo>
                  <a:pt x="549045" y="549045"/>
                </a:lnTo>
                <a:lnTo>
                  <a:pt x="0" y="5490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0" id="30"/>
          <p:cNvSpPr/>
          <p:nvPr/>
        </p:nvSpPr>
        <p:spPr>
          <a:xfrm flipH="true" flipV="true" rot="0">
            <a:off x="16710255" y="1411549"/>
            <a:ext cx="549045" cy="549045"/>
          </a:xfrm>
          <a:custGeom>
            <a:avLst/>
            <a:gdLst/>
            <a:ahLst/>
            <a:cxnLst/>
            <a:rect r="r" b="b" t="t" l="l"/>
            <a:pathLst>
              <a:path h="549045" w="549045">
                <a:moveTo>
                  <a:pt x="549045" y="549044"/>
                </a:moveTo>
                <a:lnTo>
                  <a:pt x="0" y="549044"/>
                </a:lnTo>
                <a:lnTo>
                  <a:pt x="0" y="0"/>
                </a:lnTo>
                <a:lnTo>
                  <a:pt x="549045" y="0"/>
                </a:lnTo>
                <a:lnTo>
                  <a:pt x="549045" y="549044"/>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1" id="31"/>
          <p:cNvSpPr txBox="true"/>
          <p:nvPr/>
        </p:nvSpPr>
        <p:spPr>
          <a:xfrm rot="0">
            <a:off x="13217157" y="1312524"/>
            <a:ext cx="1687167"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Infomasi</a:t>
            </a:r>
          </a:p>
        </p:txBody>
      </p:sp>
      <p:sp>
        <p:nvSpPr>
          <p:cNvPr name="TextBox 32" id="32"/>
          <p:cNvSpPr txBox="true"/>
          <p:nvPr/>
        </p:nvSpPr>
        <p:spPr>
          <a:xfrm rot="0">
            <a:off x="2196589" y="1217551"/>
            <a:ext cx="2571982" cy="645795"/>
          </a:xfrm>
          <a:prstGeom prst="rect">
            <a:avLst/>
          </a:prstGeom>
        </p:spPr>
        <p:txBody>
          <a:bodyPr anchor="t" rtlCol="false" tIns="0" lIns="0" bIns="0" rIns="0">
            <a:spAutoFit/>
          </a:bodyPr>
          <a:lstStyle/>
          <a:p>
            <a:pPr algn="l">
              <a:lnSpc>
                <a:spcPts val="2520"/>
              </a:lnSpc>
            </a:pPr>
            <a:r>
              <a:rPr lang="en-US" sz="2400" b="true">
                <a:solidFill>
                  <a:srgbClr val="FFFFFF"/>
                </a:solidFill>
                <a:latin typeface="Teko Bold"/>
                <a:ea typeface="Teko Bold"/>
                <a:cs typeface="Teko Bold"/>
                <a:sym typeface="Teko Bold"/>
              </a:rPr>
              <a:t>MACHINE</a:t>
            </a:r>
          </a:p>
          <a:p>
            <a:pPr algn="l">
              <a:lnSpc>
                <a:spcPts val="2520"/>
              </a:lnSpc>
            </a:pPr>
            <a:r>
              <a:rPr lang="en-US" sz="2400" b="true">
                <a:solidFill>
                  <a:srgbClr val="FFFFFF"/>
                </a:solidFill>
                <a:latin typeface="Teko Bold"/>
                <a:ea typeface="Teko Bold"/>
                <a:cs typeface="Teko Bold"/>
                <a:sym typeface="Teko Bold"/>
              </a:rPr>
              <a:t>LEARNING</a:t>
            </a:r>
          </a:p>
        </p:txBody>
      </p:sp>
      <p:grpSp>
        <p:nvGrpSpPr>
          <p:cNvPr name="Group 33" id="33"/>
          <p:cNvGrpSpPr/>
          <p:nvPr/>
        </p:nvGrpSpPr>
        <p:grpSpPr>
          <a:xfrm rot="0">
            <a:off x="1028700" y="1024409"/>
            <a:ext cx="917606" cy="91760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6" id="36"/>
          <p:cNvSpPr/>
          <p:nvPr/>
        </p:nvSpPr>
        <p:spPr>
          <a:xfrm flipH="false" flipV="false" rot="0">
            <a:off x="1159816" y="1188976"/>
            <a:ext cx="655375" cy="588472"/>
          </a:xfrm>
          <a:custGeom>
            <a:avLst/>
            <a:gdLst/>
            <a:ahLst/>
            <a:cxnLst/>
            <a:rect r="r" b="b" t="t" l="l"/>
            <a:pathLst>
              <a:path h="588472" w="655375">
                <a:moveTo>
                  <a:pt x="0" y="0"/>
                </a:moveTo>
                <a:lnTo>
                  <a:pt x="655375" y="0"/>
                </a:lnTo>
                <a:lnTo>
                  <a:pt x="655375" y="588472"/>
                </a:lnTo>
                <a:lnTo>
                  <a:pt x="0" y="58847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51A43">
                <a:alpha val="100000"/>
              </a:srgbClr>
            </a:gs>
            <a:gs pos="100000">
              <a:srgbClr val="181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1048" y="16034"/>
            <a:ext cx="4052537" cy="2831710"/>
          </a:xfrm>
          <a:custGeom>
            <a:avLst/>
            <a:gdLst/>
            <a:ahLst/>
            <a:cxnLst/>
            <a:rect r="r" b="b" t="t" l="l"/>
            <a:pathLst>
              <a:path h="2831710" w="4052537">
                <a:moveTo>
                  <a:pt x="0" y="0"/>
                </a:moveTo>
                <a:lnTo>
                  <a:pt x="4052537" y="0"/>
                </a:lnTo>
                <a:lnTo>
                  <a:pt x="4052537" y="2831710"/>
                </a:lnTo>
                <a:lnTo>
                  <a:pt x="0" y="28317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235463" y="7455290"/>
            <a:ext cx="4052537" cy="2831710"/>
          </a:xfrm>
          <a:custGeom>
            <a:avLst/>
            <a:gdLst/>
            <a:ahLst/>
            <a:cxnLst/>
            <a:rect r="r" b="b" t="t" l="l"/>
            <a:pathLst>
              <a:path h="2831710" w="4052537">
                <a:moveTo>
                  <a:pt x="4052537" y="2831710"/>
                </a:moveTo>
                <a:lnTo>
                  <a:pt x="0" y="2831710"/>
                </a:lnTo>
                <a:lnTo>
                  <a:pt x="0" y="0"/>
                </a:lnTo>
                <a:lnTo>
                  <a:pt x="4052537" y="0"/>
                </a:lnTo>
                <a:lnTo>
                  <a:pt x="4052537" y="283171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707412" y="3253618"/>
            <a:ext cx="7383916" cy="1466850"/>
          </a:xfrm>
          <a:prstGeom prst="rect">
            <a:avLst/>
          </a:prstGeom>
        </p:spPr>
        <p:txBody>
          <a:bodyPr anchor="t" rtlCol="false" tIns="0" lIns="0" bIns="0" rIns="0">
            <a:spAutoFit/>
          </a:bodyPr>
          <a:lstStyle/>
          <a:p>
            <a:pPr algn="l" marL="0" indent="0" lvl="0">
              <a:lnSpc>
                <a:spcPts val="5774"/>
              </a:lnSpc>
              <a:spcBef>
                <a:spcPct val="0"/>
              </a:spcBef>
            </a:pPr>
            <a:r>
              <a:rPr lang="en-US" b="true" sz="5499">
                <a:solidFill>
                  <a:srgbClr val="FFFFFF"/>
                </a:solidFill>
                <a:latin typeface="Teko Semi-Bold"/>
                <a:ea typeface="Teko Semi-Bold"/>
                <a:cs typeface="Teko Semi-Bold"/>
                <a:sym typeface="Teko Semi-Bold"/>
              </a:rPr>
              <a:t>STANDAR PENGAMBILAN GAMBAR</a:t>
            </a:r>
          </a:p>
        </p:txBody>
      </p:sp>
      <p:sp>
        <p:nvSpPr>
          <p:cNvPr name="TextBox 5" id="5"/>
          <p:cNvSpPr txBox="true"/>
          <p:nvPr/>
        </p:nvSpPr>
        <p:spPr>
          <a:xfrm rot="0">
            <a:off x="1707412" y="4682368"/>
            <a:ext cx="7150733" cy="2454275"/>
          </a:xfrm>
          <a:prstGeom prst="rect">
            <a:avLst/>
          </a:prstGeom>
        </p:spPr>
        <p:txBody>
          <a:bodyPr anchor="t" rtlCol="false" tIns="0" lIns="0" bIns="0" rIns="0">
            <a:spAutoFit/>
          </a:bodyPr>
          <a:lstStyle/>
          <a:p>
            <a:pPr algn="l" marL="431801" indent="-215900" lvl="1">
              <a:lnSpc>
                <a:spcPts val="2800"/>
              </a:lnSpc>
              <a:buFont typeface="Arial"/>
              <a:buChar char="•"/>
            </a:pPr>
            <a:r>
              <a:rPr lang="en-US" b="true" sz="2000">
                <a:solidFill>
                  <a:srgbClr val="FFFFFF">
                    <a:alpha val="69804"/>
                  </a:srgbClr>
                </a:solidFill>
                <a:latin typeface="Montserrat Bold"/>
                <a:ea typeface="Montserrat Bold"/>
                <a:cs typeface="Montserrat Bold"/>
                <a:sym typeface="Montserrat Bold"/>
              </a:rPr>
              <a:t>Angel</a:t>
            </a:r>
            <a:r>
              <a:rPr lang="en-US" sz="2000">
                <a:solidFill>
                  <a:srgbClr val="FFFFFF">
                    <a:alpha val="69804"/>
                  </a:srgbClr>
                </a:solidFill>
                <a:latin typeface="Montserrat"/>
                <a:ea typeface="Montserrat"/>
                <a:cs typeface="Montserrat"/>
                <a:sym typeface="Montserrat"/>
              </a:rPr>
              <a:t>: ada 5 yaitu depan, serong kanan, serong kiri, atas dan bawah.</a:t>
            </a:r>
          </a:p>
          <a:p>
            <a:pPr algn="l" marL="431801" indent="-215900" lvl="1">
              <a:lnSpc>
                <a:spcPts val="2800"/>
              </a:lnSpc>
              <a:buFont typeface="Arial"/>
              <a:buChar char="•"/>
            </a:pPr>
            <a:r>
              <a:rPr lang="en-US" b="true" sz="2000">
                <a:solidFill>
                  <a:srgbClr val="FFFFFF">
                    <a:alpha val="69804"/>
                  </a:srgbClr>
                </a:solidFill>
                <a:latin typeface="Montserrat Bold"/>
                <a:ea typeface="Montserrat Bold"/>
                <a:cs typeface="Montserrat Bold"/>
                <a:sym typeface="Montserrat Bold"/>
              </a:rPr>
              <a:t>Rotasi &amp; Orientasi</a:t>
            </a:r>
            <a:r>
              <a:rPr lang="en-US" sz="2000">
                <a:solidFill>
                  <a:srgbClr val="FFFFFF">
                    <a:alpha val="69804"/>
                  </a:srgbClr>
                </a:solidFill>
                <a:latin typeface="Montserrat"/>
                <a:ea typeface="Montserrat"/>
                <a:cs typeface="Montserrat"/>
                <a:sym typeface="Montserrat"/>
              </a:rPr>
              <a:t>: Rebah lurus, Rebah Terbalik, dan Miring</a:t>
            </a:r>
          </a:p>
          <a:p>
            <a:pPr algn="l" marL="431801" indent="-215900" lvl="1">
              <a:lnSpc>
                <a:spcPts val="2800"/>
              </a:lnSpc>
              <a:buFont typeface="Arial"/>
              <a:buChar char="•"/>
            </a:pPr>
            <a:r>
              <a:rPr lang="en-US" b="true" sz="2000">
                <a:solidFill>
                  <a:srgbClr val="FFFFFF">
                    <a:alpha val="69804"/>
                  </a:srgbClr>
                </a:solidFill>
                <a:latin typeface="Montserrat Bold"/>
                <a:ea typeface="Montserrat Bold"/>
                <a:cs typeface="Montserrat Bold"/>
                <a:sym typeface="Montserrat Bold"/>
              </a:rPr>
              <a:t>Jarak</a:t>
            </a:r>
            <a:r>
              <a:rPr lang="en-US" sz="2000">
                <a:solidFill>
                  <a:srgbClr val="FFFFFF">
                    <a:alpha val="69804"/>
                  </a:srgbClr>
                </a:solidFill>
                <a:latin typeface="Montserrat"/>
                <a:ea typeface="Montserrat"/>
                <a:cs typeface="Montserrat"/>
                <a:sym typeface="Montserrat"/>
              </a:rPr>
              <a:t>: Menggunakan jarak dekat dan sedang</a:t>
            </a:r>
          </a:p>
          <a:p>
            <a:pPr algn="l" marL="431801" indent="-215900" lvl="1">
              <a:lnSpc>
                <a:spcPts val="2800"/>
              </a:lnSpc>
              <a:buFont typeface="Arial"/>
              <a:buChar char="•"/>
            </a:pPr>
            <a:r>
              <a:rPr lang="en-US" b="true" sz="2000">
                <a:solidFill>
                  <a:srgbClr val="FFFFFF">
                    <a:alpha val="69804"/>
                  </a:srgbClr>
                </a:solidFill>
                <a:latin typeface="Montserrat Bold"/>
                <a:ea typeface="Montserrat Bold"/>
                <a:cs typeface="Montserrat Bold"/>
                <a:sym typeface="Montserrat Bold"/>
              </a:rPr>
              <a:t>Cahaya</a:t>
            </a:r>
            <a:r>
              <a:rPr lang="en-US" sz="2000">
                <a:solidFill>
                  <a:srgbClr val="FFFFFF">
                    <a:alpha val="69804"/>
                  </a:srgbClr>
                </a:solidFill>
                <a:latin typeface="Montserrat"/>
                <a:ea typeface="Montserrat"/>
                <a:cs typeface="Montserrat"/>
                <a:sym typeface="Montserrat"/>
              </a:rPr>
              <a:t>: Terang &amp; Redup</a:t>
            </a:r>
          </a:p>
          <a:p>
            <a:pPr algn="l" marL="431801" indent="-215900" lvl="1">
              <a:lnSpc>
                <a:spcPts val="2800"/>
              </a:lnSpc>
              <a:buFont typeface="Arial"/>
              <a:buChar char="•"/>
            </a:pPr>
            <a:r>
              <a:rPr lang="en-US" b="true" sz="2000">
                <a:solidFill>
                  <a:srgbClr val="FFFFFF">
                    <a:alpha val="69804"/>
                  </a:srgbClr>
                </a:solidFill>
                <a:latin typeface="Montserrat Bold"/>
                <a:ea typeface="Montserrat Bold"/>
                <a:cs typeface="Montserrat Bold"/>
                <a:sym typeface="Montserrat Bold"/>
              </a:rPr>
              <a:t>Background</a:t>
            </a:r>
            <a:r>
              <a:rPr lang="en-US" sz="2000">
                <a:solidFill>
                  <a:srgbClr val="FFFFFF">
                    <a:alpha val="69804"/>
                  </a:srgbClr>
                </a:solidFill>
                <a:latin typeface="Montserrat"/>
                <a:ea typeface="Montserrat"/>
                <a:cs typeface="Montserrat"/>
                <a:sym typeface="Montserrat"/>
              </a:rPr>
              <a:t>: Polos dan Non-polos</a:t>
            </a:r>
          </a:p>
        </p:txBody>
      </p:sp>
      <p:sp>
        <p:nvSpPr>
          <p:cNvPr name="Freeform 6" id="6"/>
          <p:cNvSpPr/>
          <p:nvPr/>
        </p:nvSpPr>
        <p:spPr>
          <a:xfrm flipH="false" flipV="true" rot="0">
            <a:off x="-1930626" y="9434042"/>
            <a:ext cx="4127214" cy="852958"/>
          </a:xfrm>
          <a:custGeom>
            <a:avLst/>
            <a:gdLst/>
            <a:ahLst/>
            <a:cxnLst/>
            <a:rect r="r" b="b" t="t" l="l"/>
            <a:pathLst>
              <a:path h="852958" w="4127214">
                <a:moveTo>
                  <a:pt x="0" y="852958"/>
                </a:moveTo>
                <a:lnTo>
                  <a:pt x="4127215" y="852958"/>
                </a:lnTo>
                <a:lnTo>
                  <a:pt x="4127215" y="0"/>
                </a:lnTo>
                <a:lnTo>
                  <a:pt x="0" y="0"/>
                </a:lnTo>
                <a:lnTo>
                  <a:pt x="0" y="85295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486274" y="1411549"/>
            <a:ext cx="812872" cy="812872"/>
          </a:xfrm>
          <a:custGeom>
            <a:avLst/>
            <a:gdLst/>
            <a:ahLst/>
            <a:cxnLst/>
            <a:rect r="r" b="b" t="t" l="l"/>
            <a:pathLst>
              <a:path h="812872" w="812872">
                <a:moveTo>
                  <a:pt x="0" y="0"/>
                </a:moveTo>
                <a:lnTo>
                  <a:pt x="812872" y="0"/>
                </a:lnTo>
                <a:lnTo>
                  <a:pt x="812872" y="812872"/>
                </a:lnTo>
                <a:lnTo>
                  <a:pt x="0" y="812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42552" y="5799603"/>
            <a:ext cx="586148" cy="586148"/>
          </a:xfrm>
          <a:custGeom>
            <a:avLst/>
            <a:gdLst/>
            <a:ahLst/>
            <a:cxnLst/>
            <a:rect r="r" b="b" t="t" l="l"/>
            <a:pathLst>
              <a:path h="586148" w="586148">
                <a:moveTo>
                  <a:pt x="0" y="0"/>
                </a:moveTo>
                <a:lnTo>
                  <a:pt x="586148" y="0"/>
                </a:lnTo>
                <a:lnTo>
                  <a:pt x="586148" y="586148"/>
                </a:lnTo>
                <a:lnTo>
                  <a:pt x="0" y="5861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6796677" y="8795677"/>
            <a:ext cx="462623" cy="462623"/>
          </a:xfrm>
          <a:custGeom>
            <a:avLst/>
            <a:gdLst/>
            <a:ahLst/>
            <a:cxnLst/>
            <a:rect r="r" b="b" t="t" l="l"/>
            <a:pathLst>
              <a:path h="462623" w="462623">
                <a:moveTo>
                  <a:pt x="0" y="0"/>
                </a:moveTo>
                <a:lnTo>
                  <a:pt x="462623" y="0"/>
                </a:lnTo>
                <a:lnTo>
                  <a:pt x="462623" y="462623"/>
                </a:lnTo>
                <a:lnTo>
                  <a:pt x="0" y="4626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0" id="10"/>
          <p:cNvGrpSpPr/>
          <p:nvPr/>
        </p:nvGrpSpPr>
        <p:grpSpPr>
          <a:xfrm rot="0">
            <a:off x="10804221" y="1005831"/>
            <a:ext cx="6455079" cy="954762"/>
            <a:chOff x="0" y="0"/>
            <a:chExt cx="1700103" cy="251460"/>
          </a:xfrm>
        </p:grpSpPr>
        <p:sp>
          <p:nvSpPr>
            <p:cNvPr name="Freeform 11" id="11"/>
            <p:cNvSpPr/>
            <p:nvPr/>
          </p:nvSpPr>
          <p:spPr>
            <a:xfrm flipH="false" flipV="false" rot="0">
              <a:off x="0" y="0"/>
              <a:ext cx="1700103" cy="251460"/>
            </a:xfrm>
            <a:custGeom>
              <a:avLst/>
              <a:gdLst/>
              <a:ahLst/>
              <a:cxnLst/>
              <a:rect r="r" b="b" t="t" l="l"/>
              <a:pathLst>
                <a:path h="251460" w="1700103">
                  <a:moveTo>
                    <a:pt x="119935" y="0"/>
                  </a:moveTo>
                  <a:lnTo>
                    <a:pt x="1580168" y="0"/>
                  </a:lnTo>
                  <a:cubicBezTo>
                    <a:pt x="1646406" y="0"/>
                    <a:pt x="1700103" y="53697"/>
                    <a:pt x="1700103" y="119935"/>
                  </a:cubicBezTo>
                  <a:lnTo>
                    <a:pt x="1700103" y="131525"/>
                  </a:lnTo>
                  <a:cubicBezTo>
                    <a:pt x="1700103" y="197763"/>
                    <a:pt x="1646406" y="251460"/>
                    <a:pt x="1580168" y="251460"/>
                  </a:cubicBezTo>
                  <a:lnTo>
                    <a:pt x="119935" y="251460"/>
                  </a:lnTo>
                  <a:cubicBezTo>
                    <a:pt x="53697" y="251460"/>
                    <a:pt x="0" y="197763"/>
                    <a:pt x="0" y="131525"/>
                  </a:cubicBezTo>
                  <a:lnTo>
                    <a:pt x="0" y="119935"/>
                  </a:lnTo>
                  <a:cubicBezTo>
                    <a:pt x="0" y="53697"/>
                    <a:pt x="53697" y="0"/>
                    <a:pt x="119935" y="0"/>
                  </a:cubicBezTo>
                  <a:close/>
                </a:path>
              </a:pathLst>
            </a:custGeom>
            <a:solidFill>
              <a:srgbClr val="FFFFFF"/>
            </a:solidFill>
          </p:spPr>
        </p:sp>
        <p:sp>
          <p:nvSpPr>
            <p:cNvPr name="TextBox 12" id="12"/>
            <p:cNvSpPr txBox="true"/>
            <p:nvPr/>
          </p:nvSpPr>
          <p:spPr>
            <a:xfrm>
              <a:off x="0" y="-38100"/>
              <a:ext cx="1700103" cy="28956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1008001" y="1312524"/>
            <a:ext cx="2067536" cy="350901"/>
          </a:xfrm>
          <a:prstGeom prst="rect">
            <a:avLst/>
          </a:prstGeom>
        </p:spPr>
        <p:txBody>
          <a:bodyPr anchor="t" rtlCol="false" tIns="0" lIns="0" bIns="0" rIns="0">
            <a:spAutoFit/>
          </a:bodyPr>
          <a:lstStyle/>
          <a:p>
            <a:pPr algn="ctr">
              <a:lnSpc>
                <a:spcPts val="2592"/>
              </a:lnSpc>
            </a:pPr>
            <a:r>
              <a:rPr lang="en-US" sz="2400" b="true">
                <a:solidFill>
                  <a:srgbClr val="0D0E10"/>
                </a:solidFill>
                <a:latin typeface="Poppins Semi-Bold"/>
                <a:ea typeface="Poppins Semi-Bold"/>
                <a:cs typeface="Poppins Semi-Bold"/>
                <a:sym typeface="Poppins Semi-Bold"/>
              </a:rPr>
              <a:t>Teknologi</a:t>
            </a:r>
          </a:p>
        </p:txBody>
      </p:sp>
      <p:sp>
        <p:nvSpPr>
          <p:cNvPr name="TextBox 14" id="14"/>
          <p:cNvSpPr txBox="true"/>
          <p:nvPr/>
        </p:nvSpPr>
        <p:spPr>
          <a:xfrm rot="0">
            <a:off x="15285324" y="1312524"/>
            <a:ext cx="1472855"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Kontak</a:t>
            </a:r>
          </a:p>
        </p:txBody>
      </p:sp>
      <p:sp>
        <p:nvSpPr>
          <p:cNvPr name="Freeform 15" id="15"/>
          <p:cNvSpPr/>
          <p:nvPr/>
        </p:nvSpPr>
        <p:spPr>
          <a:xfrm flipH="false" flipV="false" rot="0">
            <a:off x="10805551" y="1005831"/>
            <a:ext cx="549045" cy="549045"/>
          </a:xfrm>
          <a:custGeom>
            <a:avLst/>
            <a:gdLst/>
            <a:ahLst/>
            <a:cxnLst/>
            <a:rect r="r" b="b" t="t" l="l"/>
            <a:pathLst>
              <a:path h="549045" w="549045">
                <a:moveTo>
                  <a:pt x="0" y="0"/>
                </a:moveTo>
                <a:lnTo>
                  <a:pt x="549045" y="0"/>
                </a:lnTo>
                <a:lnTo>
                  <a:pt x="549045" y="549045"/>
                </a:lnTo>
                <a:lnTo>
                  <a:pt x="0" y="5490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true" rot="0">
            <a:off x="16710255" y="1411549"/>
            <a:ext cx="549045" cy="549045"/>
          </a:xfrm>
          <a:custGeom>
            <a:avLst/>
            <a:gdLst/>
            <a:ahLst/>
            <a:cxnLst/>
            <a:rect r="r" b="b" t="t" l="l"/>
            <a:pathLst>
              <a:path h="549045" w="549045">
                <a:moveTo>
                  <a:pt x="549045" y="549044"/>
                </a:moveTo>
                <a:lnTo>
                  <a:pt x="0" y="549044"/>
                </a:lnTo>
                <a:lnTo>
                  <a:pt x="0" y="0"/>
                </a:lnTo>
                <a:lnTo>
                  <a:pt x="549045" y="0"/>
                </a:lnTo>
                <a:lnTo>
                  <a:pt x="549045" y="549044"/>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13217157" y="1312524"/>
            <a:ext cx="1687167"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Infomasi</a:t>
            </a:r>
          </a:p>
        </p:txBody>
      </p:sp>
      <p:sp>
        <p:nvSpPr>
          <p:cNvPr name="TextBox 18" id="18"/>
          <p:cNvSpPr txBox="true"/>
          <p:nvPr/>
        </p:nvSpPr>
        <p:spPr>
          <a:xfrm rot="0">
            <a:off x="2196589" y="1217551"/>
            <a:ext cx="2571982" cy="645795"/>
          </a:xfrm>
          <a:prstGeom prst="rect">
            <a:avLst/>
          </a:prstGeom>
        </p:spPr>
        <p:txBody>
          <a:bodyPr anchor="t" rtlCol="false" tIns="0" lIns="0" bIns="0" rIns="0">
            <a:spAutoFit/>
          </a:bodyPr>
          <a:lstStyle/>
          <a:p>
            <a:pPr algn="l">
              <a:lnSpc>
                <a:spcPts val="2520"/>
              </a:lnSpc>
            </a:pPr>
            <a:r>
              <a:rPr lang="en-US" sz="2400" b="true">
                <a:solidFill>
                  <a:srgbClr val="FFFFFF"/>
                </a:solidFill>
                <a:latin typeface="Teko Bold"/>
                <a:ea typeface="Teko Bold"/>
                <a:cs typeface="Teko Bold"/>
                <a:sym typeface="Teko Bold"/>
              </a:rPr>
              <a:t>MACHINE</a:t>
            </a:r>
          </a:p>
          <a:p>
            <a:pPr algn="l">
              <a:lnSpc>
                <a:spcPts val="2520"/>
              </a:lnSpc>
            </a:pPr>
            <a:r>
              <a:rPr lang="en-US" sz="2400" b="true">
                <a:solidFill>
                  <a:srgbClr val="FFFFFF"/>
                </a:solidFill>
                <a:latin typeface="Teko Bold"/>
                <a:ea typeface="Teko Bold"/>
                <a:cs typeface="Teko Bold"/>
                <a:sym typeface="Teko Bold"/>
              </a:rPr>
              <a:t>LEARNING</a:t>
            </a:r>
          </a:p>
        </p:txBody>
      </p:sp>
      <p:grpSp>
        <p:nvGrpSpPr>
          <p:cNvPr name="Group 19" id="19"/>
          <p:cNvGrpSpPr/>
          <p:nvPr/>
        </p:nvGrpSpPr>
        <p:grpSpPr>
          <a:xfrm rot="0">
            <a:off x="1028700" y="1024409"/>
            <a:ext cx="917606" cy="91760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159816" y="1188976"/>
            <a:ext cx="655375" cy="588472"/>
          </a:xfrm>
          <a:custGeom>
            <a:avLst/>
            <a:gdLst/>
            <a:ahLst/>
            <a:cxnLst/>
            <a:rect r="r" b="b" t="t" l="l"/>
            <a:pathLst>
              <a:path h="588472" w="655375">
                <a:moveTo>
                  <a:pt x="0" y="0"/>
                </a:moveTo>
                <a:lnTo>
                  <a:pt x="655375" y="0"/>
                </a:lnTo>
                <a:lnTo>
                  <a:pt x="655375" y="588472"/>
                </a:lnTo>
                <a:lnTo>
                  <a:pt x="0" y="5884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3" id="23"/>
          <p:cNvSpPr txBox="true"/>
          <p:nvPr/>
        </p:nvSpPr>
        <p:spPr>
          <a:xfrm rot="0">
            <a:off x="9091328" y="6320668"/>
            <a:ext cx="7150733" cy="1044575"/>
          </a:xfrm>
          <a:prstGeom prst="rect">
            <a:avLst/>
          </a:prstGeom>
        </p:spPr>
        <p:txBody>
          <a:bodyPr anchor="t" rtlCol="false" tIns="0" lIns="0" bIns="0" rIns="0">
            <a:spAutoFit/>
          </a:bodyPr>
          <a:lstStyle/>
          <a:p>
            <a:pPr algn="l">
              <a:lnSpc>
                <a:spcPts val="2800"/>
              </a:lnSpc>
            </a:pPr>
            <a:r>
              <a:rPr lang="en-US" sz="2000">
                <a:solidFill>
                  <a:srgbClr val="FFFFFF">
                    <a:alpha val="69804"/>
                  </a:srgbClr>
                </a:solidFill>
                <a:latin typeface="Montserrat"/>
                <a:ea typeface="Montserrat"/>
                <a:cs typeface="Montserrat"/>
                <a:sym typeface="Montserrat"/>
              </a:rPr>
              <a:t>Jumlah dataset murni menggunakan kamera HP sebanyak 100 lebih, dari variasi angel, jarak, cahaya, rotasi, dan background.</a:t>
            </a:r>
          </a:p>
        </p:txBody>
      </p:sp>
      <p:sp>
        <p:nvSpPr>
          <p:cNvPr name="TextBox 24" id="24"/>
          <p:cNvSpPr txBox="true"/>
          <p:nvPr/>
        </p:nvSpPr>
        <p:spPr>
          <a:xfrm rot="0">
            <a:off x="1824003" y="8041518"/>
            <a:ext cx="8981547" cy="339725"/>
          </a:xfrm>
          <a:prstGeom prst="rect">
            <a:avLst/>
          </a:prstGeom>
        </p:spPr>
        <p:txBody>
          <a:bodyPr anchor="t" rtlCol="false" tIns="0" lIns="0" bIns="0" rIns="0">
            <a:spAutoFit/>
          </a:bodyPr>
          <a:lstStyle/>
          <a:p>
            <a:pPr algn="l">
              <a:lnSpc>
                <a:spcPts val="2800"/>
              </a:lnSpc>
            </a:pPr>
            <a:r>
              <a:rPr lang="en-US" sz="2000" b="true">
                <a:solidFill>
                  <a:srgbClr val="FFFFFF">
                    <a:alpha val="69804"/>
                  </a:srgbClr>
                </a:solidFill>
                <a:latin typeface="Montserrat Bold"/>
                <a:ea typeface="Montserrat Bold"/>
                <a:cs typeface="Montserrat Bold"/>
                <a:sym typeface="Montserrat Bold"/>
              </a:rPr>
              <a:t>Link GitHub: https://github.com/Specter735/Machine-Learning.git</a:t>
            </a:r>
          </a:p>
        </p:txBody>
      </p:sp>
      <p:grpSp>
        <p:nvGrpSpPr>
          <p:cNvPr name="Group 25" id="25"/>
          <p:cNvGrpSpPr/>
          <p:nvPr/>
        </p:nvGrpSpPr>
        <p:grpSpPr>
          <a:xfrm rot="0">
            <a:off x="9091328" y="3089227"/>
            <a:ext cx="7136763" cy="3168861"/>
            <a:chOff x="0" y="0"/>
            <a:chExt cx="992076" cy="440501"/>
          </a:xfrm>
        </p:grpSpPr>
        <p:sp>
          <p:nvSpPr>
            <p:cNvPr name="Freeform 26" id="26"/>
            <p:cNvSpPr/>
            <p:nvPr/>
          </p:nvSpPr>
          <p:spPr>
            <a:xfrm flipH="false" flipV="false" rot="0">
              <a:off x="0" y="0"/>
              <a:ext cx="992076" cy="440501"/>
            </a:xfrm>
            <a:custGeom>
              <a:avLst/>
              <a:gdLst/>
              <a:ahLst/>
              <a:cxnLst/>
              <a:rect r="r" b="b" t="t" l="l"/>
              <a:pathLst>
                <a:path h="440501" w="992076">
                  <a:moveTo>
                    <a:pt x="42307" y="0"/>
                  </a:moveTo>
                  <a:lnTo>
                    <a:pt x="949769" y="0"/>
                  </a:lnTo>
                  <a:cubicBezTo>
                    <a:pt x="973134" y="0"/>
                    <a:pt x="992076" y="18941"/>
                    <a:pt x="992076" y="42307"/>
                  </a:cubicBezTo>
                  <a:lnTo>
                    <a:pt x="992076" y="398194"/>
                  </a:lnTo>
                  <a:cubicBezTo>
                    <a:pt x="992076" y="421559"/>
                    <a:pt x="973134" y="440501"/>
                    <a:pt x="949769" y="440501"/>
                  </a:cubicBezTo>
                  <a:lnTo>
                    <a:pt x="42307" y="440501"/>
                  </a:lnTo>
                  <a:cubicBezTo>
                    <a:pt x="18941" y="440501"/>
                    <a:pt x="0" y="421559"/>
                    <a:pt x="0" y="398194"/>
                  </a:cubicBezTo>
                  <a:lnTo>
                    <a:pt x="0" y="42307"/>
                  </a:lnTo>
                  <a:cubicBezTo>
                    <a:pt x="0" y="18941"/>
                    <a:pt x="18941" y="0"/>
                    <a:pt x="42307" y="0"/>
                  </a:cubicBezTo>
                  <a:close/>
                </a:path>
              </a:pathLst>
            </a:custGeom>
            <a:blipFill>
              <a:blip r:embed="rId14"/>
              <a:stretch>
                <a:fillRect l="0" t="-25024" r="0" b="-25024"/>
              </a:stretch>
            </a:blipFill>
            <a:ln w="76200" cap="rnd">
              <a:solidFill>
                <a:srgbClr val="FFFFFF"/>
              </a:solidFill>
              <a:prstDash val="solid"/>
              <a:round/>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51A43">
                <a:alpha val="100000"/>
              </a:srgbClr>
            </a:gs>
            <a:gs pos="100000">
              <a:srgbClr val="181838">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81048" y="16034"/>
            <a:ext cx="4052537" cy="2831710"/>
          </a:xfrm>
          <a:custGeom>
            <a:avLst/>
            <a:gdLst/>
            <a:ahLst/>
            <a:cxnLst/>
            <a:rect r="r" b="b" t="t" l="l"/>
            <a:pathLst>
              <a:path h="2831710" w="4052537">
                <a:moveTo>
                  <a:pt x="0" y="0"/>
                </a:moveTo>
                <a:lnTo>
                  <a:pt x="4052537" y="0"/>
                </a:lnTo>
                <a:lnTo>
                  <a:pt x="4052537" y="2831710"/>
                </a:lnTo>
                <a:lnTo>
                  <a:pt x="0" y="2831710"/>
                </a:lnTo>
                <a:lnTo>
                  <a:pt x="0"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1667" y="6450510"/>
            <a:ext cx="812872" cy="812872"/>
          </a:xfrm>
          <a:custGeom>
            <a:avLst/>
            <a:gdLst/>
            <a:ahLst/>
            <a:cxnLst/>
            <a:rect r="r" b="b" t="t" l="l"/>
            <a:pathLst>
              <a:path h="812872" w="812872">
                <a:moveTo>
                  <a:pt x="0" y="0"/>
                </a:moveTo>
                <a:lnTo>
                  <a:pt x="812872" y="0"/>
                </a:lnTo>
                <a:lnTo>
                  <a:pt x="812872" y="812872"/>
                </a:lnTo>
                <a:lnTo>
                  <a:pt x="0" y="8128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646755" y="3682073"/>
            <a:ext cx="14731938" cy="3242570"/>
          </a:xfrm>
          <a:prstGeom prst="rect">
            <a:avLst/>
          </a:prstGeom>
        </p:spPr>
        <p:txBody>
          <a:bodyPr anchor="t" rtlCol="false" tIns="0" lIns="0" bIns="0" rIns="0">
            <a:spAutoFit/>
          </a:bodyPr>
          <a:lstStyle/>
          <a:p>
            <a:pPr algn="ctr">
              <a:lnSpc>
                <a:spcPts val="12471"/>
              </a:lnSpc>
            </a:pPr>
            <a:r>
              <a:rPr lang="en-US" b="true" sz="12856">
                <a:solidFill>
                  <a:srgbClr val="FFFFFF"/>
                </a:solidFill>
                <a:latin typeface="Teko Bold"/>
                <a:ea typeface="Teko Bold"/>
                <a:cs typeface="Teko Bold"/>
                <a:sym typeface="Teko Bold"/>
              </a:rPr>
              <a:t>TERIMA KASIH ATAS PERHATIANNYA</a:t>
            </a:r>
          </a:p>
        </p:txBody>
      </p:sp>
      <p:grpSp>
        <p:nvGrpSpPr>
          <p:cNvPr name="Group 5" id="5"/>
          <p:cNvGrpSpPr/>
          <p:nvPr/>
        </p:nvGrpSpPr>
        <p:grpSpPr>
          <a:xfrm rot="0">
            <a:off x="5710525" y="7231978"/>
            <a:ext cx="3086100" cy="775859"/>
            <a:chOff x="0" y="0"/>
            <a:chExt cx="812800" cy="204342"/>
          </a:xfrm>
        </p:grpSpPr>
        <p:sp>
          <p:nvSpPr>
            <p:cNvPr name="Freeform 6" id="6"/>
            <p:cNvSpPr/>
            <p:nvPr/>
          </p:nvSpPr>
          <p:spPr>
            <a:xfrm flipH="false" flipV="false" rot="0">
              <a:off x="0" y="0"/>
              <a:ext cx="812800" cy="204342"/>
            </a:xfrm>
            <a:custGeom>
              <a:avLst/>
              <a:gdLst/>
              <a:ahLst/>
              <a:cxnLst/>
              <a:rect r="r" b="b" t="t" l="l"/>
              <a:pathLst>
                <a:path h="204342" w="812800">
                  <a:moveTo>
                    <a:pt x="102171" y="0"/>
                  </a:moveTo>
                  <a:lnTo>
                    <a:pt x="710629" y="0"/>
                  </a:lnTo>
                  <a:cubicBezTo>
                    <a:pt x="767057" y="0"/>
                    <a:pt x="812800" y="45743"/>
                    <a:pt x="812800" y="102171"/>
                  </a:cubicBezTo>
                  <a:lnTo>
                    <a:pt x="812800" y="102171"/>
                  </a:lnTo>
                  <a:cubicBezTo>
                    <a:pt x="812800" y="129268"/>
                    <a:pt x="802036" y="155256"/>
                    <a:pt x="782875" y="174416"/>
                  </a:cubicBezTo>
                  <a:cubicBezTo>
                    <a:pt x="763714" y="193577"/>
                    <a:pt x="737727" y="204342"/>
                    <a:pt x="710629" y="204342"/>
                  </a:cubicBezTo>
                  <a:lnTo>
                    <a:pt x="102171" y="204342"/>
                  </a:lnTo>
                  <a:cubicBezTo>
                    <a:pt x="45743" y="204342"/>
                    <a:pt x="0" y="158598"/>
                    <a:pt x="0" y="102171"/>
                  </a:cubicBezTo>
                  <a:lnTo>
                    <a:pt x="0" y="102171"/>
                  </a:lnTo>
                  <a:cubicBezTo>
                    <a:pt x="0" y="45743"/>
                    <a:pt x="45743" y="0"/>
                    <a:pt x="102171" y="0"/>
                  </a:cubicBezTo>
                  <a:close/>
                </a:path>
              </a:pathLst>
            </a:custGeom>
            <a:solidFill>
              <a:srgbClr val="FFFFFF"/>
            </a:solidFill>
          </p:spPr>
        </p:sp>
        <p:sp>
          <p:nvSpPr>
            <p:cNvPr name="TextBox 7" id="7"/>
            <p:cNvSpPr txBox="true"/>
            <p:nvPr/>
          </p:nvSpPr>
          <p:spPr>
            <a:xfrm>
              <a:off x="0" y="-38100"/>
              <a:ext cx="812800" cy="24244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228822" y="7231978"/>
            <a:ext cx="3086100" cy="775859"/>
            <a:chOff x="0" y="0"/>
            <a:chExt cx="812800" cy="204342"/>
          </a:xfrm>
        </p:grpSpPr>
        <p:sp>
          <p:nvSpPr>
            <p:cNvPr name="Freeform 9" id="9"/>
            <p:cNvSpPr/>
            <p:nvPr/>
          </p:nvSpPr>
          <p:spPr>
            <a:xfrm flipH="false" flipV="false" rot="0">
              <a:off x="0" y="0"/>
              <a:ext cx="812800" cy="204342"/>
            </a:xfrm>
            <a:custGeom>
              <a:avLst/>
              <a:gdLst/>
              <a:ahLst/>
              <a:cxnLst/>
              <a:rect r="r" b="b" t="t" l="l"/>
              <a:pathLst>
                <a:path h="204342" w="812800">
                  <a:moveTo>
                    <a:pt x="102171" y="0"/>
                  </a:moveTo>
                  <a:lnTo>
                    <a:pt x="710629" y="0"/>
                  </a:lnTo>
                  <a:cubicBezTo>
                    <a:pt x="767057" y="0"/>
                    <a:pt x="812800" y="45743"/>
                    <a:pt x="812800" y="102171"/>
                  </a:cubicBezTo>
                  <a:lnTo>
                    <a:pt x="812800" y="102171"/>
                  </a:lnTo>
                  <a:cubicBezTo>
                    <a:pt x="812800" y="129268"/>
                    <a:pt x="802036" y="155256"/>
                    <a:pt x="782875" y="174416"/>
                  </a:cubicBezTo>
                  <a:cubicBezTo>
                    <a:pt x="763714" y="193577"/>
                    <a:pt x="737727" y="204342"/>
                    <a:pt x="710629" y="204342"/>
                  </a:cubicBezTo>
                  <a:lnTo>
                    <a:pt x="102171" y="204342"/>
                  </a:lnTo>
                  <a:cubicBezTo>
                    <a:pt x="45743" y="204342"/>
                    <a:pt x="0" y="158598"/>
                    <a:pt x="0" y="102171"/>
                  </a:cubicBezTo>
                  <a:lnTo>
                    <a:pt x="0" y="102171"/>
                  </a:lnTo>
                  <a:cubicBezTo>
                    <a:pt x="0" y="45743"/>
                    <a:pt x="45743" y="0"/>
                    <a:pt x="102171" y="0"/>
                  </a:cubicBezTo>
                  <a:close/>
                </a:path>
              </a:pathLst>
            </a:custGeom>
            <a:solidFill>
              <a:srgbClr val="FFFFFF"/>
            </a:solidFill>
          </p:spPr>
        </p:sp>
        <p:sp>
          <p:nvSpPr>
            <p:cNvPr name="TextBox 10" id="10"/>
            <p:cNvSpPr txBox="true"/>
            <p:nvPr/>
          </p:nvSpPr>
          <p:spPr>
            <a:xfrm>
              <a:off x="0" y="-38100"/>
              <a:ext cx="812800" cy="24244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1612524" y="7353803"/>
            <a:ext cx="532209" cy="53220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1A4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1644974" y="7386252"/>
            <a:ext cx="467310" cy="467310"/>
          </a:xfrm>
          <a:custGeom>
            <a:avLst/>
            <a:gdLst/>
            <a:ahLst/>
            <a:cxnLst/>
            <a:rect r="r" b="b" t="t" l="l"/>
            <a:pathLst>
              <a:path h="467310" w="467310">
                <a:moveTo>
                  <a:pt x="0" y="0"/>
                </a:moveTo>
                <a:lnTo>
                  <a:pt x="467310" y="0"/>
                </a:lnTo>
                <a:lnTo>
                  <a:pt x="467310" y="467311"/>
                </a:lnTo>
                <a:lnTo>
                  <a:pt x="0" y="4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5738789" y="7396418"/>
            <a:ext cx="3029574" cy="499516"/>
          </a:xfrm>
          <a:prstGeom prst="rect">
            <a:avLst/>
          </a:prstGeom>
        </p:spPr>
        <p:txBody>
          <a:bodyPr anchor="t" rtlCol="false" tIns="0" lIns="0" bIns="0" rIns="0">
            <a:spAutoFit/>
          </a:bodyPr>
          <a:lstStyle/>
          <a:p>
            <a:pPr algn="ctr">
              <a:lnSpc>
                <a:spcPts val="4027"/>
              </a:lnSpc>
            </a:pPr>
            <a:r>
              <a:rPr lang="en-US" sz="3196" b="true">
                <a:solidFill>
                  <a:srgbClr val="511A40"/>
                </a:solidFill>
                <a:latin typeface="Teko Semi-Bold"/>
                <a:ea typeface="Teko Semi-Bold"/>
                <a:cs typeface="Teko Semi-Bold"/>
                <a:sym typeface="Teko Semi-Bold"/>
              </a:rPr>
              <a:t>Sampai Jumpa</a:t>
            </a:r>
          </a:p>
        </p:txBody>
      </p:sp>
      <p:sp>
        <p:nvSpPr>
          <p:cNvPr name="TextBox 16" id="16"/>
          <p:cNvSpPr txBox="true"/>
          <p:nvPr/>
        </p:nvSpPr>
        <p:spPr>
          <a:xfrm rot="0">
            <a:off x="9228822" y="7396418"/>
            <a:ext cx="2416152" cy="499516"/>
          </a:xfrm>
          <a:prstGeom prst="rect">
            <a:avLst/>
          </a:prstGeom>
        </p:spPr>
        <p:txBody>
          <a:bodyPr anchor="t" rtlCol="false" tIns="0" lIns="0" bIns="0" rIns="0">
            <a:spAutoFit/>
          </a:bodyPr>
          <a:lstStyle/>
          <a:p>
            <a:pPr algn="ctr">
              <a:lnSpc>
                <a:spcPts val="4027"/>
              </a:lnSpc>
            </a:pPr>
            <a:r>
              <a:rPr lang="en-US" sz="3196" b="true">
                <a:solidFill>
                  <a:srgbClr val="511A40"/>
                </a:solidFill>
                <a:latin typeface="Teko Semi-Bold"/>
                <a:ea typeface="Teko Semi-Bold"/>
                <a:cs typeface="Teko Semi-Bold"/>
                <a:sym typeface="Teko Semi-Bold"/>
              </a:rPr>
              <a:t>Info Lainnya</a:t>
            </a:r>
          </a:p>
        </p:txBody>
      </p:sp>
      <p:sp>
        <p:nvSpPr>
          <p:cNvPr name="Freeform 17" id="17"/>
          <p:cNvSpPr/>
          <p:nvPr/>
        </p:nvSpPr>
        <p:spPr>
          <a:xfrm flipH="false" flipV="true" rot="0">
            <a:off x="-1930626" y="9434042"/>
            <a:ext cx="4127214" cy="852958"/>
          </a:xfrm>
          <a:custGeom>
            <a:avLst/>
            <a:gdLst/>
            <a:ahLst/>
            <a:cxnLst/>
            <a:rect r="r" b="b" t="t" l="l"/>
            <a:pathLst>
              <a:path h="852958" w="4127214">
                <a:moveTo>
                  <a:pt x="0" y="852958"/>
                </a:moveTo>
                <a:lnTo>
                  <a:pt x="4127215" y="852958"/>
                </a:lnTo>
                <a:lnTo>
                  <a:pt x="4127215" y="0"/>
                </a:lnTo>
                <a:lnTo>
                  <a:pt x="0" y="0"/>
                </a:lnTo>
                <a:lnTo>
                  <a:pt x="0" y="852958"/>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5710525" y="7231978"/>
            <a:ext cx="434914" cy="434914"/>
          </a:xfrm>
          <a:custGeom>
            <a:avLst/>
            <a:gdLst/>
            <a:ahLst/>
            <a:cxnLst/>
            <a:rect r="r" b="b" t="t" l="l"/>
            <a:pathLst>
              <a:path h="434914" w="434914">
                <a:moveTo>
                  <a:pt x="0" y="0"/>
                </a:moveTo>
                <a:lnTo>
                  <a:pt x="434915" y="0"/>
                </a:lnTo>
                <a:lnTo>
                  <a:pt x="434915" y="434914"/>
                </a:lnTo>
                <a:lnTo>
                  <a:pt x="0" y="434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9228822" y="7231978"/>
            <a:ext cx="434914" cy="434914"/>
          </a:xfrm>
          <a:custGeom>
            <a:avLst/>
            <a:gdLst/>
            <a:ahLst/>
            <a:cxnLst/>
            <a:rect r="r" b="b" t="t" l="l"/>
            <a:pathLst>
              <a:path h="434914" w="434914">
                <a:moveTo>
                  <a:pt x="0" y="0"/>
                </a:moveTo>
                <a:lnTo>
                  <a:pt x="434914" y="0"/>
                </a:lnTo>
                <a:lnTo>
                  <a:pt x="434914" y="434914"/>
                </a:lnTo>
                <a:lnTo>
                  <a:pt x="0" y="434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true" flipV="true" rot="0">
            <a:off x="8361711" y="7572923"/>
            <a:ext cx="434914" cy="434914"/>
          </a:xfrm>
          <a:custGeom>
            <a:avLst/>
            <a:gdLst/>
            <a:ahLst/>
            <a:cxnLst/>
            <a:rect r="r" b="b" t="t" l="l"/>
            <a:pathLst>
              <a:path h="434914" w="434914">
                <a:moveTo>
                  <a:pt x="434914" y="434914"/>
                </a:moveTo>
                <a:lnTo>
                  <a:pt x="0" y="434914"/>
                </a:lnTo>
                <a:lnTo>
                  <a:pt x="0" y="0"/>
                </a:lnTo>
                <a:lnTo>
                  <a:pt x="434914" y="0"/>
                </a:lnTo>
                <a:lnTo>
                  <a:pt x="434914" y="43491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true" flipV="true" rot="0">
            <a:off x="11880008" y="7572923"/>
            <a:ext cx="434914" cy="434914"/>
          </a:xfrm>
          <a:custGeom>
            <a:avLst/>
            <a:gdLst/>
            <a:ahLst/>
            <a:cxnLst/>
            <a:rect r="r" b="b" t="t" l="l"/>
            <a:pathLst>
              <a:path h="434914" w="434914">
                <a:moveTo>
                  <a:pt x="434914" y="434914"/>
                </a:moveTo>
                <a:lnTo>
                  <a:pt x="0" y="434914"/>
                </a:lnTo>
                <a:lnTo>
                  <a:pt x="0" y="0"/>
                </a:lnTo>
                <a:lnTo>
                  <a:pt x="434914" y="0"/>
                </a:lnTo>
                <a:lnTo>
                  <a:pt x="434914" y="43491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16378693" y="2773465"/>
            <a:ext cx="586148" cy="586148"/>
          </a:xfrm>
          <a:custGeom>
            <a:avLst/>
            <a:gdLst/>
            <a:ahLst/>
            <a:cxnLst/>
            <a:rect r="r" b="b" t="t" l="l"/>
            <a:pathLst>
              <a:path h="586148" w="586148">
                <a:moveTo>
                  <a:pt x="0" y="0"/>
                </a:moveTo>
                <a:lnTo>
                  <a:pt x="586148" y="0"/>
                </a:lnTo>
                <a:lnTo>
                  <a:pt x="586148" y="586148"/>
                </a:lnTo>
                <a:lnTo>
                  <a:pt x="0" y="5861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true" flipV="true" rot="0">
            <a:off x="13820846" y="7165576"/>
            <a:ext cx="4467154" cy="3121424"/>
          </a:xfrm>
          <a:custGeom>
            <a:avLst/>
            <a:gdLst/>
            <a:ahLst/>
            <a:cxnLst/>
            <a:rect r="r" b="b" t="t" l="l"/>
            <a:pathLst>
              <a:path h="3121424" w="4467154">
                <a:moveTo>
                  <a:pt x="4467154" y="3121424"/>
                </a:moveTo>
                <a:lnTo>
                  <a:pt x="0" y="3121424"/>
                </a:lnTo>
                <a:lnTo>
                  <a:pt x="0" y="0"/>
                </a:lnTo>
                <a:lnTo>
                  <a:pt x="4467154" y="0"/>
                </a:lnTo>
                <a:lnTo>
                  <a:pt x="4467154" y="3121424"/>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6796677" y="8795677"/>
            <a:ext cx="462623" cy="462623"/>
          </a:xfrm>
          <a:custGeom>
            <a:avLst/>
            <a:gdLst/>
            <a:ahLst/>
            <a:cxnLst/>
            <a:rect r="r" b="b" t="t" l="l"/>
            <a:pathLst>
              <a:path h="462623" w="462623">
                <a:moveTo>
                  <a:pt x="0" y="0"/>
                </a:moveTo>
                <a:lnTo>
                  <a:pt x="462623" y="0"/>
                </a:lnTo>
                <a:lnTo>
                  <a:pt x="462623" y="462623"/>
                </a:lnTo>
                <a:lnTo>
                  <a:pt x="0" y="46262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5" id="25"/>
          <p:cNvGrpSpPr/>
          <p:nvPr/>
        </p:nvGrpSpPr>
        <p:grpSpPr>
          <a:xfrm rot="0">
            <a:off x="10804221" y="1005831"/>
            <a:ext cx="6455079" cy="954762"/>
            <a:chOff x="0" y="0"/>
            <a:chExt cx="1700103" cy="251460"/>
          </a:xfrm>
        </p:grpSpPr>
        <p:sp>
          <p:nvSpPr>
            <p:cNvPr name="Freeform 26" id="26"/>
            <p:cNvSpPr/>
            <p:nvPr/>
          </p:nvSpPr>
          <p:spPr>
            <a:xfrm flipH="false" flipV="false" rot="0">
              <a:off x="0" y="0"/>
              <a:ext cx="1700103" cy="251460"/>
            </a:xfrm>
            <a:custGeom>
              <a:avLst/>
              <a:gdLst/>
              <a:ahLst/>
              <a:cxnLst/>
              <a:rect r="r" b="b" t="t" l="l"/>
              <a:pathLst>
                <a:path h="251460" w="1700103">
                  <a:moveTo>
                    <a:pt x="119935" y="0"/>
                  </a:moveTo>
                  <a:lnTo>
                    <a:pt x="1580168" y="0"/>
                  </a:lnTo>
                  <a:cubicBezTo>
                    <a:pt x="1646406" y="0"/>
                    <a:pt x="1700103" y="53697"/>
                    <a:pt x="1700103" y="119935"/>
                  </a:cubicBezTo>
                  <a:lnTo>
                    <a:pt x="1700103" y="131525"/>
                  </a:lnTo>
                  <a:cubicBezTo>
                    <a:pt x="1700103" y="197763"/>
                    <a:pt x="1646406" y="251460"/>
                    <a:pt x="1580168" y="251460"/>
                  </a:cubicBezTo>
                  <a:lnTo>
                    <a:pt x="119935" y="251460"/>
                  </a:lnTo>
                  <a:cubicBezTo>
                    <a:pt x="53697" y="251460"/>
                    <a:pt x="0" y="197763"/>
                    <a:pt x="0" y="131525"/>
                  </a:cubicBezTo>
                  <a:lnTo>
                    <a:pt x="0" y="119935"/>
                  </a:lnTo>
                  <a:cubicBezTo>
                    <a:pt x="0" y="53697"/>
                    <a:pt x="53697" y="0"/>
                    <a:pt x="119935" y="0"/>
                  </a:cubicBezTo>
                  <a:close/>
                </a:path>
              </a:pathLst>
            </a:custGeom>
            <a:solidFill>
              <a:srgbClr val="FFFFFF"/>
            </a:solidFill>
          </p:spPr>
        </p:sp>
        <p:sp>
          <p:nvSpPr>
            <p:cNvPr name="TextBox 27" id="27"/>
            <p:cNvSpPr txBox="true"/>
            <p:nvPr/>
          </p:nvSpPr>
          <p:spPr>
            <a:xfrm>
              <a:off x="0" y="-38100"/>
              <a:ext cx="1700103" cy="28956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1008001" y="1312524"/>
            <a:ext cx="2067536" cy="350901"/>
          </a:xfrm>
          <a:prstGeom prst="rect">
            <a:avLst/>
          </a:prstGeom>
        </p:spPr>
        <p:txBody>
          <a:bodyPr anchor="t" rtlCol="false" tIns="0" lIns="0" bIns="0" rIns="0">
            <a:spAutoFit/>
          </a:bodyPr>
          <a:lstStyle/>
          <a:p>
            <a:pPr algn="ctr">
              <a:lnSpc>
                <a:spcPts val="2592"/>
              </a:lnSpc>
            </a:pPr>
            <a:r>
              <a:rPr lang="en-US" sz="2400" b="true">
                <a:solidFill>
                  <a:srgbClr val="0D0E10"/>
                </a:solidFill>
                <a:latin typeface="Poppins Semi-Bold"/>
                <a:ea typeface="Poppins Semi-Bold"/>
                <a:cs typeface="Poppins Semi-Bold"/>
                <a:sym typeface="Poppins Semi-Bold"/>
              </a:rPr>
              <a:t>Teknologi</a:t>
            </a:r>
          </a:p>
        </p:txBody>
      </p:sp>
      <p:sp>
        <p:nvSpPr>
          <p:cNvPr name="TextBox 29" id="29"/>
          <p:cNvSpPr txBox="true"/>
          <p:nvPr/>
        </p:nvSpPr>
        <p:spPr>
          <a:xfrm rot="0">
            <a:off x="15285324" y="1312524"/>
            <a:ext cx="1472855"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Kontak</a:t>
            </a:r>
          </a:p>
        </p:txBody>
      </p:sp>
      <p:sp>
        <p:nvSpPr>
          <p:cNvPr name="Freeform 30" id="30"/>
          <p:cNvSpPr/>
          <p:nvPr/>
        </p:nvSpPr>
        <p:spPr>
          <a:xfrm flipH="false" flipV="false" rot="0">
            <a:off x="10805551" y="1005831"/>
            <a:ext cx="549045" cy="549045"/>
          </a:xfrm>
          <a:custGeom>
            <a:avLst/>
            <a:gdLst/>
            <a:ahLst/>
            <a:cxnLst/>
            <a:rect r="r" b="b" t="t" l="l"/>
            <a:pathLst>
              <a:path h="549045" w="549045">
                <a:moveTo>
                  <a:pt x="0" y="0"/>
                </a:moveTo>
                <a:lnTo>
                  <a:pt x="549045" y="0"/>
                </a:lnTo>
                <a:lnTo>
                  <a:pt x="549045" y="549045"/>
                </a:lnTo>
                <a:lnTo>
                  <a:pt x="0" y="5490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1" id="31"/>
          <p:cNvSpPr/>
          <p:nvPr/>
        </p:nvSpPr>
        <p:spPr>
          <a:xfrm flipH="true" flipV="true" rot="0">
            <a:off x="16710255" y="1411549"/>
            <a:ext cx="549045" cy="549045"/>
          </a:xfrm>
          <a:custGeom>
            <a:avLst/>
            <a:gdLst/>
            <a:ahLst/>
            <a:cxnLst/>
            <a:rect r="r" b="b" t="t" l="l"/>
            <a:pathLst>
              <a:path h="549045" w="549045">
                <a:moveTo>
                  <a:pt x="549045" y="549044"/>
                </a:moveTo>
                <a:lnTo>
                  <a:pt x="0" y="549044"/>
                </a:lnTo>
                <a:lnTo>
                  <a:pt x="0" y="0"/>
                </a:lnTo>
                <a:lnTo>
                  <a:pt x="549045" y="0"/>
                </a:lnTo>
                <a:lnTo>
                  <a:pt x="549045" y="549044"/>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2" id="32"/>
          <p:cNvSpPr txBox="true"/>
          <p:nvPr/>
        </p:nvSpPr>
        <p:spPr>
          <a:xfrm rot="0">
            <a:off x="13217157" y="1312524"/>
            <a:ext cx="1687167" cy="350901"/>
          </a:xfrm>
          <a:prstGeom prst="rect">
            <a:avLst/>
          </a:prstGeom>
        </p:spPr>
        <p:txBody>
          <a:bodyPr anchor="t" rtlCol="false" tIns="0" lIns="0" bIns="0" rIns="0">
            <a:spAutoFit/>
          </a:bodyPr>
          <a:lstStyle/>
          <a:p>
            <a:pPr algn="ctr">
              <a:lnSpc>
                <a:spcPts val="2592"/>
              </a:lnSpc>
            </a:pPr>
            <a:r>
              <a:rPr lang="en-US" sz="2400">
                <a:solidFill>
                  <a:srgbClr val="0D0E10"/>
                </a:solidFill>
                <a:latin typeface="Poppins"/>
                <a:ea typeface="Poppins"/>
                <a:cs typeface="Poppins"/>
                <a:sym typeface="Poppins"/>
              </a:rPr>
              <a:t>Infomasi</a:t>
            </a:r>
          </a:p>
        </p:txBody>
      </p:sp>
      <p:sp>
        <p:nvSpPr>
          <p:cNvPr name="TextBox 33" id="33"/>
          <p:cNvSpPr txBox="true"/>
          <p:nvPr/>
        </p:nvSpPr>
        <p:spPr>
          <a:xfrm rot="0">
            <a:off x="2196589" y="1217551"/>
            <a:ext cx="2571982" cy="645795"/>
          </a:xfrm>
          <a:prstGeom prst="rect">
            <a:avLst/>
          </a:prstGeom>
        </p:spPr>
        <p:txBody>
          <a:bodyPr anchor="t" rtlCol="false" tIns="0" lIns="0" bIns="0" rIns="0">
            <a:spAutoFit/>
          </a:bodyPr>
          <a:lstStyle/>
          <a:p>
            <a:pPr algn="l">
              <a:lnSpc>
                <a:spcPts val="2520"/>
              </a:lnSpc>
            </a:pPr>
            <a:r>
              <a:rPr lang="en-US" sz="2400" b="true">
                <a:solidFill>
                  <a:srgbClr val="FFFFFF"/>
                </a:solidFill>
                <a:latin typeface="Teko Bold"/>
                <a:ea typeface="Teko Bold"/>
                <a:cs typeface="Teko Bold"/>
                <a:sym typeface="Teko Bold"/>
              </a:rPr>
              <a:t>MACHINE</a:t>
            </a:r>
          </a:p>
          <a:p>
            <a:pPr algn="l">
              <a:lnSpc>
                <a:spcPts val="2520"/>
              </a:lnSpc>
            </a:pPr>
            <a:r>
              <a:rPr lang="en-US" sz="2400" b="true">
                <a:solidFill>
                  <a:srgbClr val="FFFFFF"/>
                </a:solidFill>
                <a:latin typeface="Teko Bold"/>
                <a:ea typeface="Teko Bold"/>
                <a:cs typeface="Teko Bold"/>
                <a:sym typeface="Teko Bold"/>
              </a:rPr>
              <a:t>LEARNING</a:t>
            </a:r>
          </a:p>
        </p:txBody>
      </p:sp>
      <p:grpSp>
        <p:nvGrpSpPr>
          <p:cNvPr name="Group 34" id="34"/>
          <p:cNvGrpSpPr/>
          <p:nvPr/>
        </p:nvGrpSpPr>
        <p:grpSpPr>
          <a:xfrm rot="0">
            <a:off x="1028700" y="1024409"/>
            <a:ext cx="917606" cy="91760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37" id="37"/>
          <p:cNvSpPr/>
          <p:nvPr/>
        </p:nvSpPr>
        <p:spPr>
          <a:xfrm flipH="false" flipV="false" rot="0">
            <a:off x="1159816" y="1188976"/>
            <a:ext cx="655375" cy="588472"/>
          </a:xfrm>
          <a:custGeom>
            <a:avLst/>
            <a:gdLst/>
            <a:ahLst/>
            <a:cxnLst/>
            <a:rect r="r" b="b" t="t" l="l"/>
            <a:pathLst>
              <a:path h="588472" w="655375">
                <a:moveTo>
                  <a:pt x="0" y="0"/>
                </a:moveTo>
                <a:lnTo>
                  <a:pt x="655375" y="0"/>
                </a:lnTo>
                <a:lnTo>
                  <a:pt x="655375" y="588472"/>
                </a:lnTo>
                <a:lnTo>
                  <a:pt x="0" y="5884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DAHF92gdVx4</dc:identifier>
  <dcterms:modified xsi:type="dcterms:W3CDTF">2011-08-01T06:04:30Z</dcterms:modified>
  <cp:revision>1</cp:revision>
  <dc:title>Presentasi Teknologi Terkini Futuristik Ungu Putih</dc:title>
</cp:coreProperties>
</file>