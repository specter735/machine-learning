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Open Sans" charset="1" panose="020B0606030504020204"/>
      <p:regular r:id="rId15"/>
    </p:embeddedFont>
    <p:embeddedFont>
      <p:font typeface="Mokoto" charset="1" panose="00000000000000000000"/>
      <p:regular r:id="rId16"/>
    </p:embeddedFont>
    <p:embeddedFont>
      <p:font typeface="Open Sans Bold" charset="1" panose="020B080603050402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jpeg" Type="http://schemas.openxmlformats.org/officeDocument/2006/relationships/image"/><Relationship Id="rId12" Target="../media/image15.jpeg" Type="http://schemas.openxmlformats.org/officeDocument/2006/relationships/image"/><Relationship Id="rId13" Target="../media/image16.jpeg" Type="http://schemas.openxmlformats.org/officeDocument/2006/relationships/image"/><Relationship Id="rId14" Target="../media/image2.png" Type="http://schemas.openxmlformats.org/officeDocument/2006/relationships/image"/><Relationship Id="rId15" Target="../media/image3.sv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7.jpeg" Type="http://schemas.openxmlformats.org/officeDocument/2006/relationships/image"/><Relationship Id="rId5" Target="../media/image8.jpe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jpeg" Type="http://schemas.openxmlformats.org/officeDocument/2006/relationships/image"/><Relationship Id="rId11" Target="../media/image24.jpeg" Type="http://schemas.openxmlformats.org/officeDocument/2006/relationships/image"/><Relationship Id="rId12" Target="../media/image25.jpeg" Type="http://schemas.openxmlformats.org/officeDocument/2006/relationships/image"/><Relationship Id="rId13" Target="../media/image26.jpeg" Type="http://schemas.openxmlformats.org/officeDocument/2006/relationships/image"/><Relationship Id="rId14" Target="../media/image2.png" Type="http://schemas.openxmlformats.org/officeDocument/2006/relationships/image"/><Relationship Id="rId15" Target="../media/image3.sv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17.jpeg" Type="http://schemas.openxmlformats.org/officeDocument/2006/relationships/image"/><Relationship Id="rId5" Target="../media/image18.jpeg" Type="http://schemas.openxmlformats.org/officeDocument/2006/relationships/image"/><Relationship Id="rId6" Target="../media/image19.jpeg" Type="http://schemas.openxmlformats.org/officeDocument/2006/relationships/image"/><Relationship Id="rId7" Target="../media/image20.jpeg" Type="http://schemas.openxmlformats.org/officeDocument/2006/relationships/image"/><Relationship Id="rId8" Target="../media/image21.jpeg" Type="http://schemas.openxmlformats.org/officeDocument/2006/relationships/image"/><Relationship Id="rId9" Target="../media/image2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2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8.png" Type="http://schemas.openxmlformats.org/officeDocument/2006/relationships/image"/><Relationship Id="rId7" Target="../media/image2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30.jpeg" Type="http://schemas.openxmlformats.org/officeDocument/2006/relationships/image"/><Relationship Id="rId5" Target="../media/image31.jpe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32.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3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925" t="0" r="-4856" b="0"/>
            </a:stretch>
          </a:blipFill>
        </p:spPr>
      </p:sp>
      <p:sp>
        <p:nvSpPr>
          <p:cNvPr name="Freeform 3" id="3"/>
          <p:cNvSpPr/>
          <p:nvPr/>
        </p:nvSpPr>
        <p:spPr>
          <a:xfrm flipH="false" flipV="false" rot="0">
            <a:off x="9144000" y="2985504"/>
            <a:ext cx="804088" cy="723679"/>
          </a:xfrm>
          <a:custGeom>
            <a:avLst/>
            <a:gdLst/>
            <a:ahLst/>
            <a:cxnLst/>
            <a:rect r="r" b="b" t="t" l="l"/>
            <a:pathLst>
              <a:path h="723679" w="804088">
                <a:moveTo>
                  <a:pt x="0" y="0"/>
                </a:moveTo>
                <a:lnTo>
                  <a:pt x="804088" y="0"/>
                </a:lnTo>
                <a:lnTo>
                  <a:pt x="804088" y="723679"/>
                </a:lnTo>
                <a:lnTo>
                  <a:pt x="0" y="7236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9115425" y="7940971"/>
            <a:ext cx="1795533" cy="56073"/>
            <a:chOff x="0" y="0"/>
            <a:chExt cx="472898" cy="14768"/>
          </a:xfrm>
        </p:grpSpPr>
        <p:sp>
          <p:nvSpPr>
            <p:cNvPr name="Freeform 5" id="5"/>
            <p:cNvSpPr/>
            <p:nvPr/>
          </p:nvSpPr>
          <p:spPr>
            <a:xfrm flipH="false" flipV="false" rot="0">
              <a:off x="0" y="0"/>
              <a:ext cx="472898" cy="14768"/>
            </a:xfrm>
            <a:custGeom>
              <a:avLst/>
              <a:gdLst/>
              <a:ahLst/>
              <a:cxnLst/>
              <a:rect r="r" b="b" t="t" l="l"/>
              <a:pathLst>
                <a:path h="14768" w="472898">
                  <a:moveTo>
                    <a:pt x="7384" y="0"/>
                  </a:moveTo>
                  <a:lnTo>
                    <a:pt x="465513" y="0"/>
                  </a:lnTo>
                  <a:cubicBezTo>
                    <a:pt x="467472" y="0"/>
                    <a:pt x="469350" y="778"/>
                    <a:pt x="470735" y="2163"/>
                  </a:cubicBezTo>
                  <a:cubicBezTo>
                    <a:pt x="472120" y="3548"/>
                    <a:pt x="472898" y="5426"/>
                    <a:pt x="472898" y="7384"/>
                  </a:cubicBezTo>
                  <a:lnTo>
                    <a:pt x="472898" y="7384"/>
                  </a:lnTo>
                  <a:cubicBezTo>
                    <a:pt x="472898" y="9343"/>
                    <a:pt x="472120" y="11221"/>
                    <a:pt x="470735" y="12606"/>
                  </a:cubicBezTo>
                  <a:cubicBezTo>
                    <a:pt x="469350" y="13990"/>
                    <a:pt x="467472" y="14768"/>
                    <a:pt x="465513" y="14768"/>
                  </a:cubicBezTo>
                  <a:lnTo>
                    <a:pt x="7384" y="14768"/>
                  </a:lnTo>
                  <a:cubicBezTo>
                    <a:pt x="5426" y="14768"/>
                    <a:pt x="3548" y="13990"/>
                    <a:pt x="2163" y="12606"/>
                  </a:cubicBezTo>
                  <a:cubicBezTo>
                    <a:pt x="778" y="11221"/>
                    <a:pt x="0" y="9343"/>
                    <a:pt x="0" y="7384"/>
                  </a:cubicBezTo>
                  <a:lnTo>
                    <a:pt x="0" y="7384"/>
                  </a:lnTo>
                  <a:cubicBezTo>
                    <a:pt x="0" y="5426"/>
                    <a:pt x="778" y="3548"/>
                    <a:pt x="2163" y="2163"/>
                  </a:cubicBezTo>
                  <a:cubicBezTo>
                    <a:pt x="3548" y="778"/>
                    <a:pt x="5426" y="0"/>
                    <a:pt x="7384" y="0"/>
                  </a:cubicBezTo>
                  <a:close/>
                </a:path>
              </a:pathLst>
            </a:custGeom>
            <a:solidFill>
              <a:srgbClr val="3BEDFF"/>
            </a:solidFill>
          </p:spPr>
        </p:sp>
        <p:sp>
          <p:nvSpPr>
            <p:cNvPr name="TextBox 6" id="6"/>
            <p:cNvSpPr txBox="true"/>
            <p:nvPr/>
          </p:nvSpPr>
          <p:spPr>
            <a:xfrm>
              <a:off x="0" y="-47625"/>
              <a:ext cx="472898" cy="62393"/>
            </a:xfrm>
            <a:prstGeom prst="rect">
              <a:avLst/>
            </a:prstGeom>
          </p:spPr>
          <p:txBody>
            <a:bodyPr anchor="ctr" rtlCol="false" tIns="50800" lIns="50800" bIns="50800" rIns="50800"/>
            <a:lstStyle/>
            <a:p>
              <a:pPr algn="ctr">
                <a:lnSpc>
                  <a:spcPts val="3673"/>
                </a:lnSpc>
              </a:pPr>
            </a:p>
          </p:txBody>
        </p:sp>
      </p:grpSp>
      <p:sp>
        <p:nvSpPr>
          <p:cNvPr name="TextBox 7" id="7"/>
          <p:cNvSpPr txBox="true"/>
          <p:nvPr/>
        </p:nvSpPr>
        <p:spPr>
          <a:xfrm rot="0">
            <a:off x="10268550" y="3124944"/>
            <a:ext cx="3213099" cy="439152"/>
          </a:xfrm>
          <a:prstGeom prst="rect">
            <a:avLst/>
          </a:prstGeom>
        </p:spPr>
        <p:txBody>
          <a:bodyPr anchor="t" rtlCol="false" tIns="0" lIns="0" bIns="0" rIns="0">
            <a:spAutoFit/>
          </a:bodyPr>
          <a:lstStyle/>
          <a:p>
            <a:pPr algn="l">
              <a:lnSpc>
                <a:spcPts val="3673"/>
              </a:lnSpc>
              <a:spcBef>
                <a:spcPct val="0"/>
              </a:spcBef>
            </a:pPr>
            <a:r>
              <a:rPr lang="en-US" sz="2623">
                <a:solidFill>
                  <a:srgbClr val="FFFFFF"/>
                </a:solidFill>
                <a:latin typeface="Open Sans"/>
                <a:ea typeface="Open Sans"/>
                <a:cs typeface="Open Sans"/>
                <a:sym typeface="Open Sans"/>
              </a:rPr>
              <a:t>MACHINE LEARNING</a:t>
            </a:r>
          </a:p>
        </p:txBody>
      </p:sp>
      <p:sp>
        <p:nvSpPr>
          <p:cNvPr name="TextBox 8" id="8"/>
          <p:cNvSpPr txBox="true"/>
          <p:nvPr/>
        </p:nvSpPr>
        <p:spPr>
          <a:xfrm rot="0">
            <a:off x="9105900" y="3854049"/>
            <a:ext cx="9913574" cy="3403662"/>
          </a:xfrm>
          <a:prstGeom prst="rect">
            <a:avLst/>
          </a:prstGeom>
        </p:spPr>
        <p:txBody>
          <a:bodyPr anchor="t" rtlCol="false" tIns="0" lIns="0" bIns="0" rIns="0">
            <a:spAutoFit/>
          </a:bodyPr>
          <a:lstStyle/>
          <a:p>
            <a:pPr algn="l">
              <a:lnSpc>
                <a:spcPts val="9067"/>
              </a:lnSpc>
              <a:spcBef>
                <a:spcPct val="0"/>
              </a:spcBef>
            </a:pPr>
            <a:r>
              <a:rPr lang="en-US" sz="6476">
                <a:solidFill>
                  <a:srgbClr val="3BEDFF"/>
                </a:solidFill>
                <a:latin typeface="Mokoto"/>
                <a:ea typeface="Mokoto"/>
                <a:cs typeface="Mokoto"/>
                <a:sym typeface="Mokoto"/>
              </a:rPr>
              <a:t>PREPORCESSING DATASET GYM EQUIPMENT</a:t>
            </a:r>
          </a:p>
        </p:txBody>
      </p:sp>
      <p:sp>
        <p:nvSpPr>
          <p:cNvPr name="TextBox 9" id="9"/>
          <p:cNvSpPr txBox="true"/>
          <p:nvPr/>
        </p:nvSpPr>
        <p:spPr>
          <a:xfrm rot="0">
            <a:off x="9144000" y="7229136"/>
            <a:ext cx="6050860" cy="540385"/>
          </a:xfrm>
          <a:prstGeom prst="rect">
            <a:avLst/>
          </a:prstGeom>
        </p:spPr>
        <p:txBody>
          <a:bodyPr anchor="t" rtlCol="false" tIns="0" lIns="0" bIns="0" rIns="0">
            <a:spAutoFit/>
          </a:bodyPr>
          <a:lstStyle/>
          <a:p>
            <a:pPr algn="l">
              <a:lnSpc>
                <a:spcPts val="2239"/>
              </a:lnSpc>
            </a:pPr>
            <a:r>
              <a:rPr lang="en-US" sz="1599">
                <a:solidFill>
                  <a:srgbClr val="FFFFFF"/>
                </a:solidFill>
                <a:latin typeface="Open Sans"/>
                <a:ea typeface="Open Sans"/>
                <a:cs typeface="Open Sans"/>
                <a:sym typeface="Open Sans"/>
              </a:rPr>
              <a:t>ABDURRAHMAN GILANG HARJUNA</a:t>
            </a:r>
          </a:p>
          <a:p>
            <a:pPr algn="l">
              <a:lnSpc>
                <a:spcPts val="2239"/>
              </a:lnSpc>
              <a:spcBef>
                <a:spcPct val="0"/>
              </a:spcBef>
            </a:pPr>
            <a:r>
              <a:rPr lang="en-US" sz="1599">
                <a:solidFill>
                  <a:srgbClr val="FFFFFF"/>
                </a:solidFill>
                <a:latin typeface="Open Sans"/>
                <a:ea typeface="Open Sans"/>
                <a:cs typeface="Open Sans"/>
                <a:sym typeface="Open Sans"/>
              </a:rPr>
              <a:t>2310817110004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2A4C">
                <a:alpha val="100000"/>
              </a:srgbClr>
            </a:gs>
            <a:gs pos="100000">
              <a:srgbClr val="0A182E">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437121" y="-1563196"/>
            <a:ext cx="4335517" cy="4114800"/>
          </a:xfrm>
          <a:custGeom>
            <a:avLst/>
            <a:gdLst/>
            <a:ahLst/>
            <a:cxnLst/>
            <a:rect r="r" b="b" t="t" l="l"/>
            <a:pathLst>
              <a:path h="4114800" w="4335517">
                <a:moveTo>
                  <a:pt x="0" y="0"/>
                </a:moveTo>
                <a:lnTo>
                  <a:pt x="4335517" y="0"/>
                </a:lnTo>
                <a:lnTo>
                  <a:pt x="4335517" y="4114800"/>
                </a:lnTo>
                <a:lnTo>
                  <a:pt x="0" y="4114800"/>
                </a:lnTo>
                <a:lnTo>
                  <a:pt x="0" y="0"/>
                </a:lnTo>
                <a:close/>
              </a:path>
            </a:pathLst>
          </a:custGeom>
          <a:blipFill>
            <a:blip r:embed="rId2">
              <a:alphaModFix amt="77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84638" y="7735396"/>
            <a:ext cx="4335517" cy="4114800"/>
          </a:xfrm>
          <a:custGeom>
            <a:avLst/>
            <a:gdLst/>
            <a:ahLst/>
            <a:cxnLst/>
            <a:rect r="r" b="b" t="t" l="l"/>
            <a:pathLst>
              <a:path h="4114800" w="4335517">
                <a:moveTo>
                  <a:pt x="4335517" y="4114800"/>
                </a:moveTo>
                <a:lnTo>
                  <a:pt x="0" y="4114800"/>
                </a:lnTo>
                <a:lnTo>
                  <a:pt x="0" y="0"/>
                </a:lnTo>
                <a:lnTo>
                  <a:pt x="4335517" y="0"/>
                </a:lnTo>
                <a:lnTo>
                  <a:pt x="4335517" y="4114800"/>
                </a:lnTo>
                <a:close/>
              </a:path>
            </a:pathLst>
          </a:custGeom>
          <a:blipFill>
            <a:blip r:embed="rId2">
              <a:alphaModFix amt="78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936549" y="8182847"/>
            <a:ext cx="1075453" cy="107545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93584" y="0"/>
                  </a:moveTo>
                  <a:lnTo>
                    <a:pt x="719216" y="0"/>
                  </a:lnTo>
                  <a:cubicBezTo>
                    <a:pt x="770901" y="0"/>
                    <a:pt x="812800" y="41899"/>
                    <a:pt x="812800" y="93584"/>
                  </a:cubicBezTo>
                  <a:lnTo>
                    <a:pt x="812800" y="719216"/>
                  </a:lnTo>
                  <a:cubicBezTo>
                    <a:pt x="812800" y="770901"/>
                    <a:pt x="770901" y="812800"/>
                    <a:pt x="719216" y="812800"/>
                  </a:cubicBezTo>
                  <a:lnTo>
                    <a:pt x="93584" y="812800"/>
                  </a:lnTo>
                  <a:cubicBezTo>
                    <a:pt x="41899" y="812800"/>
                    <a:pt x="0" y="770901"/>
                    <a:pt x="0" y="719216"/>
                  </a:cubicBezTo>
                  <a:lnTo>
                    <a:pt x="0" y="93584"/>
                  </a:lnTo>
                  <a:cubicBezTo>
                    <a:pt x="0" y="41899"/>
                    <a:pt x="41899" y="0"/>
                    <a:pt x="93584" y="0"/>
                  </a:cubicBezTo>
                  <a:close/>
                </a:path>
              </a:pathLst>
            </a:custGeom>
            <a:solidFill>
              <a:srgbClr val="3BEDFF"/>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3673"/>
                </a:lnSpc>
              </a:pPr>
            </a:p>
          </p:txBody>
        </p:sp>
      </p:grpSp>
      <p:grpSp>
        <p:nvGrpSpPr>
          <p:cNvPr name="Group 7" id="7"/>
          <p:cNvGrpSpPr>
            <a:grpSpLocks noChangeAspect="true"/>
          </p:cNvGrpSpPr>
          <p:nvPr/>
        </p:nvGrpSpPr>
        <p:grpSpPr>
          <a:xfrm rot="0">
            <a:off x="9105900" y="1574352"/>
            <a:ext cx="7667342" cy="7138296"/>
            <a:chOff x="0" y="0"/>
            <a:chExt cx="6350000" cy="5911850"/>
          </a:xfrm>
        </p:grpSpPr>
        <p:sp>
          <p:nvSpPr>
            <p:cNvPr name="Freeform 8" id="8"/>
            <p:cNvSpPr/>
            <p:nvPr/>
          </p:nvSpPr>
          <p:spPr>
            <a:xfrm flipH="false" flipV="false" rot="0">
              <a:off x="302" y="0"/>
              <a:ext cx="6348428" cy="5911850"/>
            </a:xfrm>
            <a:custGeom>
              <a:avLst/>
              <a:gdLst/>
              <a:ahLst/>
              <a:cxnLst/>
              <a:rect r="r" b="b" t="t" l="l"/>
              <a:pathLst>
                <a:path h="5911850" w="6348428">
                  <a:moveTo>
                    <a:pt x="1146508" y="402590"/>
                  </a:moveTo>
                  <a:lnTo>
                    <a:pt x="108918" y="2192020"/>
                  </a:lnTo>
                  <a:cubicBezTo>
                    <a:pt x="-68882" y="2498090"/>
                    <a:pt x="-25702" y="2884170"/>
                    <a:pt x="214328" y="3144520"/>
                  </a:cubicBezTo>
                  <a:lnTo>
                    <a:pt x="2525728" y="5651500"/>
                  </a:lnTo>
                  <a:cubicBezTo>
                    <a:pt x="2678128" y="5817870"/>
                    <a:pt x="2894028" y="5911850"/>
                    <a:pt x="3118818" y="5911850"/>
                  </a:cubicBezTo>
                  <a:lnTo>
                    <a:pt x="5540708" y="5911850"/>
                  </a:lnTo>
                  <a:cubicBezTo>
                    <a:pt x="5986478" y="5911850"/>
                    <a:pt x="6348428" y="5549900"/>
                    <a:pt x="6348428" y="5104130"/>
                  </a:cubicBezTo>
                  <a:lnTo>
                    <a:pt x="6348428" y="1891030"/>
                  </a:lnTo>
                  <a:cubicBezTo>
                    <a:pt x="6348428" y="1724660"/>
                    <a:pt x="6297628" y="1562100"/>
                    <a:pt x="6201108" y="1426210"/>
                  </a:cubicBezTo>
                  <a:lnTo>
                    <a:pt x="5439108" y="342900"/>
                  </a:lnTo>
                  <a:cubicBezTo>
                    <a:pt x="5287978" y="128270"/>
                    <a:pt x="5041598" y="0"/>
                    <a:pt x="4778708" y="0"/>
                  </a:cubicBezTo>
                  <a:lnTo>
                    <a:pt x="1845008" y="0"/>
                  </a:lnTo>
                  <a:cubicBezTo>
                    <a:pt x="1556718" y="0"/>
                    <a:pt x="1290018" y="153670"/>
                    <a:pt x="1146508" y="402590"/>
                  </a:cubicBezTo>
                  <a:close/>
                </a:path>
              </a:pathLst>
            </a:custGeom>
            <a:blipFill>
              <a:blip r:embed="rId4"/>
              <a:stretch>
                <a:fillRect l="-19755" t="0" r="-19755" b="0"/>
              </a:stretch>
            </a:blipFill>
          </p:spPr>
        </p:sp>
      </p:grpSp>
      <p:sp>
        <p:nvSpPr>
          <p:cNvPr name="TextBox 9" id="9"/>
          <p:cNvSpPr txBox="true"/>
          <p:nvPr/>
        </p:nvSpPr>
        <p:spPr>
          <a:xfrm rot="0">
            <a:off x="2025329" y="2496287"/>
            <a:ext cx="5983059" cy="698499"/>
          </a:xfrm>
          <a:prstGeom prst="rect">
            <a:avLst/>
          </a:prstGeom>
        </p:spPr>
        <p:txBody>
          <a:bodyPr anchor="t" rtlCol="false" tIns="0" lIns="0" bIns="0" rIns="0">
            <a:spAutoFit/>
          </a:bodyPr>
          <a:lstStyle/>
          <a:p>
            <a:pPr algn="l">
              <a:lnSpc>
                <a:spcPts val="5600"/>
              </a:lnSpc>
              <a:spcBef>
                <a:spcPct val="0"/>
              </a:spcBef>
            </a:pPr>
            <a:r>
              <a:rPr lang="en-US" sz="4000">
                <a:solidFill>
                  <a:srgbClr val="3BEDFF"/>
                </a:solidFill>
                <a:latin typeface="Mokoto"/>
                <a:ea typeface="Mokoto"/>
                <a:cs typeface="Mokoto"/>
                <a:sym typeface="Mokoto"/>
              </a:rPr>
              <a:t>DATASET</a:t>
            </a:r>
          </a:p>
        </p:txBody>
      </p:sp>
      <p:sp>
        <p:nvSpPr>
          <p:cNvPr name="TextBox 10" id="10"/>
          <p:cNvSpPr txBox="true"/>
          <p:nvPr/>
        </p:nvSpPr>
        <p:spPr>
          <a:xfrm rot="0">
            <a:off x="2025329" y="3601720"/>
            <a:ext cx="6919222" cy="2509032"/>
          </a:xfrm>
          <a:prstGeom prst="rect">
            <a:avLst/>
          </a:prstGeom>
        </p:spPr>
        <p:txBody>
          <a:bodyPr anchor="t" rtlCol="false" tIns="0" lIns="0" bIns="0" rIns="0">
            <a:spAutoFit/>
          </a:bodyPr>
          <a:lstStyle/>
          <a:p>
            <a:pPr algn="l">
              <a:lnSpc>
                <a:spcPts val="2561"/>
              </a:lnSpc>
              <a:spcBef>
                <a:spcPct val="0"/>
              </a:spcBef>
            </a:pPr>
            <a:r>
              <a:rPr lang="en-US" sz="1829">
                <a:solidFill>
                  <a:srgbClr val="FFFFFF"/>
                </a:solidFill>
                <a:latin typeface="Open Sans"/>
                <a:ea typeface="Open Sans"/>
                <a:cs typeface="Open Sans"/>
                <a:sym typeface="Open Sans"/>
              </a:rPr>
              <a:t>Dataset yang digunakan berupa alat-alat gym yang berjumlah 100 lebih dan terbagi sebanyak 30 foto per classnya (balance. Dataset Equipment Gym ini dipilih untuk bisa mngenali alat yang berada gym, yang mana banyak sekali macam alat tapi kita tidak tau apa barang tersebut dan gunanya untuk apa? jadi Machine Learning ini lah yang akan mengenali pola-pola alat tersebut agar user bisa mengenali alat tersebut tanpa secara manual tapi hanya dengan klasifikasi.</a:t>
            </a:r>
          </a:p>
        </p:txBody>
      </p:sp>
      <p:sp>
        <p:nvSpPr>
          <p:cNvPr name="TextBox 11" id="11"/>
          <p:cNvSpPr txBox="true"/>
          <p:nvPr/>
        </p:nvSpPr>
        <p:spPr>
          <a:xfrm rot="0">
            <a:off x="2025329" y="3156686"/>
            <a:ext cx="3447700" cy="339725"/>
          </a:xfrm>
          <a:prstGeom prst="rect">
            <a:avLst/>
          </a:prstGeom>
        </p:spPr>
        <p:txBody>
          <a:bodyPr anchor="t" rtlCol="false" tIns="0" lIns="0" bIns="0" rIns="0">
            <a:spAutoFit/>
          </a:bodyPr>
          <a:lstStyle/>
          <a:p>
            <a:pPr algn="l">
              <a:lnSpc>
                <a:spcPts val="2799"/>
              </a:lnSpc>
              <a:spcBef>
                <a:spcPct val="0"/>
              </a:spcBef>
            </a:pPr>
            <a:r>
              <a:rPr lang="en-US" sz="1999" b="true">
                <a:solidFill>
                  <a:srgbClr val="3BEDFF"/>
                </a:solidFill>
                <a:latin typeface="Open Sans Bold"/>
                <a:ea typeface="Open Sans Bold"/>
                <a:cs typeface="Open Sans Bold"/>
                <a:sym typeface="Open Sans Bold"/>
              </a:rPr>
              <a:t>GYM EQUIPMENT</a:t>
            </a:r>
          </a:p>
        </p:txBody>
      </p:sp>
      <p:sp>
        <p:nvSpPr>
          <p:cNvPr name="Freeform 12" id="12"/>
          <p:cNvSpPr/>
          <p:nvPr/>
        </p:nvSpPr>
        <p:spPr>
          <a:xfrm flipH="false" flipV="false" rot="0">
            <a:off x="300632" y="494204"/>
            <a:ext cx="686276" cy="617648"/>
          </a:xfrm>
          <a:custGeom>
            <a:avLst/>
            <a:gdLst/>
            <a:ahLst/>
            <a:cxnLst/>
            <a:rect r="r" b="b" t="t" l="l"/>
            <a:pathLst>
              <a:path h="617648" w="686276">
                <a:moveTo>
                  <a:pt x="0" y="0"/>
                </a:moveTo>
                <a:lnTo>
                  <a:pt x="686276" y="0"/>
                </a:lnTo>
                <a:lnTo>
                  <a:pt x="686276" y="617648"/>
                </a:lnTo>
                <a:lnTo>
                  <a:pt x="0" y="6176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1028700" y="465629"/>
            <a:ext cx="1469550" cy="611505"/>
          </a:xfrm>
          <a:prstGeom prst="rect">
            <a:avLst/>
          </a:prstGeom>
        </p:spPr>
        <p:txBody>
          <a:bodyPr anchor="t" rtlCol="false" tIns="0" lIns="0" bIns="0" rIns="0">
            <a:spAutoFit/>
          </a:bodyPr>
          <a:lstStyle/>
          <a:p>
            <a:pPr algn="l">
              <a:lnSpc>
                <a:spcPts val="2519"/>
              </a:lnSpc>
              <a:spcBef>
                <a:spcPct val="0"/>
              </a:spcBef>
            </a:pPr>
            <a:r>
              <a:rPr lang="en-US" sz="1799">
                <a:solidFill>
                  <a:srgbClr val="FFFFFF"/>
                </a:solidFill>
                <a:latin typeface="Open Sans"/>
                <a:ea typeface="Open Sans"/>
                <a:cs typeface="Open Sans"/>
                <a:sym typeface="Open Sans"/>
              </a:rPr>
              <a:t>MACHINE LEARNING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2A4C">
                <a:alpha val="100000"/>
              </a:srgbClr>
            </a:gs>
            <a:gs pos="100000">
              <a:srgbClr val="0A182E">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437121" y="-1563196"/>
            <a:ext cx="4335517" cy="4114800"/>
          </a:xfrm>
          <a:custGeom>
            <a:avLst/>
            <a:gdLst/>
            <a:ahLst/>
            <a:cxnLst/>
            <a:rect r="r" b="b" t="t" l="l"/>
            <a:pathLst>
              <a:path h="4114800" w="4335517">
                <a:moveTo>
                  <a:pt x="0" y="0"/>
                </a:moveTo>
                <a:lnTo>
                  <a:pt x="4335517" y="0"/>
                </a:lnTo>
                <a:lnTo>
                  <a:pt x="4335517" y="4114800"/>
                </a:lnTo>
                <a:lnTo>
                  <a:pt x="0" y="4114800"/>
                </a:lnTo>
                <a:lnTo>
                  <a:pt x="0" y="0"/>
                </a:lnTo>
                <a:close/>
              </a:path>
            </a:pathLst>
          </a:custGeom>
          <a:blipFill>
            <a:blip r:embed="rId2">
              <a:alphaModFix amt="7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84638" y="7735396"/>
            <a:ext cx="4335517" cy="4114800"/>
          </a:xfrm>
          <a:custGeom>
            <a:avLst/>
            <a:gdLst/>
            <a:ahLst/>
            <a:cxnLst/>
            <a:rect r="r" b="b" t="t" l="l"/>
            <a:pathLst>
              <a:path h="4114800" w="4335517">
                <a:moveTo>
                  <a:pt x="4335517" y="4114800"/>
                </a:moveTo>
                <a:lnTo>
                  <a:pt x="0" y="4114800"/>
                </a:lnTo>
                <a:lnTo>
                  <a:pt x="0" y="0"/>
                </a:lnTo>
                <a:lnTo>
                  <a:pt x="4335517" y="0"/>
                </a:lnTo>
                <a:lnTo>
                  <a:pt x="4335517" y="4114800"/>
                </a:lnTo>
                <a:close/>
              </a:path>
            </a:pathLst>
          </a:custGeom>
          <a:blipFill>
            <a:blip r:embed="rId2">
              <a:alphaModFix amt="84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936549" y="8182847"/>
            <a:ext cx="1075453" cy="107545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93584" y="0"/>
                  </a:moveTo>
                  <a:lnTo>
                    <a:pt x="719216" y="0"/>
                  </a:lnTo>
                  <a:cubicBezTo>
                    <a:pt x="770901" y="0"/>
                    <a:pt x="812800" y="41899"/>
                    <a:pt x="812800" y="93584"/>
                  </a:cubicBezTo>
                  <a:lnTo>
                    <a:pt x="812800" y="719216"/>
                  </a:lnTo>
                  <a:cubicBezTo>
                    <a:pt x="812800" y="770901"/>
                    <a:pt x="770901" y="812800"/>
                    <a:pt x="719216" y="812800"/>
                  </a:cubicBezTo>
                  <a:lnTo>
                    <a:pt x="93584" y="812800"/>
                  </a:lnTo>
                  <a:cubicBezTo>
                    <a:pt x="41899" y="812800"/>
                    <a:pt x="0" y="770901"/>
                    <a:pt x="0" y="719216"/>
                  </a:cubicBezTo>
                  <a:lnTo>
                    <a:pt x="0" y="93584"/>
                  </a:lnTo>
                  <a:cubicBezTo>
                    <a:pt x="0" y="41899"/>
                    <a:pt x="41899" y="0"/>
                    <a:pt x="93584" y="0"/>
                  </a:cubicBezTo>
                  <a:close/>
                </a:path>
              </a:pathLst>
            </a:custGeom>
            <a:solidFill>
              <a:srgbClr val="3BEDFF"/>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3673"/>
                </a:lnSpc>
              </a:pPr>
            </a:p>
          </p:txBody>
        </p:sp>
      </p:grpSp>
      <p:sp>
        <p:nvSpPr>
          <p:cNvPr name="Freeform 7" id="7"/>
          <p:cNvSpPr/>
          <p:nvPr/>
        </p:nvSpPr>
        <p:spPr>
          <a:xfrm flipH="false" flipV="false" rot="0">
            <a:off x="951768" y="4356433"/>
            <a:ext cx="2336506" cy="2336506"/>
          </a:xfrm>
          <a:custGeom>
            <a:avLst/>
            <a:gdLst/>
            <a:ahLst/>
            <a:cxnLst/>
            <a:rect r="r" b="b" t="t" l="l"/>
            <a:pathLst>
              <a:path h="2336506" w="2336506">
                <a:moveTo>
                  <a:pt x="0" y="0"/>
                </a:moveTo>
                <a:lnTo>
                  <a:pt x="2336506" y="0"/>
                </a:lnTo>
                <a:lnTo>
                  <a:pt x="2336506" y="2336506"/>
                </a:lnTo>
                <a:lnTo>
                  <a:pt x="0" y="2336506"/>
                </a:lnTo>
                <a:lnTo>
                  <a:pt x="0" y="0"/>
                </a:lnTo>
                <a:close/>
              </a:path>
            </a:pathLst>
          </a:custGeom>
          <a:blipFill>
            <a:blip r:embed="rId4"/>
            <a:stretch>
              <a:fillRect l="0" t="0" r="0" b="0"/>
            </a:stretch>
          </a:blipFill>
        </p:spPr>
      </p:sp>
      <p:sp>
        <p:nvSpPr>
          <p:cNvPr name="Freeform 8" id="8"/>
          <p:cNvSpPr/>
          <p:nvPr/>
        </p:nvSpPr>
        <p:spPr>
          <a:xfrm flipH="false" flipV="false" rot="0">
            <a:off x="3764524" y="4356433"/>
            <a:ext cx="2336506" cy="2336506"/>
          </a:xfrm>
          <a:custGeom>
            <a:avLst/>
            <a:gdLst/>
            <a:ahLst/>
            <a:cxnLst/>
            <a:rect r="r" b="b" t="t" l="l"/>
            <a:pathLst>
              <a:path h="2336506" w="2336506">
                <a:moveTo>
                  <a:pt x="0" y="0"/>
                </a:moveTo>
                <a:lnTo>
                  <a:pt x="2336506" y="0"/>
                </a:lnTo>
                <a:lnTo>
                  <a:pt x="2336506" y="2336506"/>
                </a:lnTo>
                <a:lnTo>
                  <a:pt x="0" y="2336506"/>
                </a:lnTo>
                <a:lnTo>
                  <a:pt x="0" y="0"/>
                </a:lnTo>
                <a:close/>
              </a:path>
            </a:pathLst>
          </a:custGeom>
          <a:blipFill>
            <a:blip r:embed="rId5"/>
            <a:stretch>
              <a:fillRect l="0" t="0" r="0" b="0"/>
            </a:stretch>
          </a:blipFill>
        </p:spPr>
      </p:sp>
      <p:sp>
        <p:nvSpPr>
          <p:cNvPr name="Freeform 9" id="9"/>
          <p:cNvSpPr/>
          <p:nvPr/>
        </p:nvSpPr>
        <p:spPr>
          <a:xfrm flipH="false" flipV="false" rot="0">
            <a:off x="6643955" y="4356433"/>
            <a:ext cx="2336506" cy="2336506"/>
          </a:xfrm>
          <a:custGeom>
            <a:avLst/>
            <a:gdLst/>
            <a:ahLst/>
            <a:cxnLst/>
            <a:rect r="r" b="b" t="t" l="l"/>
            <a:pathLst>
              <a:path h="2336506" w="2336506">
                <a:moveTo>
                  <a:pt x="0" y="0"/>
                </a:moveTo>
                <a:lnTo>
                  <a:pt x="2336506" y="0"/>
                </a:lnTo>
                <a:lnTo>
                  <a:pt x="2336506" y="2336506"/>
                </a:lnTo>
                <a:lnTo>
                  <a:pt x="0" y="2336506"/>
                </a:lnTo>
                <a:lnTo>
                  <a:pt x="0" y="0"/>
                </a:lnTo>
                <a:close/>
              </a:path>
            </a:pathLst>
          </a:custGeom>
          <a:blipFill>
            <a:blip r:embed="rId6"/>
            <a:stretch>
              <a:fillRect l="0" t="0" r="0" b="0"/>
            </a:stretch>
          </a:blipFill>
        </p:spPr>
      </p:sp>
      <p:sp>
        <p:nvSpPr>
          <p:cNvPr name="Freeform 10" id="10"/>
          <p:cNvSpPr/>
          <p:nvPr/>
        </p:nvSpPr>
        <p:spPr>
          <a:xfrm flipH="false" flipV="false" rot="0">
            <a:off x="9863077" y="4356433"/>
            <a:ext cx="2336506" cy="2336506"/>
          </a:xfrm>
          <a:custGeom>
            <a:avLst/>
            <a:gdLst/>
            <a:ahLst/>
            <a:cxnLst/>
            <a:rect r="r" b="b" t="t" l="l"/>
            <a:pathLst>
              <a:path h="2336506" w="2336506">
                <a:moveTo>
                  <a:pt x="0" y="0"/>
                </a:moveTo>
                <a:lnTo>
                  <a:pt x="2336506" y="0"/>
                </a:lnTo>
                <a:lnTo>
                  <a:pt x="2336506" y="2336506"/>
                </a:lnTo>
                <a:lnTo>
                  <a:pt x="0" y="2336506"/>
                </a:lnTo>
                <a:lnTo>
                  <a:pt x="0" y="0"/>
                </a:lnTo>
                <a:close/>
              </a:path>
            </a:pathLst>
          </a:custGeom>
          <a:blipFill>
            <a:blip r:embed="rId7"/>
            <a:stretch>
              <a:fillRect l="0" t="0" r="0" b="0"/>
            </a:stretch>
          </a:blipFill>
        </p:spPr>
      </p:sp>
      <p:sp>
        <p:nvSpPr>
          <p:cNvPr name="Freeform 11" id="11"/>
          <p:cNvSpPr/>
          <p:nvPr/>
        </p:nvSpPr>
        <p:spPr>
          <a:xfrm flipH="false" flipV="false" rot="0">
            <a:off x="12732983" y="4356433"/>
            <a:ext cx="2336506" cy="2336506"/>
          </a:xfrm>
          <a:custGeom>
            <a:avLst/>
            <a:gdLst/>
            <a:ahLst/>
            <a:cxnLst/>
            <a:rect r="r" b="b" t="t" l="l"/>
            <a:pathLst>
              <a:path h="2336506" w="2336506">
                <a:moveTo>
                  <a:pt x="0" y="0"/>
                </a:moveTo>
                <a:lnTo>
                  <a:pt x="2336506" y="0"/>
                </a:lnTo>
                <a:lnTo>
                  <a:pt x="2336506" y="2336506"/>
                </a:lnTo>
                <a:lnTo>
                  <a:pt x="0" y="2336506"/>
                </a:lnTo>
                <a:lnTo>
                  <a:pt x="0" y="0"/>
                </a:lnTo>
                <a:close/>
              </a:path>
            </a:pathLst>
          </a:custGeom>
          <a:blipFill>
            <a:blip r:embed="rId8"/>
            <a:stretch>
              <a:fillRect l="0" t="0" r="0" b="0"/>
            </a:stretch>
          </a:blipFill>
        </p:spPr>
      </p:sp>
      <p:sp>
        <p:nvSpPr>
          <p:cNvPr name="Freeform 12" id="12"/>
          <p:cNvSpPr/>
          <p:nvPr/>
        </p:nvSpPr>
        <p:spPr>
          <a:xfrm flipH="false" flipV="false" rot="0">
            <a:off x="15602889" y="4356433"/>
            <a:ext cx="2336506" cy="2336506"/>
          </a:xfrm>
          <a:custGeom>
            <a:avLst/>
            <a:gdLst/>
            <a:ahLst/>
            <a:cxnLst/>
            <a:rect r="r" b="b" t="t" l="l"/>
            <a:pathLst>
              <a:path h="2336506" w="2336506">
                <a:moveTo>
                  <a:pt x="0" y="0"/>
                </a:moveTo>
                <a:lnTo>
                  <a:pt x="2336506" y="0"/>
                </a:lnTo>
                <a:lnTo>
                  <a:pt x="2336506" y="2336506"/>
                </a:lnTo>
                <a:lnTo>
                  <a:pt x="0" y="2336506"/>
                </a:lnTo>
                <a:lnTo>
                  <a:pt x="0" y="0"/>
                </a:lnTo>
                <a:close/>
              </a:path>
            </a:pathLst>
          </a:custGeom>
          <a:blipFill>
            <a:blip r:embed="rId9"/>
            <a:stretch>
              <a:fillRect l="0" t="0" r="0" b="0"/>
            </a:stretch>
          </a:blipFill>
        </p:spPr>
      </p:sp>
      <p:sp>
        <p:nvSpPr>
          <p:cNvPr name="Freeform 13" id="13"/>
          <p:cNvSpPr/>
          <p:nvPr/>
        </p:nvSpPr>
        <p:spPr>
          <a:xfrm flipH="false" flipV="false" rot="0">
            <a:off x="2261778" y="7245389"/>
            <a:ext cx="2355918" cy="2355918"/>
          </a:xfrm>
          <a:custGeom>
            <a:avLst/>
            <a:gdLst/>
            <a:ahLst/>
            <a:cxnLst/>
            <a:rect r="r" b="b" t="t" l="l"/>
            <a:pathLst>
              <a:path h="2355918" w="2355918">
                <a:moveTo>
                  <a:pt x="0" y="0"/>
                </a:moveTo>
                <a:lnTo>
                  <a:pt x="2355919" y="0"/>
                </a:lnTo>
                <a:lnTo>
                  <a:pt x="2355919" y="2355918"/>
                </a:lnTo>
                <a:lnTo>
                  <a:pt x="0" y="2355918"/>
                </a:lnTo>
                <a:lnTo>
                  <a:pt x="0" y="0"/>
                </a:lnTo>
                <a:close/>
              </a:path>
            </a:pathLst>
          </a:custGeom>
          <a:blipFill>
            <a:blip r:embed="rId10"/>
            <a:stretch>
              <a:fillRect l="0" t="0" r="0" b="0"/>
            </a:stretch>
          </a:blipFill>
        </p:spPr>
      </p:sp>
      <p:sp>
        <p:nvSpPr>
          <p:cNvPr name="Freeform 14" id="14"/>
          <p:cNvSpPr/>
          <p:nvPr/>
        </p:nvSpPr>
        <p:spPr>
          <a:xfrm flipH="false" flipV="false" rot="0">
            <a:off x="5466302" y="7246002"/>
            <a:ext cx="2355305" cy="2355305"/>
          </a:xfrm>
          <a:custGeom>
            <a:avLst/>
            <a:gdLst/>
            <a:ahLst/>
            <a:cxnLst/>
            <a:rect r="r" b="b" t="t" l="l"/>
            <a:pathLst>
              <a:path h="2355305" w="2355305">
                <a:moveTo>
                  <a:pt x="0" y="0"/>
                </a:moveTo>
                <a:lnTo>
                  <a:pt x="2355306" y="0"/>
                </a:lnTo>
                <a:lnTo>
                  <a:pt x="2355306" y="2355305"/>
                </a:lnTo>
                <a:lnTo>
                  <a:pt x="0" y="2355305"/>
                </a:lnTo>
                <a:lnTo>
                  <a:pt x="0" y="0"/>
                </a:lnTo>
                <a:close/>
              </a:path>
            </a:pathLst>
          </a:custGeom>
          <a:blipFill>
            <a:blip r:embed="rId11"/>
            <a:stretch>
              <a:fillRect l="0" t="0" r="0" b="0"/>
            </a:stretch>
          </a:blipFill>
        </p:spPr>
      </p:sp>
      <p:sp>
        <p:nvSpPr>
          <p:cNvPr name="Freeform 15" id="15"/>
          <p:cNvSpPr/>
          <p:nvPr/>
        </p:nvSpPr>
        <p:spPr>
          <a:xfrm flipH="false" flipV="false" rot="0">
            <a:off x="11314385" y="7245389"/>
            <a:ext cx="2355918" cy="2355918"/>
          </a:xfrm>
          <a:custGeom>
            <a:avLst/>
            <a:gdLst/>
            <a:ahLst/>
            <a:cxnLst/>
            <a:rect r="r" b="b" t="t" l="l"/>
            <a:pathLst>
              <a:path h="2355918" w="2355918">
                <a:moveTo>
                  <a:pt x="0" y="0"/>
                </a:moveTo>
                <a:lnTo>
                  <a:pt x="2355918" y="0"/>
                </a:lnTo>
                <a:lnTo>
                  <a:pt x="2355918" y="2355918"/>
                </a:lnTo>
                <a:lnTo>
                  <a:pt x="0" y="2355918"/>
                </a:lnTo>
                <a:lnTo>
                  <a:pt x="0" y="0"/>
                </a:lnTo>
                <a:close/>
              </a:path>
            </a:pathLst>
          </a:custGeom>
          <a:blipFill>
            <a:blip r:embed="rId12"/>
            <a:stretch>
              <a:fillRect l="0" t="0" r="0" b="0"/>
            </a:stretch>
          </a:blipFill>
        </p:spPr>
      </p:sp>
      <p:sp>
        <p:nvSpPr>
          <p:cNvPr name="Freeform 16" id="16"/>
          <p:cNvSpPr/>
          <p:nvPr/>
        </p:nvSpPr>
        <p:spPr>
          <a:xfrm flipH="false" flipV="false" rot="0">
            <a:off x="14415837" y="7246002"/>
            <a:ext cx="2355305" cy="2355305"/>
          </a:xfrm>
          <a:custGeom>
            <a:avLst/>
            <a:gdLst/>
            <a:ahLst/>
            <a:cxnLst/>
            <a:rect r="r" b="b" t="t" l="l"/>
            <a:pathLst>
              <a:path h="2355305" w="2355305">
                <a:moveTo>
                  <a:pt x="0" y="0"/>
                </a:moveTo>
                <a:lnTo>
                  <a:pt x="2355305" y="0"/>
                </a:lnTo>
                <a:lnTo>
                  <a:pt x="2355305" y="2355305"/>
                </a:lnTo>
                <a:lnTo>
                  <a:pt x="0" y="2355305"/>
                </a:lnTo>
                <a:lnTo>
                  <a:pt x="0" y="0"/>
                </a:lnTo>
                <a:close/>
              </a:path>
            </a:pathLst>
          </a:custGeom>
          <a:blipFill>
            <a:blip r:embed="rId13"/>
            <a:stretch>
              <a:fillRect l="0" t="0" r="0" b="0"/>
            </a:stretch>
          </a:blipFill>
        </p:spPr>
      </p:sp>
      <p:sp>
        <p:nvSpPr>
          <p:cNvPr name="TextBox 17" id="17"/>
          <p:cNvSpPr txBox="true"/>
          <p:nvPr/>
        </p:nvSpPr>
        <p:spPr>
          <a:xfrm rot="0">
            <a:off x="4617697" y="1934312"/>
            <a:ext cx="9052607" cy="705485"/>
          </a:xfrm>
          <a:prstGeom prst="rect">
            <a:avLst/>
          </a:prstGeom>
        </p:spPr>
        <p:txBody>
          <a:bodyPr anchor="t" rtlCol="false" tIns="0" lIns="0" bIns="0" rIns="0">
            <a:spAutoFit/>
          </a:bodyPr>
          <a:lstStyle/>
          <a:p>
            <a:pPr algn="ctr">
              <a:lnSpc>
                <a:spcPts val="5740"/>
              </a:lnSpc>
              <a:spcBef>
                <a:spcPct val="0"/>
              </a:spcBef>
            </a:pPr>
            <a:r>
              <a:rPr lang="en-US" sz="4100">
                <a:solidFill>
                  <a:srgbClr val="3BEDFF"/>
                </a:solidFill>
                <a:latin typeface="Mokoto"/>
                <a:ea typeface="Mokoto"/>
                <a:cs typeface="Mokoto"/>
                <a:sym typeface="Mokoto"/>
              </a:rPr>
              <a:t>DEFINISI CLASS</a:t>
            </a:r>
          </a:p>
        </p:txBody>
      </p:sp>
      <p:sp>
        <p:nvSpPr>
          <p:cNvPr name="TextBox 18" id="18"/>
          <p:cNvSpPr txBox="true"/>
          <p:nvPr/>
        </p:nvSpPr>
        <p:spPr>
          <a:xfrm rot="0">
            <a:off x="2001832" y="3457536"/>
            <a:ext cx="6050860" cy="692150"/>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Open Sans"/>
                <a:ea typeface="Open Sans"/>
                <a:cs typeface="Open Sans"/>
                <a:sym typeface="Open Sans"/>
              </a:rPr>
              <a:t>Alat pelatih cengkeraman tangan berpegangan pegas</a:t>
            </a:r>
          </a:p>
        </p:txBody>
      </p:sp>
      <p:sp>
        <p:nvSpPr>
          <p:cNvPr name="TextBox 19" id="19"/>
          <p:cNvSpPr txBox="true"/>
          <p:nvPr/>
        </p:nvSpPr>
        <p:spPr>
          <a:xfrm rot="0">
            <a:off x="3303413" y="3155911"/>
            <a:ext cx="3447700"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3BEDFF"/>
                </a:solidFill>
                <a:latin typeface="Open Sans Bold"/>
                <a:ea typeface="Open Sans Bold"/>
                <a:cs typeface="Open Sans Bold"/>
                <a:sym typeface="Open Sans Bold"/>
              </a:rPr>
              <a:t>Hand Grip</a:t>
            </a:r>
          </a:p>
        </p:txBody>
      </p:sp>
      <p:sp>
        <p:nvSpPr>
          <p:cNvPr name="TextBox 20" id="20"/>
          <p:cNvSpPr txBox="true"/>
          <p:nvPr/>
        </p:nvSpPr>
        <p:spPr>
          <a:xfrm rot="0">
            <a:off x="10235307" y="3457536"/>
            <a:ext cx="6050860" cy="692150"/>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Open Sans"/>
                <a:ea typeface="Open Sans"/>
                <a:cs typeface="Open Sans"/>
                <a:sym typeface="Open Sans"/>
              </a:rPr>
              <a:t>Palang sejajar mini untuk menopang berat badan (kalistenik)</a:t>
            </a:r>
          </a:p>
        </p:txBody>
      </p:sp>
      <p:sp>
        <p:nvSpPr>
          <p:cNvPr name="TextBox 21" id="21"/>
          <p:cNvSpPr txBox="true"/>
          <p:nvPr/>
        </p:nvSpPr>
        <p:spPr>
          <a:xfrm rot="0">
            <a:off x="11536888" y="3155911"/>
            <a:ext cx="3447700"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3BEDFF"/>
                </a:solidFill>
                <a:latin typeface="Open Sans Bold"/>
                <a:ea typeface="Open Sans Bold"/>
                <a:cs typeface="Open Sans Bold"/>
                <a:sym typeface="Open Sans Bold"/>
              </a:rPr>
              <a:t>Paralette</a:t>
            </a:r>
          </a:p>
        </p:txBody>
      </p:sp>
      <p:sp>
        <p:nvSpPr>
          <p:cNvPr name="Freeform 22" id="22"/>
          <p:cNvSpPr/>
          <p:nvPr/>
        </p:nvSpPr>
        <p:spPr>
          <a:xfrm flipH="false" flipV="false" rot="0">
            <a:off x="300632" y="494204"/>
            <a:ext cx="686276" cy="617648"/>
          </a:xfrm>
          <a:custGeom>
            <a:avLst/>
            <a:gdLst/>
            <a:ahLst/>
            <a:cxnLst/>
            <a:rect r="r" b="b" t="t" l="l"/>
            <a:pathLst>
              <a:path h="617648" w="686276">
                <a:moveTo>
                  <a:pt x="0" y="0"/>
                </a:moveTo>
                <a:lnTo>
                  <a:pt x="686276" y="0"/>
                </a:lnTo>
                <a:lnTo>
                  <a:pt x="686276" y="617648"/>
                </a:lnTo>
                <a:lnTo>
                  <a:pt x="0" y="61764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3" id="23"/>
          <p:cNvSpPr txBox="true"/>
          <p:nvPr/>
        </p:nvSpPr>
        <p:spPr>
          <a:xfrm rot="0">
            <a:off x="1028700" y="465629"/>
            <a:ext cx="1469550" cy="611505"/>
          </a:xfrm>
          <a:prstGeom prst="rect">
            <a:avLst/>
          </a:prstGeom>
        </p:spPr>
        <p:txBody>
          <a:bodyPr anchor="t" rtlCol="false" tIns="0" lIns="0" bIns="0" rIns="0">
            <a:spAutoFit/>
          </a:bodyPr>
          <a:lstStyle/>
          <a:p>
            <a:pPr algn="l">
              <a:lnSpc>
                <a:spcPts val="2519"/>
              </a:lnSpc>
              <a:spcBef>
                <a:spcPct val="0"/>
              </a:spcBef>
            </a:pPr>
            <a:r>
              <a:rPr lang="en-US" sz="1799">
                <a:solidFill>
                  <a:srgbClr val="FFFFFF"/>
                </a:solidFill>
                <a:latin typeface="Open Sans"/>
                <a:ea typeface="Open Sans"/>
                <a:cs typeface="Open Sans"/>
                <a:sym typeface="Open Sans"/>
              </a:rPr>
              <a:t>MACHINE LEARNING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2A4C">
                <a:alpha val="100000"/>
              </a:srgbClr>
            </a:gs>
            <a:gs pos="100000">
              <a:srgbClr val="0A182E">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4870650" y="-1563196"/>
            <a:ext cx="4901988" cy="4652432"/>
          </a:xfrm>
          <a:custGeom>
            <a:avLst/>
            <a:gdLst/>
            <a:ahLst/>
            <a:cxnLst/>
            <a:rect r="r" b="b" t="t" l="l"/>
            <a:pathLst>
              <a:path h="4652432" w="4901988">
                <a:moveTo>
                  <a:pt x="0" y="0"/>
                </a:moveTo>
                <a:lnTo>
                  <a:pt x="4901988" y="0"/>
                </a:lnTo>
                <a:lnTo>
                  <a:pt x="4901988" y="4652432"/>
                </a:lnTo>
                <a:lnTo>
                  <a:pt x="0" y="4652432"/>
                </a:lnTo>
                <a:lnTo>
                  <a:pt x="0" y="0"/>
                </a:lnTo>
                <a:close/>
              </a:path>
            </a:pathLst>
          </a:custGeom>
          <a:blipFill>
            <a:blip r:embed="rId2">
              <a:alphaModFix amt="77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84638" y="7735396"/>
            <a:ext cx="4335517" cy="4114800"/>
          </a:xfrm>
          <a:custGeom>
            <a:avLst/>
            <a:gdLst/>
            <a:ahLst/>
            <a:cxnLst/>
            <a:rect r="r" b="b" t="t" l="l"/>
            <a:pathLst>
              <a:path h="4114800" w="4335517">
                <a:moveTo>
                  <a:pt x="4335517" y="4114800"/>
                </a:moveTo>
                <a:lnTo>
                  <a:pt x="0" y="4114800"/>
                </a:lnTo>
                <a:lnTo>
                  <a:pt x="0" y="0"/>
                </a:lnTo>
                <a:lnTo>
                  <a:pt x="4335517" y="0"/>
                </a:lnTo>
                <a:lnTo>
                  <a:pt x="4335517" y="4114800"/>
                </a:lnTo>
                <a:close/>
              </a:path>
            </a:pathLst>
          </a:custGeom>
          <a:blipFill>
            <a:blip r:embed="rId2">
              <a:alphaModFix amt="83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936549" y="8182847"/>
            <a:ext cx="1075453" cy="107545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93584" y="0"/>
                  </a:moveTo>
                  <a:lnTo>
                    <a:pt x="719216" y="0"/>
                  </a:lnTo>
                  <a:cubicBezTo>
                    <a:pt x="770901" y="0"/>
                    <a:pt x="812800" y="41899"/>
                    <a:pt x="812800" y="93584"/>
                  </a:cubicBezTo>
                  <a:lnTo>
                    <a:pt x="812800" y="719216"/>
                  </a:lnTo>
                  <a:cubicBezTo>
                    <a:pt x="812800" y="770901"/>
                    <a:pt x="770901" y="812800"/>
                    <a:pt x="719216" y="812800"/>
                  </a:cubicBezTo>
                  <a:lnTo>
                    <a:pt x="93584" y="812800"/>
                  </a:lnTo>
                  <a:cubicBezTo>
                    <a:pt x="41899" y="812800"/>
                    <a:pt x="0" y="770901"/>
                    <a:pt x="0" y="719216"/>
                  </a:cubicBezTo>
                  <a:lnTo>
                    <a:pt x="0" y="93584"/>
                  </a:lnTo>
                  <a:cubicBezTo>
                    <a:pt x="0" y="41899"/>
                    <a:pt x="41899" y="0"/>
                    <a:pt x="93584" y="0"/>
                  </a:cubicBezTo>
                  <a:close/>
                </a:path>
              </a:pathLst>
            </a:custGeom>
            <a:solidFill>
              <a:srgbClr val="3BEDFF"/>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3673"/>
                </a:lnSpc>
              </a:pPr>
            </a:p>
          </p:txBody>
        </p:sp>
      </p:grpSp>
      <p:sp>
        <p:nvSpPr>
          <p:cNvPr name="Freeform 7" id="7"/>
          <p:cNvSpPr/>
          <p:nvPr/>
        </p:nvSpPr>
        <p:spPr>
          <a:xfrm flipH="false" flipV="false" rot="0">
            <a:off x="1083606" y="4356433"/>
            <a:ext cx="2336506" cy="2336506"/>
          </a:xfrm>
          <a:custGeom>
            <a:avLst/>
            <a:gdLst/>
            <a:ahLst/>
            <a:cxnLst/>
            <a:rect r="r" b="b" t="t" l="l"/>
            <a:pathLst>
              <a:path h="2336506" w="2336506">
                <a:moveTo>
                  <a:pt x="0" y="0"/>
                </a:moveTo>
                <a:lnTo>
                  <a:pt x="2336506" y="0"/>
                </a:lnTo>
                <a:lnTo>
                  <a:pt x="2336506" y="2336506"/>
                </a:lnTo>
                <a:lnTo>
                  <a:pt x="0" y="2336506"/>
                </a:lnTo>
                <a:lnTo>
                  <a:pt x="0" y="0"/>
                </a:lnTo>
                <a:close/>
              </a:path>
            </a:pathLst>
          </a:custGeom>
          <a:blipFill>
            <a:blip r:embed="rId4"/>
            <a:stretch>
              <a:fillRect l="0" t="0" r="0" b="0"/>
            </a:stretch>
          </a:blipFill>
        </p:spPr>
      </p:sp>
      <p:sp>
        <p:nvSpPr>
          <p:cNvPr name="Freeform 8" id="8"/>
          <p:cNvSpPr/>
          <p:nvPr/>
        </p:nvSpPr>
        <p:spPr>
          <a:xfrm flipH="false" flipV="false" rot="0">
            <a:off x="3859009" y="4356433"/>
            <a:ext cx="2336506" cy="2336506"/>
          </a:xfrm>
          <a:custGeom>
            <a:avLst/>
            <a:gdLst/>
            <a:ahLst/>
            <a:cxnLst/>
            <a:rect r="r" b="b" t="t" l="l"/>
            <a:pathLst>
              <a:path h="2336506" w="2336506">
                <a:moveTo>
                  <a:pt x="0" y="0"/>
                </a:moveTo>
                <a:lnTo>
                  <a:pt x="2336507" y="0"/>
                </a:lnTo>
                <a:lnTo>
                  <a:pt x="2336507" y="2336506"/>
                </a:lnTo>
                <a:lnTo>
                  <a:pt x="0" y="2336506"/>
                </a:lnTo>
                <a:lnTo>
                  <a:pt x="0" y="0"/>
                </a:lnTo>
                <a:close/>
              </a:path>
            </a:pathLst>
          </a:custGeom>
          <a:blipFill>
            <a:blip r:embed="rId5"/>
            <a:stretch>
              <a:fillRect l="0" t="0" r="0" b="0"/>
            </a:stretch>
          </a:blipFill>
        </p:spPr>
      </p:sp>
      <p:sp>
        <p:nvSpPr>
          <p:cNvPr name="Freeform 9" id="9"/>
          <p:cNvSpPr/>
          <p:nvPr/>
        </p:nvSpPr>
        <p:spPr>
          <a:xfrm flipH="false" flipV="false" rot="0">
            <a:off x="6633666" y="4356433"/>
            <a:ext cx="2336506" cy="2336506"/>
          </a:xfrm>
          <a:custGeom>
            <a:avLst/>
            <a:gdLst/>
            <a:ahLst/>
            <a:cxnLst/>
            <a:rect r="r" b="b" t="t" l="l"/>
            <a:pathLst>
              <a:path h="2336506" w="2336506">
                <a:moveTo>
                  <a:pt x="0" y="0"/>
                </a:moveTo>
                <a:lnTo>
                  <a:pt x="2336506" y="0"/>
                </a:lnTo>
                <a:lnTo>
                  <a:pt x="2336506" y="2336506"/>
                </a:lnTo>
                <a:lnTo>
                  <a:pt x="0" y="2336506"/>
                </a:lnTo>
                <a:lnTo>
                  <a:pt x="0" y="0"/>
                </a:lnTo>
                <a:close/>
              </a:path>
            </a:pathLst>
          </a:custGeom>
          <a:blipFill>
            <a:blip r:embed="rId6"/>
            <a:stretch>
              <a:fillRect l="0" t="0" r="0" b="0"/>
            </a:stretch>
          </a:blipFill>
        </p:spPr>
      </p:sp>
      <p:sp>
        <p:nvSpPr>
          <p:cNvPr name="Freeform 10" id="10"/>
          <p:cNvSpPr/>
          <p:nvPr/>
        </p:nvSpPr>
        <p:spPr>
          <a:xfrm flipH="false" flipV="false" rot="0">
            <a:off x="2498250" y="7245389"/>
            <a:ext cx="2336506" cy="2336506"/>
          </a:xfrm>
          <a:custGeom>
            <a:avLst/>
            <a:gdLst/>
            <a:ahLst/>
            <a:cxnLst/>
            <a:rect r="r" b="b" t="t" l="l"/>
            <a:pathLst>
              <a:path h="2336506" w="2336506">
                <a:moveTo>
                  <a:pt x="0" y="0"/>
                </a:moveTo>
                <a:lnTo>
                  <a:pt x="2336507" y="0"/>
                </a:lnTo>
                <a:lnTo>
                  <a:pt x="2336507" y="2336506"/>
                </a:lnTo>
                <a:lnTo>
                  <a:pt x="0" y="2336506"/>
                </a:lnTo>
                <a:lnTo>
                  <a:pt x="0" y="0"/>
                </a:lnTo>
                <a:close/>
              </a:path>
            </a:pathLst>
          </a:custGeom>
          <a:blipFill>
            <a:blip r:embed="rId7"/>
            <a:stretch>
              <a:fillRect l="0" t="0" r="0" b="0"/>
            </a:stretch>
          </a:blipFill>
        </p:spPr>
      </p:sp>
      <p:sp>
        <p:nvSpPr>
          <p:cNvPr name="Freeform 11" id="11"/>
          <p:cNvSpPr/>
          <p:nvPr/>
        </p:nvSpPr>
        <p:spPr>
          <a:xfrm flipH="false" flipV="false" rot="0">
            <a:off x="5555406" y="7245389"/>
            <a:ext cx="2391412" cy="2391412"/>
          </a:xfrm>
          <a:custGeom>
            <a:avLst/>
            <a:gdLst/>
            <a:ahLst/>
            <a:cxnLst/>
            <a:rect r="r" b="b" t="t" l="l"/>
            <a:pathLst>
              <a:path h="2391412" w="2391412">
                <a:moveTo>
                  <a:pt x="0" y="0"/>
                </a:moveTo>
                <a:lnTo>
                  <a:pt x="2391412" y="0"/>
                </a:lnTo>
                <a:lnTo>
                  <a:pt x="2391412" y="2391412"/>
                </a:lnTo>
                <a:lnTo>
                  <a:pt x="0" y="2391412"/>
                </a:lnTo>
                <a:lnTo>
                  <a:pt x="0" y="0"/>
                </a:lnTo>
                <a:close/>
              </a:path>
            </a:pathLst>
          </a:custGeom>
          <a:blipFill>
            <a:blip r:embed="rId8"/>
            <a:stretch>
              <a:fillRect l="0" t="0" r="0" b="0"/>
            </a:stretch>
          </a:blipFill>
        </p:spPr>
      </p:sp>
      <p:sp>
        <p:nvSpPr>
          <p:cNvPr name="Freeform 12" id="12"/>
          <p:cNvSpPr/>
          <p:nvPr/>
        </p:nvSpPr>
        <p:spPr>
          <a:xfrm flipH="false" flipV="false" rot="0">
            <a:off x="9854375" y="4356433"/>
            <a:ext cx="2336506" cy="2336506"/>
          </a:xfrm>
          <a:custGeom>
            <a:avLst/>
            <a:gdLst/>
            <a:ahLst/>
            <a:cxnLst/>
            <a:rect r="r" b="b" t="t" l="l"/>
            <a:pathLst>
              <a:path h="2336506" w="2336506">
                <a:moveTo>
                  <a:pt x="0" y="0"/>
                </a:moveTo>
                <a:lnTo>
                  <a:pt x="2336506" y="0"/>
                </a:lnTo>
                <a:lnTo>
                  <a:pt x="2336506" y="2336506"/>
                </a:lnTo>
                <a:lnTo>
                  <a:pt x="0" y="2336506"/>
                </a:lnTo>
                <a:lnTo>
                  <a:pt x="0" y="0"/>
                </a:lnTo>
                <a:close/>
              </a:path>
            </a:pathLst>
          </a:custGeom>
          <a:blipFill>
            <a:blip r:embed="rId9"/>
            <a:stretch>
              <a:fillRect l="0" t="0" r="0" b="0"/>
            </a:stretch>
          </a:blipFill>
        </p:spPr>
      </p:sp>
      <p:sp>
        <p:nvSpPr>
          <p:cNvPr name="Freeform 13" id="13"/>
          <p:cNvSpPr/>
          <p:nvPr/>
        </p:nvSpPr>
        <p:spPr>
          <a:xfrm flipH="false" flipV="false" rot="0">
            <a:off x="12502050" y="4356433"/>
            <a:ext cx="2336506" cy="2336506"/>
          </a:xfrm>
          <a:custGeom>
            <a:avLst/>
            <a:gdLst/>
            <a:ahLst/>
            <a:cxnLst/>
            <a:rect r="r" b="b" t="t" l="l"/>
            <a:pathLst>
              <a:path h="2336506" w="2336506">
                <a:moveTo>
                  <a:pt x="0" y="0"/>
                </a:moveTo>
                <a:lnTo>
                  <a:pt x="2336507" y="0"/>
                </a:lnTo>
                <a:lnTo>
                  <a:pt x="2336507" y="2336506"/>
                </a:lnTo>
                <a:lnTo>
                  <a:pt x="0" y="2336506"/>
                </a:lnTo>
                <a:lnTo>
                  <a:pt x="0" y="0"/>
                </a:lnTo>
                <a:close/>
              </a:path>
            </a:pathLst>
          </a:custGeom>
          <a:blipFill>
            <a:blip r:embed="rId10"/>
            <a:stretch>
              <a:fillRect l="0" t="0" r="0" b="0"/>
            </a:stretch>
          </a:blipFill>
        </p:spPr>
      </p:sp>
      <p:sp>
        <p:nvSpPr>
          <p:cNvPr name="Freeform 14" id="14"/>
          <p:cNvSpPr/>
          <p:nvPr/>
        </p:nvSpPr>
        <p:spPr>
          <a:xfrm flipH="false" flipV="false" rot="0">
            <a:off x="15268373" y="4356433"/>
            <a:ext cx="2336506" cy="2336506"/>
          </a:xfrm>
          <a:custGeom>
            <a:avLst/>
            <a:gdLst/>
            <a:ahLst/>
            <a:cxnLst/>
            <a:rect r="r" b="b" t="t" l="l"/>
            <a:pathLst>
              <a:path h="2336506" w="2336506">
                <a:moveTo>
                  <a:pt x="0" y="0"/>
                </a:moveTo>
                <a:lnTo>
                  <a:pt x="2336506" y="0"/>
                </a:lnTo>
                <a:lnTo>
                  <a:pt x="2336506" y="2336506"/>
                </a:lnTo>
                <a:lnTo>
                  <a:pt x="0" y="2336506"/>
                </a:lnTo>
                <a:lnTo>
                  <a:pt x="0" y="0"/>
                </a:lnTo>
                <a:close/>
              </a:path>
            </a:pathLst>
          </a:custGeom>
          <a:blipFill>
            <a:blip r:embed="rId11"/>
            <a:stretch>
              <a:fillRect l="0" t="0" r="0" b="0"/>
            </a:stretch>
          </a:blipFill>
        </p:spPr>
      </p:sp>
      <p:sp>
        <p:nvSpPr>
          <p:cNvPr name="Freeform 15" id="15"/>
          <p:cNvSpPr/>
          <p:nvPr/>
        </p:nvSpPr>
        <p:spPr>
          <a:xfrm flipH="false" flipV="false" rot="0">
            <a:off x="11126572" y="7245389"/>
            <a:ext cx="2391412" cy="2391412"/>
          </a:xfrm>
          <a:custGeom>
            <a:avLst/>
            <a:gdLst/>
            <a:ahLst/>
            <a:cxnLst/>
            <a:rect r="r" b="b" t="t" l="l"/>
            <a:pathLst>
              <a:path h="2391412" w="2391412">
                <a:moveTo>
                  <a:pt x="0" y="0"/>
                </a:moveTo>
                <a:lnTo>
                  <a:pt x="2391411" y="0"/>
                </a:lnTo>
                <a:lnTo>
                  <a:pt x="2391411" y="2391412"/>
                </a:lnTo>
                <a:lnTo>
                  <a:pt x="0" y="2391412"/>
                </a:lnTo>
                <a:lnTo>
                  <a:pt x="0" y="0"/>
                </a:lnTo>
                <a:close/>
              </a:path>
            </a:pathLst>
          </a:custGeom>
          <a:blipFill>
            <a:blip r:embed="rId12"/>
            <a:stretch>
              <a:fillRect l="0" t="0" r="0" b="0"/>
            </a:stretch>
          </a:blipFill>
        </p:spPr>
      </p:sp>
      <p:sp>
        <p:nvSpPr>
          <p:cNvPr name="Freeform 16" id="16"/>
          <p:cNvSpPr/>
          <p:nvPr/>
        </p:nvSpPr>
        <p:spPr>
          <a:xfrm flipH="false" flipV="false" rot="0">
            <a:off x="14241883" y="7217936"/>
            <a:ext cx="2391412" cy="2391412"/>
          </a:xfrm>
          <a:custGeom>
            <a:avLst/>
            <a:gdLst/>
            <a:ahLst/>
            <a:cxnLst/>
            <a:rect r="r" b="b" t="t" l="l"/>
            <a:pathLst>
              <a:path h="2391412" w="2391412">
                <a:moveTo>
                  <a:pt x="0" y="0"/>
                </a:moveTo>
                <a:lnTo>
                  <a:pt x="2391412" y="0"/>
                </a:lnTo>
                <a:lnTo>
                  <a:pt x="2391412" y="2391412"/>
                </a:lnTo>
                <a:lnTo>
                  <a:pt x="0" y="2391412"/>
                </a:lnTo>
                <a:lnTo>
                  <a:pt x="0" y="0"/>
                </a:lnTo>
                <a:close/>
              </a:path>
            </a:pathLst>
          </a:custGeom>
          <a:blipFill>
            <a:blip r:embed="rId13"/>
            <a:stretch>
              <a:fillRect l="0" t="0" r="0" b="0"/>
            </a:stretch>
          </a:blipFill>
        </p:spPr>
      </p:sp>
      <p:sp>
        <p:nvSpPr>
          <p:cNvPr name="TextBox 17" id="17"/>
          <p:cNvSpPr txBox="true"/>
          <p:nvPr/>
        </p:nvSpPr>
        <p:spPr>
          <a:xfrm rot="0">
            <a:off x="4617697" y="1659852"/>
            <a:ext cx="9052607" cy="1429385"/>
          </a:xfrm>
          <a:prstGeom prst="rect">
            <a:avLst/>
          </a:prstGeom>
        </p:spPr>
        <p:txBody>
          <a:bodyPr anchor="t" rtlCol="false" tIns="0" lIns="0" bIns="0" rIns="0">
            <a:spAutoFit/>
          </a:bodyPr>
          <a:lstStyle/>
          <a:p>
            <a:pPr algn="ctr">
              <a:lnSpc>
                <a:spcPts val="5740"/>
              </a:lnSpc>
            </a:pPr>
            <a:r>
              <a:rPr lang="en-US" sz="4100">
                <a:solidFill>
                  <a:srgbClr val="3BEDFF"/>
                </a:solidFill>
                <a:latin typeface="Mokoto"/>
                <a:ea typeface="Mokoto"/>
                <a:cs typeface="Mokoto"/>
                <a:sym typeface="Mokoto"/>
              </a:rPr>
              <a:t>DEFINISI CLASS</a:t>
            </a:r>
          </a:p>
          <a:p>
            <a:pPr algn="ctr">
              <a:lnSpc>
                <a:spcPts val="5740"/>
              </a:lnSpc>
              <a:spcBef>
                <a:spcPct val="0"/>
              </a:spcBef>
            </a:pPr>
            <a:r>
              <a:rPr lang="en-US" sz="4100">
                <a:solidFill>
                  <a:srgbClr val="3BEDFF"/>
                </a:solidFill>
                <a:latin typeface="Mokoto"/>
                <a:ea typeface="Mokoto"/>
                <a:cs typeface="Mokoto"/>
                <a:sym typeface="Mokoto"/>
              </a:rPr>
              <a:t>DATASET</a:t>
            </a:r>
          </a:p>
        </p:txBody>
      </p:sp>
      <p:sp>
        <p:nvSpPr>
          <p:cNvPr name="TextBox 18" id="18"/>
          <p:cNvSpPr txBox="true"/>
          <p:nvPr/>
        </p:nvSpPr>
        <p:spPr>
          <a:xfrm rot="0">
            <a:off x="2001832" y="3457536"/>
            <a:ext cx="6050860" cy="692150"/>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Open Sans"/>
                <a:ea typeface="Open Sans"/>
                <a:cs typeface="Open Sans"/>
                <a:sym typeface="Open Sans"/>
              </a:rPr>
              <a:t>Kain pelindung pergelangan tangan berbahan elastis dengan perekat.</a:t>
            </a:r>
          </a:p>
        </p:txBody>
      </p:sp>
      <p:sp>
        <p:nvSpPr>
          <p:cNvPr name="TextBox 19" id="19"/>
          <p:cNvSpPr txBox="true"/>
          <p:nvPr/>
        </p:nvSpPr>
        <p:spPr>
          <a:xfrm rot="0">
            <a:off x="3303413" y="3155911"/>
            <a:ext cx="3447700"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3BEDFF"/>
                </a:solidFill>
                <a:latin typeface="Open Sans Bold"/>
                <a:ea typeface="Open Sans Bold"/>
                <a:cs typeface="Open Sans Bold"/>
                <a:sym typeface="Open Sans Bold"/>
              </a:rPr>
              <a:t>Wrist Wrap</a:t>
            </a:r>
          </a:p>
        </p:txBody>
      </p:sp>
      <p:sp>
        <p:nvSpPr>
          <p:cNvPr name="TextBox 20" id="20"/>
          <p:cNvSpPr txBox="true"/>
          <p:nvPr/>
        </p:nvSpPr>
        <p:spPr>
          <a:xfrm rot="0">
            <a:off x="10235307" y="3457536"/>
            <a:ext cx="6050860" cy="692150"/>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Open Sans"/>
                <a:ea typeface="Open Sans"/>
                <a:cs typeface="Open Sans"/>
                <a:sym typeface="Open Sans"/>
              </a:rPr>
              <a:t>Tongkat besi panjang yang ujungnya dapat diisi beban piringan.</a:t>
            </a:r>
          </a:p>
        </p:txBody>
      </p:sp>
      <p:sp>
        <p:nvSpPr>
          <p:cNvPr name="TextBox 21" id="21"/>
          <p:cNvSpPr txBox="true"/>
          <p:nvPr/>
        </p:nvSpPr>
        <p:spPr>
          <a:xfrm rot="0">
            <a:off x="11536888" y="3155911"/>
            <a:ext cx="3447700"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3BEDFF"/>
                </a:solidFill>
                <a:latin typeface="Open Sans Bold"/>
                <a:ea typeface="Open Sans Bold"/>
                <a:cs typeface="Open Sans Bold"/>
                <a:sym typeface="Open Sans Bold"/>
              </a:rPr>
              <a:t>Dumbel</a:t>
            </a:r>
          </a:p>
        </p:txBody>
      </p:sp>
      <p:sp>
        <p:nvSpPr>
          <p:cNvPr name="Freeform 22" id="22"/>
          <p:cNvSpPr/>
          <p:nvPr/>
        </p:nvSpPr>
        <p:spPr>
          <a:xfrm flipH="false" flipV="false" rot="0">
            <a:off x="300632" y="494204"/>
            <a:ext cx="686276" cy="617648"/>
          </a:xfrm>
          <a:custGeom>
            <a:avLst/>
            <a:gdLst/>
            <a:ahLst/>
            <a:cxnLst/>
            <a:rect r="r" b="b" t="t" l="l"/>
            <a:pathLst>
              <a:path h="617648" w="686276">
                <a:moveTo>
                  <a:pt x="0" y="0"/>
                </a:moveTo>
                <a:lnTo>
                  <a:pt x="686276" y="0"/>
                </a:lnTo>
                <a:lnTo>
                  <a:pt x="686276" y="617648"/>
                </a:lnTo>
                <a:lnTo>
                  <a:pt x="0" y="61764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3" id="23"/>
          <p:cNvSpPr txBox="true"/>
          <p:nvPr/>
        </p:nvSpPr>
        <p:spPr>
          <a:xfrm rot="0">
            <a:off x="1028700" y="465629"/>
            <a:ext cx="1469550" cy="611505"/>
          </a:xfrm>
          <a:prstGeom prst="rect">
            <a:avLst/>
          </a:prstGeom>
        </p:spPr>
        <p:txBody>
          <a:bodyPr anchor="t" rtlCol="false" tIns="0" lIns="0" bIns="0" rIns="0">
            <a:spAutoFit/>
          </a:bodyPr>
          <a:lstStyle/>
          <a:p>
            <a:pPr algn="l">
              <a:lnSpc>
                <a:spcPts val="2519"/>
              </a:lnSpc>
              <a:spcBef>
                <a:spcPct val="0"/>
              </a:spcBef>
            </a:pPr>
            <a:r>
              <a:rPr lang="en-US" sz="1799">
                <a:solidFill>
                  <a:srgbClr val="FFFFFF"/>
                </a:solidFill>
                <a:latin typeface="Open Sans"/>
                <a:ea typeface="Open Sans"/>
                <a:cs typeface="Open Sans"/>
                <a:sym typeface="Open Sans"/>
              </a:rPr>
              <a:t>MACHINE LEARNING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2A4C">
                <a:alpha val="100000"/>
              </a:srgbClr>
            </a:gs>
            <a:gs pos="100000">
              <a:srgbClr val="0A182E">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437121" y="-1563196"/>
            <a:ext cx="4335517" cy="4114800"/>
          </a:xfrm>
          <a:custGeom>
            <a:avLst/>
            <a:gdLst/>
            <a:ahLst/>
            <a:cxnLst/>
            <a:rect r="r" b="b" t="t" l="l"/>
            <a:pathLst>
              <a:path h="4114800" w="4335517">
                <a:moveTo>
                  <a:pt x="0" y="0"/>
                </a:moveTo>
                <a:lnTo>
                  <a:pt x="4335517" y="0"/>
                </a:lnTo>
                <a:lnTo>
                  <a:pt x="4335517" y="4114800"/>
                </a:lnTo>
                <a:lnTo>
                  <a:pt x="0" y="4114800"/>
                </a:lnTo>
                <a:lnTo>
                  <a:pt x="0" y="0"/>
                </a:lnTo>
                <a:close/>
              </a:path>
            </a:pathLst>
          </a:custGeom>
          <a:blipFill>
            <a:blip r:embed="rId2">
              <a:alphaModFix amt="8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84638" y="7735396"/>
            <a:ext cx="4335517" cy="4114800"/>
          </a:xfrm>
          <a:custGeom>
            <a:avLst/>
            <a:gdLst/>
            <a:ahLst/>
            <a:cxnLst/>
            <a:rect r="r" b="b" t="t" l="l"/>
            <a:pathLst>
              <a:path h="4114800" w="4335517">
                <a:moveTo>
                  <a:pt x="4335517" y="4114800"/>
                </a:moveTo>
                <a:lnTo>
                  <a:pt x="0" y="4114800"/>
                </a:lnTo>
                <a:lnTo>
                  <a:pt x="0" y="0"/>
                </a:lnTo>
                <a:lnTo>
                  <a:pt x="4335517" y="0"/>
                </a:lnTo>
                <a:lnTo>
                  <a:pt x="4335517" y="411480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936549" y="8182847"/>
            <a:ext cx="1075453" cy="107545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93584" y="0"/>
                  </a:moveTo>
                  <a:lnTo>
                    <a:pt x="719216" y="0"/>
                  </a:lnTo>
                  <a:cubicBezTo>
                    <a:pt x="770901" y="0"/>
                    <a:pt x="812800" y="41899"/>
                    <a:pt x="812800" y="93584"/>
                  </a:cubicBezTo>
                  <a:lnTo>
                    <a:pt x="812800" y="719216"/>
                  </a:lnTo>
                  <a:cubicBezTo>
                    <a:pt x="812800" y="770901"/>
                    <a:pt x="770901" y="812800"/>
                    <a:pt x="719216" y="812800"/>
                  </a:cubicBezTo>
                  <a:lnTo>
                    <a:pt x="93584" y="812800"/>
                  </a:lnTo>
                  <a:cubicBezTo>
                    <a:pt x="41899" y="812800"/>
                    <a:pt x="0" y="770901"/>
                    <a:pt x="0" y="719216"/>
                  </a:cubicBezTo>
                  <a:lnTo>
                    <a:pt x="0" y="93584"/>
                  </a:lnTo>
                  <a:cubicBezTo>
                    <a:pt x="0" y="41899"/>
                    <a:pt x="41899" y="0"/>
                    <a:pt x="93584" y="0"/>
                  </a:cubicBezTo>
                  <a:close/>
                </a:path>
              </a:pathLst>
            </a:custGeom>
            <a:solidFill>
              <a:srgbClr val="3BEDFF"/>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3673"/>
                </a:lnSpc>
              </a:pPr>
            </a:p>
          </p:txBody>
        </p:sp>
      </p:grpSp>
      <p:sp>
        <p:nvSpPr>
          <p:cNvPr name="Freeform 7" id="7"/>
          <p:cNvSpPr/>
          <p:nvPr/>
        </p:nvSpPr>
        <p:spPr>
          <a:xfrm flipH="false" flipV="false" rot="0">
            <a:off x="300632" y="494204"/>
            <a:ext cx="686276" cy="617648"/>
          </a:xfrm>
          <a:custGeom>
            <a:avLst/>
            <a:gdLst/>
            <a:ahLst/>
            <a:cxnLst/>
            <a:rect r="r" b="b" t="t" l="l"/>
            <a:pathLst>
              <a:path h="617648" w="686276">
                <a:moveTo>
                  <a:pt x="0" y="0"/>
                </a:moveTo>
                <a:lnTo>
                  <a:pt x="686276" y="0"/>
                </a:lnTo>
                <a:lnTo>
                  <a:pt x="686276" y="617648"/>
                </a:lnTo>
                <a:lnTo>
                  <a:pt x="0" y="61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287533" y="4316694"/>
            <a:ext cx="12717330" cy="3576749"/>
          </a:xfrm>
          <a:custGeom>
            <a:avLst/>
            <a:gdLst/>
            <a:ahLst/>
            <a:cxnLst/>
            <a:rect r="r" b="b" t="t" l="l"/>
            <a:pathLst>
              <a:path h="3576749" w="12717330">
                <a:moveTo>
                  <a:pt x="0" y="0"/>
                </a:moveTo>
                <a:lnTo>
                  <a:pt x="12717329" y="0"/>
                </a:lnTo>
                <a:lnTo>
                  <a:pt x="12717329" y="3576749"/>
                </a:lnTo>
                <a:lnTo>
                  <a:pt x="0" y="3576749"/>
                </a:lnTo>
                <a:lnTo>
                  <a:pt x="0" y="0"/>
                </a:lnTo>
                <a:close/>
              </a:path>
            </a:pathLst>
          </a:custGeom>
          <a:blipFill>
            <a:blip r:embed="rId6"/>
            <a:stretch>
              <a:fillRect l="0" t="0" r="0" b="0"/>
            </a:stretch>
          </a:blipFill>
        </p:spPr>
      </p:sp>
      <p:sp>
        <p:nvSpPr>
          <p:cNvPr name="TextBox 9" id="9"/>
          <p:cNvSpPr txBox="true"/>
          <p:nvPr/>
        </p:nvSpPr>
        <p:spPr>
          <a:xfrm rot="0">
            <a:off x="4106105" y="1697529"/>
            <a:ext cx="10075790" cy="1403349"/>
          </a:xfrm>
          <a:prstGeom prst="rect">
            <a:avLst/>
          </a:prstGeom>
        </p:spPr>
        <p:txBody>
          <a:bodyPr anchor="t" rtlCol="false" tIns="0" lIns="0" bIns="0" rIns="0">
            <a:spAutoFit/>
          </a:bodyPr>
          <a:lstStyle/>
          <a:p>
            <a:pPr algn="ctr">
              <a:lnSpc>
                <a:spcPts val="5600"/>
              </a:lnSpc>
              <a:spcBef>
                <a:spcPct val="0"/>
              </a:spcBef>
            </a:pPr>
            <a:r>
              <a:rPr lang="en-US" sz="4000">
                <a:solidFill>
                  <a:srgbClr val="3BEDFF"/>
                </a:solidFill>
                <a:latin typeface="Mokoto"/>
                <a:ea typeface="Mokoto"/>
                <a:cs typeface="Mokoto"/>
                <a:sym typeface="Mokoto"/>
              </a:rPr>
              <a:t>ALUR &amp; DIAGRAM PREPROCESSING</a:t>
            </a:r>
          </a:p>
        </p:txBody>
      </p:sp>
      <p:sp>
        <p:nvSpPr>
          <p:cNvPr name="TextBox 10" id="10"/>
          <p:cNvSpPr txBox="true"/>
          <p:nvPr/>
        </p:nvSpPr>
        <p:spPr>
          <a:xfrm rot="0">
            <a:off x="1028700" y="465629"/>
            <a:ext cx="1469550" cy="611505"/>
          </a:xfrm>
          <a:prstGeom prst="rect">
            <a:avLst/>
          </a:prstGeom>
        </p:spPr>
        <p:txBody>
          <a:bodyPr anchor="t" rtlCol="false" tIns="0" lIns="0" bIns="0" rIns="0">
            <a:spAutoFit/>
          </a:bodyPr>
          <a:lstStyle/>
          <a:p>
            <a:pPr algn="l">
              <a:lnSpc>
                <a:spcPts val="2519"/>
              </a:lnSpc>
              <a:spcBef>
                <a:spcPct val="0"/>
              </a:spcBef>
            </a:pPr>
            <a:r>
              <a:rPr lang="en-US" sz="1799">
                <a:solidFill>
                  <a:srgbClr val="FFFFFF"/>
                </a:solidFill>
                <a:latin typeface="Open Sans"/>
                <a:ea typeface="Open Sans"/>
                <a:cs typeface="Open Sans"/>
                <a:sym typeface="Open Sans"/>
              </a:rPr>
              <a:t>MACHINE LEARNING</a:t>
            </a:r>
          </a:p>
        </p:txBody>
      </p:sp>
      <p:sp>
        <p:nvSpPr>
          <p:cNvPr name="TextBox 11" id="11"/>
          <p:cNvSpPr txBox="true"/>
          <p:nvPr/>
        </p:nvSpPr>
        <p:spPr>
          <a:xfrm rot="0">
            <a:off x="1985327" y="3178166"/>
            <a:ext cx="15321742" cy="763270"/>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Open Sans"/>
                <a:ea typeface="Open Sans"/>
                <a:cs typeface="Open Sans"/>
                <a:sym typeface="Open Sans"/>
              </a:rPr>
              <a:t>Processing ini dilakukan dengan otomatis menggunakan Python dengan library PIL &amp; NumPy. Berikut alur Preprocessing: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2A4C">
                <a:alpha val="100000"/>
              </a:srgbClr>
            </a:gs>
            <a:gs pos="100000">
              <a:srgbClr val="0A182E">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300632" y="494204"/>
            <a:ext cx="686276" cy="617648"/>
          </a:xfrm>
          <a:custGeom>
            <a:avLst/>
            <a:gdLst/>
            <a:ahLst/>
            <a:cxnLst/>
            <a:rect r="r" b="b" t="t" l="l"/>
            <a:pathLst>
              <a:path h="617648" w="686276">
                <a:moveTo>
                  <a:pt x="0" y="0"/>
                </a:moveTo>
                <a:lnTo>
                  <a:pt x="686276" y="0"/>
                </a:lnTo>
                <a:lnTo>
                  <a:pt x="686276" y="617648"/>
                </a:lnTo>
                <a:lnTo>
                  <a:pt x="0" y="6176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37121" y="-1563196"/>
            <a:ext cx="4335517" cy="4114800"/>
          </a:xfrm>
          <a:custGeom>
            <a:avLst/>
            <a:gdLst/>
            <a:ahLst/>
            <a:cxnLst/>
            <a:rect r="r" b="b" t="t" l="l"/>
            <a:pathLst>
              <a:path h="4114800" w="4335517">
                <a:moveTo>
                  <a:pt x="0" y="0"/>
                </a:moveTo>
                <a:lnTo>
                  <a:pt x="4335517" y="0"/>
                </a:lnTo>
                <a:lnTo>
                  <a:pt x="4335517" y="4114800"/>
                </a:lnTo>
                <a:lnTo>
                  <a:pt x="0" y="4114800"/>
                </a:lnTo>
                <a:lnTo>
                  <a:pt x="0" y="0"/>
                </a:lnTo>
                <a:close/>
              </a:path>
            </a:pathLst>
          </a:custGeom>
          <a:blipFill>
            <a:blip r:embed="rId4">
              <a:alphaModFix amt="77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0">
            <a:off x="-1484638" y="7735396"/>
            <a:ext cx="4335517" cy="4114800"/>
          </a:xfrm>
          <a:custGeom>
            <a:avLst/>
            <a:gdLst/>
            <a:ahLst/>
            <a:cxnLst/>
            <a:rect r="r" b="b" t="t" l="l"/>
            <a:pathLst>
              <a:path h="4114800" w="4335517">
                <a:moveTo>
                  <a:pt x="4335517" y="4114800"/>
                </a:moveTo>
                <a:lnTo>
                  <a:pt x="0" y="4114800"/>
                </a:lnTo>
                <a:lnTo>
                  <a:pt x="0" y="0"/>
                </a:lnTo>
                <a:lnTo>
                  <a:pt x="4335517" y="0"/>
                </a:lnTo>
                <a:lnTo>
                  <a:pt x="4335517" y="4114800"/>
                </a:lnTo>
                <a:close/>
              </a:path>
            </a:pathLst>
          </a:custGeom>
          <a:blipFill>
            <a:blip r:embed="rId4">
              <a:alphaModFix amt="86000"/>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7936549" y="8182847"/>
            <a:ext cx="1075453" cy="107545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93584" y="0"/>
                  </a:moveTo>
                  <a:lnTo>
                    <a:pt x="719216" y="0"/>
                  </a:lnTo>
                  <a:cubicBezTo>
                    <a:pt x="770901" y="0"/>
                    <a:pt x="812800" y="41899"/>
                    <a:pt x="812800" y="93584"/>
                  </a:cubicBezTo>
                  <a:lnTo>
                    <a:pt x="812800" y="719216"/>
                  </a:lnTo>
                  <a:cubicBezTo>
                    <a:pt x="812800" y="770901"/>
                    <a:pt x="770901" y="812800"/>
                    <a:pt x="719216" y="812800"/>
                  </a:cubicBezTo>
                  <a:lnTo>
                    <a:pt x="93584" y="812800"/>
                  </a:lnTo>
                  <a:cubicBezTo>
                    <a:pt x="41899" y="812800"/>
                    <a:pt x="0" y="770901"/>
                    <a:pt x="0" y="719216"/>
                  </a:cubicBezTo>
                  <a:lnTo>
                    <a:pt x="0" y="93584"/>
                  </a:lnTo>
                  <a:cubicBezTo>
                    <a:pt x="0" y="41899"/>
                    <a:pt x="41899" y="0"/>
                    <a:pt x="93584" y="0"/>
                  </a:cubicBezTo>
                  <a:close/>
                </a:path>
              </a:pathLst>
            </a:custGeom>
            <a:solidFill>
              <a:srgbClr val="3BEDFF"/>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673"/>
                </a:lnSpc>
              </a:pPr>
            </a:p>
          </p:txBody>
        </p:sp>
      </p:grpSp>
      <p:grpSp>
        <p:nvGrpSpPr>
          <p:cNvPr name="Group 8" id="8"/>
          <p:cNvGrpSpPr/>
          <p:nvPr/>
        </p:nvGrpSpPr>
        <p:grpSpPr>
          <a:xfrm rot="0">
            <a:off x="7600950" y="3600450"/>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213D"/>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3429"/>
                </a:lnSpc>
              </a:pPr>
            </a:p>
          </p:txBody>
        </p:sp>
      </p:grpSp>
      <p:sp>
        <p:nvSpPr>
          <p:cNvPr name="Freeform 11" id="11"/>
          <p:cNvSpPr/>
          <p:nvPr/>
        </p:nvSpPr>
        <p:spPr>
          <a:xfrm flipH="false" flipV="false" rot="0">
            <a:off x="698253" y="1722224"/>
            <a:ext cx="8854830" cy="5124733"/>
          </a:xfrm>
          <a:custGeom>
            <a:avLst/>
            <a:gdLst/>
            <a:ahLst/>
            <a:cxnLst/>
            <a:rect r="r" b="b" t="t" l="l"/>
            <a:pathLst>
              <a:path h="5124733" w="8854830">
                <a:moveTo>
                  <a:pt x="0" y="0"/>
                </a:moveTo>
                <a:lnTo>
                  <a:pt x="8854830" y="0"/>
                </a:lnTo>
                <a:lnTo>
                  <a:pt x="8854830" y="5124733"/>
                </a:lnTo>
                <a:lnTo>
                  <a:pt x="0" y="5124733"/>
                </a:lnTo>
                <a:lnTo>
                  <a:pt x="0" y="0"/>
                </a:lnTo>
                <a:close/>
              </a:path>
            </a:pathLst>
          </a:custGeom>
          <a:blipFill>
            <a:blip r:embed="rId6"/>
            <a:stretch>
              <a:fillRect l="0" t="0" r="0" b="0"/>
            </a:stretch>
          </a:blipFill>
        </p:spPr>
      </p:sp>
      <p:sp>
        <p:nvSpPr>
          <p:cNvPr name="Freeform 12" id="12"/>
          <p:cNvSpPr/>
          <p:nvPr/>
        </p:nvSpPr>
        <p:spPr>
          <a:xfrm flipH="false" flipV="false" rot="0">
            <a:off x="882133" y="7679181"/>
            <a:ext cx="10415429" cy="1007332"/>
          </a:xfrm>
          <a:custGeom>
            <a:avLst/>
            <a:gdLst/>
            <a:ahLst/>
            <a:cxnLst/>
            <a:rect r="r" b="b" t="t" l="l"/>
            <a:pathLst>
              <a:path h="1007332" w="10415429">
                <a:moveTo>
                  <a:pt x="0" y="0"/>
                </a:moveTo>
                <a:lnTo>
                  <a:pt x="10415429" y="0"/>
                </a:lnTo>
                <a:lnTo>
                  <a:pt x="10415429" y="1007332"/>
                </a:lnTo>
                <a:lnTo>
                  <a:pt x="0" y="1007332"/>
                </a:lnTo>
                <a:lnTo>
                  <a:pt x="0" y="0"/>
                </a:lnTo>
                <a:close/>
              </a:path>
            </a:pathLst>
          </a:custGeom>
          <a:blipFill>
            <a:blip r:embed="rId7"/>
            <a:stretch>
              <a:fillRect l="0" t="0" r="0" b="0"/>
            </a:stretch>
          </a:blipFill>
        </p:spPr>
      </p:sp>
      <p:sp>
        <p:nvSpPr>
          <p:cNvPr name="TextBox 13" id="13"/>
          <p:cNvSpPr txBox="true"/>
          <p:nvPr/>
        </p:nvSpPr>
        <p:spPr>
          <a:xfrm rot="0">
            <a:off x="1028700" y="465629"/>
            <a:ext cx="1469550" cy="611505"/>
          </a:xfrm>
          <a:prstGeom prst="rect">
            <a:avLst/>
          </a:prstGeom>
        </p:spPr>
        <p:txBody>
          <a:bodyPr anchor="t" rtlCol="false" tIns="0" lIns="0" bIns="0" rIns="0">
            <a:spAutoFit/>
          </a:bodyPr>
          <a:lstStyle/>
          <a:p>
            <a:pPr algn="l">
              <a:lnSpc>
                <a:spcPts val="2519"/>
              </a:lnSpc>
              <a:spcBef>
                <a:spcPct val="0"/>
              </a:spcBef>
            </a:pPr>
            <a:r>
              <a:rPr lang="en-US" sz="1799">
                <a:solidFill>
                  <a:srgbClr val="FFFFFF"/>
                </a:solidFill>
                <a:latin typeface="Open Sans"/>
                <a:ea typeface="Open Sans"/>
                <a:cs typeface="Open Sans"/>
                <a:sym typeface="Open Sans"/>
              </a:rPr>
              <a:t>MACHINE LEARNING</a:t>
            </a:r>
          </a:p>
        </p:txBody>
      </p:sp>
      <p:sp>
        <p:nvSpPr>
          <p:cNvPr name="TextBox 14" id="14"/>
          <p:cNvSpPr txBox="true"/>
          <p:nvPr/>
        </p:nvSpPr>
        <p:spPr>
          <a:xfrm rot="0">
            <a:off x="9883530" y="1626974"/>
            <a:ext cx="6330850" cy="1403349"/>
          </a:xfrm>
          <a:prstGeom prst="rect">
            <a:avLst/>
          </a:prstGeom>
        </p:spPr>
        <p:txBody>
          <a:bodyPr anchor="t" rtlCol="false" tIns="0" lIns="0" bIns="0" rIns="0">
            <a:spAutoFit/>
          </a:bodyPr>
          <a:lstStyle/>
          <a:p>
            <a:pPr algn="l">
              <a:lnSpc>
                <a:spcPts val="5600"/>
              </a:lnSpc>
              <a:spcBef>
                <a:spcPct val="0"/>
              </a:spcBef>
            </a:pPr>
            <a:r>
              <a:rPr lang="en-US" sz="4000">
                <a:solidFill>
                  <a:srgbClr val="3BEDFF"/>
                </a:solidFill>
                <a:latin typeface="Mokoto"/>
                <a:ea typeface="Mokoto"/>
                <a:cs typeface="Mokoto"/>
                <a:sym typeface="Mokoto"/>
              </a:rPr>
              <a:t>STANDARISASI &amp; NORMALISASI</a:t>
            </a:r>
          </a:p>
        </p:txBody>
      </p:sp>
      <p:sp>
        <p:nvSpPr>
          <p:cNvPr name="TextBox 15" id="15"/>
          <p:cNvSpPr txBox="true"/>
          <p:nvPr/>
        </p:nvSpPr>
        <p:spPr>
          <a:xfrm rot="0">
            <a:off x="9883530" y="3223817"/>
            <a:ext cx="8053019" cy="1989453"/>
          </a:xfrm>
          <a:prstGeom prst="rect">
            <a:avLst/>
          </a:prstGeom>
        </p:spPr>
        <p:txBody>
          <a:bodyPr anchor="t" rtlCol="false" tIns="0" lIns="0" bIns="0" rIns="0">
            <a:spAutoFit/>
          </a:bodyPr>
          <a:lstStyle/>
          <a:p>
            <a:pPr algn="l" marL="492361" indent="-246180" lvl="1">
              <a:lnSpc>
                <a:spcPts val="3192"/>
              </a:lnSpc>
              <a:buFont typeface="Arial"/>
              <a:buChar char="•"/>
            </a:pPr>
            <a:r>
              <a:rPr lang="en-US" sz="2280">
                <a:solidFill>
                  <a:srgbClr val="FFFFFF"/>
                </a:solidFill>
                <a:latin typeface="Open Sans"/>
                <a:ea typeface="Open Sans"/>
                <a:cs typeface="Open Sans"/>
                <a:sym typeface="Open Sans"/>
              </a:rPr>
              <a:t>Format disamaratakan menjadi JPG</a:t>
            </a:r>
          </a:p>
          <a:p>
            <a:pPr algn="l" marL="492361" indent="-246180" lvl="1">
              <a:lnSpc>
                <a:spcPts val="3192"/>
              </a:lnSpc>
              <a:buFont typeface="Arial"/>
              <a:buChar char="•"/>
            </a:pPr>
            <a:r>
              <a:rPr lang="en-US" sz="2280">
                <a:solidFill>
                  <a:srgbClr val="FFFFFF"/>
                </a:solidFill>
                <a:latin typeface="Open Sans"/>
                <a:ea typeface="Open Sans"/>
                <a:cs typeface="Open Sans"/>
                <a:sym typeface="Open Sans"/>
              </a:rPr>
              <a:t>Ukuran di resize menjadi 224x224 pixel</a:t>
            </a:r>
          </a:p>
          <a:p>
            <a:pPr algn="l" marL="492361" indent="-246180" lvl="1">
              <a:lnSpc>
                <a:spcPts val="3192"/>
              </a:lnSpc>
              <a:buFont typeface="Arial"/>
              <a:buChar char="•"/>
            </a:pPr>
            <a:r>
              <a:rPr lang="en-US" sz="2280">
                <a:solidFill>
                  <a:srgbClr val="FFFFFF"/>
                </a:solidFill>
                <a:latin typeface="Open Sans"/>
                <a:ea typeface="Open Sans"/>
                <a:cs typeface="Open Sans"/>
                <a:sym typeface="Open Sans"/>
              </a:rPr>
              <a:t>Channelnya menjadi RGB</a:t>
            </a:r>
          </a:p>
          <a:p>
            <a:pPr algn="l" marL="492361" indent="-246180" lvl="1">
              <a:lnSpc>
                <a:spcPts val="3192"/>
              </a:lnSpc>
              <a:buFont typeface="Arial"/>
              <a:buChar char="•"/>
            </a:pPr>
            <a:r>
              <a:rPr lang="en-US" sz="2280">
                <a:solidFill>
                  <a:srgbClr val="FFFFFF"/>
                </a:solidFill>
                <a:latin typeface="Open Sans"/>
                <a:ea typeface="Open Sans"/>
                <a:cs typeface="Open Sans"/>
                <a:sym typeface="Open Sans"/>
              </a:rPr>
              <a:t>Rentang pixel menjadi 0.0-1.0 menggunakan min-max Scaling via NumPy</a:t>
            </a:r>
          </a:p>
        </p:txBody>
      </p:sp>
      <p:sp>
        <p:nvSpPr>
          <p:cNvPr name="TextBox 16" id="16"/>
          <p:cNvSpPr txBox="true"/>
          <p:nvPr/>
        </p:nvSpPr>
        <p:spPr>
          <a:xfrm rot="0">
            <a:off x="3401818" y="6808857"/>
            <a:ext cx="3447700"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3BEDFF"/>
                </a:solidFill>
                <a:latin typeface="Open Sans Bold"/>
                <a:ea typeface="Open Sans Bold"/>
                <a:cs typeface="Open Sans Bold"/>
                <a:sym typeface="Open Sans Bold"/>
              </a:rPr>
              <a:t>Preprocessing Code</a:t>
            </a:r>
          </a:p>
        </p:txBody>
      </p:sp>
      <p:sp>
        <p:nvSpPr>
          <p:cNvPr name="TextBox 17" id="17"/>
          <p:cNvSpPr txBox="true"/>
          <p:nvPr/>
        </p:nvSpPr>
        <p:spPr>
          <a:xfrm rot="0">
            <a:off x="4365997" y="8810338"/>
            <a:ext cx="3447700"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3BEDFF"/>
                </a:solidFill>
                <a:latin typeface="Open Sans Bold"/>
                <a:ea typeface="Open Sans Bold"/>
                <a:cs typeface="Open Sans Bold"/>
                <a:sym typeface="Open Sans Bold"/>
              </a:rPr>
              <a:t>Hasil Rentang Pixel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2A4C">
                <a:alpha val="100000"/>
              </a:srgbClr>
            </a:gs>
            <a:gs pos="100000">
              <a:srgbClr val="0A182E">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437121" y="-1563196"/>
            <a:ext cx="4335517" cy="4114800"/>
          </a:xfrm>
          <a:custGeom>
            <a:avLst/>
            <a:gdLst/>
            <a:ahLst/>
            <a:cxnLst/>
            <a:rect r="r" b="b" t="t" l="l"/>
            <a:pathLst>
              <a:path h="4114800" w="4335517">
                <a:moveTo>
                  <a:pt x="0" y="0"/>
                </a:moveTo>
                <a:lnTo>
                  <a:pt x="4335517" y="0"/>
                </a:lnTo>
                <a:lnTo>
                  <a:pt x="4335517" y="4114800"/>
                </a:lnTo>
                <a:lnTo>
                  <a:pt x="0" y="4114800"/>
                </a:lnTo>
                <a:lnTo>
                  <a:pt x="0" y="0"/>
                </a:lnTo>
                <a:close/>
              </a:path>
            </a:pathLst>
          </a:custGeom>
          <a:blipFill>
            <a:blip r:embed="rId2">
              <a:alphaModFix amt="65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84638" y="7735396"/>
            <a:ext cx="4335517" cy="4114800"/>
          </a:xfrm>
          <a:custGeom>
            <a:avLst/>
            <a:gdLst/>
            <a:ahLst/>
            <a:cxnLst/>
            <a:rect r="r" b="b" t="t" l="l"/>
            <a:pathLst>
              <a:path h="4114800" w="4335517">
                <a:moveTo>
                  <a:pt x="4335517" y="4114800"/>
                </a:moveTo>
                <a:lnTo>
                  <a:pt x="0" y="4114800"/>
                </a:lnTo>
                <a:lnTo>
                  <a:pt x="0" y="0"/>
                </a:lnTo>
                <a:lnTo>
                  <a:pt x="4335517" y="0"/>
                </a:lnTo>
                <a:lnTo>
                  <a:pt x="4335517" y="4114800"/>
                </a:lnTo>
                <a:close/>
              </a:path>
            </a:pathLst>
          </a:custGeom>
          <a:blipFill>
            <a:blip r:embed="rId2">
              <a:alphaModFix amt="71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936549" y="8182847"/>
            <a:ext cx="1075453" cy="107545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93584" y="0"/>
                  </a:moveTo>
                  <a:lnTo>
                    <a:pt x="719216" y="0"/>
                  </a:lnTo>
                  <a:cubicBezTo>
                    <a:pt x="770901" y="0"/>
                    <a:pt x="812800" y="41899"/>
                    <a:pt x="812800" y="93584"/>
                  </a:cubicBezTo>
                  <a:lnTo>
                    <a:pt x="812800" y="719216"/>
                  </a:lnTo>
                  <a:cubicBezTo>
                    <a:pt x="812800" y="770901"/>
                    <a:pt x="770901" y="812800"/>
                    <a:pt x="719216" y="812800"/>
                  </a:cubicBezTo>
                  <a:lnTo>
                    <a:pt x="93584" y="812800"/>
                  </a:lnTo>
                  <a:cubicBezTo>
                    <a:pt x="41899" y="812800"/>
                    <a:pt x="0" y="770901"/>
                    <a:pt x="0" y="719216"/>
                  </a:cubicBezTo>
                  <a:lnTo>
                    <a:pt x="0" y="93584"/>
                  </a:lnTo>
                  <a:cubicBezTo>
                    <a:pt x="0" y="41899"/>
                    <a:pt x="41899" y="0"/>
                    <a:pt x="93584" y="0"/>
                  </a:cubicBezTo>
                  <a:close/>
                </a:path>
              </a:pathLst>
            </a:custGeom>
            <a:solidFill>
              <a:srgbClr val="3BEDFF"/>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3673"/>
                </a:lnSpc>
              </a:pPr>
            </a:p>
          </p:txBody>
        </p:sp>
      </p:grpSp>
      <p:grpSp>
        <p:nvGrpSpPr>
          <p:cNvPr name="Group 7" id="7"/>
          <p:cNvGrpSpPr>
            <a:grpSpLocks noChangeAspect="true"/>
          </p:cNvGrpSpPr>
          <p:nvPr/>
        </p:nvGrpSpPr>
        <p:grpSpPr>
          <a:xfrm rot="0">
            <a:off x="12552247" y="1807230"/>
            <a:ext cx="3948124" cy="6646674"/>
            <a:chOff x="0" y="0"/>
            <a:chExt cx="3771900" cy="6350000"/>
          </a:xfrm>
        </p:grpSpPr>
        <p:sp>
          <p:nvSpPr>
            <p:cNvPr name="Freeform 8" id="8"/>
            <p:cNvSpPr/>
            <p:nvPr/>
          </p:nvSpPr>
          <p:spPr>
            <a:xfrm flipH="false" flipV="false" rot="0">
              <a:off x="0" y="0"/>
              <a:ext cx="3771900" cy="6349937"/>
            </a:xfrm>
            <a:custGeom>
              <a:avLst/>
              <a:gdLst/>
              <a:ahLst/>
              <a:cxnLst/>
              <a:rect r="r" b="b" t="t" l="l"/>
              <a:pathLst>
                <a:path h="6349937" w="3771900">
                  <a:moveTo>
                    <a:pt x="0" y="546100"/>
                  </a:moveTo>
                  <a:lnTo>
                    <a:pt x="0" y="3953510"/>
                  </a:lnTo>
                  <a:cubicBezTo>
                    <a:pt x="0" y="4132580"/>
                    <a:pt x="87630" y="4301490"/>
                    <a:pt x="236220" y="4403090"/>
                  </a:cubicBezTo>
                  <a:lnTo>
                    <a:pt x="2914650" y="6252210"/>
                  </a:lnTo>
                  <a:cubicBezTo>
                    <a:pt x="3276600" y="6502400"/>
                    <a:pt x="3771900" y="6243320"/>
                    <a:pt x="3771900" y="5802630"/>
                  </a:cubicBezTo>
                  <a:lnTo>
                    <a:pt x="3771900" y="546100"/>
                  </a:lnTo>
                  <a:cubicBezTo>
                    <a:pt x="3771900" y="243840"/>
                    <a:pt x="3526790" y="0"/>
                    <a:pt x="3225800" y="0"/>
                  </a:cubicBezTo>
                  <a:lnTo>
                    <a:pt x="546100" y="0"/>
                  </a:lnTo>
                  <a:cubicBezTo>
                    <a:pt x="245110" y="0"/>
                    <a:pt x="0" y="245110"/>
                    <a:pt x="0" y="546100"/>
                  </a:cubicBezTo>
                  <a:close/>
                </a:path>
              </a:pathLst>
            </a:custGeom>
            <a:blipFill>
              <a:blip r:embed="rId4"/>
              <a:stretch>
                <a:fillRect l="-152207" t="0" r="0" b="0"/>
              </a:stretch>
            </a:blipFill>
          </p:spPr>
        </p:sp>
      </p:grpSp>
      <p:grpSp>
        <p:nvGrpSpPr>
          <p:cNvPr name="Group 9" id="9"/>
          <p:cNvGrpSpPr>
            <a:grpSpLocks noChangeAspect="true"/>
          </p:cNvGrpSpPr>
          <p:nvPr/>
        </p:nvGrpSpPr>
        <p:grpSpPr>
          <a:xfrm rot="0">
            <a:off x="8365025" y="1833097"/>
            <a:ext cx="3948124" cy="6646674"/>
            <a:chOff x="0" y="0"/>
            <a:chExt cx="3771900" cy="6350000"/>
          </a:xfrm>
        </p:grpSpPr>
        <p:sp>
          <p:nvSpPr>
            <p:cNvPr name="Freeform 10" id="10"/>
            <p:cNvSpPr/>
            <p:nvPr/>
          </p:nvSpPr>
          <p:spPr>
            <a:xfrm flipH="false" flipV="false" rot="0">
              <a:off x="0" y="0"/>
              <a:ext cx="3771900" cy="6349937"/>
            </a:xfrm>
            <a:custGeom>
              <a:avLst/>
              <a:gdLst/>
              <a:ahLst/>
              <a:cxnLst/>
              <a:rect r="r" b="b" t="t" l="l"/>
              <a:pathLst>
                <a:path h="6349937" w="3771900">
                  <a:moveTo>
                    <a:pt x="0" y="546100"/>
                  </a:moveTo>
                  <a:lnTo>
                    <a:pt x="0" y="3953510"/>
                  </a:lnTo>
                  <a:cubicBezTo>
                    <a:pt x="0" y="4132580"/>
                    <a:pt x="87630" y="4301490"/>
                    <a:pt x="236220" y="4403090"/>
                  </a:cubicBezTo>
                  <a:lnTo>
                    <a:pt x="2914650" y="6252210"/>
                  </a:lnTo>
                  <a:cubicBezTo>
                    <a:pt x="3276600" y="6502400"/>
                    <a:pt x="3771900" y="6243320"/>
                    <a:pt x="3771900" y="5802630"/>
                  </a:cubicBezTo>
                  <a:lnTo>
                    <a:pt x="3771900" y="546100"/>
                  </a:lnTo>
                  <a:cubicBezTo>
                    <a:pt x="3771900" y="243840"/>
                    <a:pt x="3526790" y="0"/>
                    <a:pt x="3225800" y="0"/>
                  </a:cubicBezTo>
                  <a:lnTo>
                    <a:pt x="546100" y="0"/>
                  </a:lnTo>
                  <a:cubicBezTo>
                    <a:pt x="245110" y="0"/>
                    <a:pt x="0" y="245110"/>
                    <a:pt x="0" y="546100"/>
                  </a:cubicBezTo>
                  <a:close/>
                </a:path>
              </a:pathLst>
            </a:custGeom>
            <a:blipFill>
              <a:blip r:embed="rId5"/>
              <a:stretch>
                <a:fillRect l="-6081" t="0" r="-6081" b="0"/>
              </a:stretch>
            </a:blipFill>
          </p:spPr>
        </p:sp>
      </p:grpSp>
      <p:sp>
        <p:nvSpPr>
          <p:cNvPr name="TextBox 11" id="11"/>
          <p:cNvSpPr txBox="true"/>
          <p:nvPr/>
        </p:nvSpPr>
        <p:spPr>
          <a:xfrm rot="0">
            <a:off x="1952475" y="2022741"/>
            <a:ext cx="5122667" cy="1403349"/>
          </a:xfrm>
          <a:prstGeom prst="rect">
            <a:avLst/>
          </a:prstGeom>
        </p:spPr>
        <p:txBody>
          <a:bodyPr anchor="t" rtlCol="false" tIns="0" lIns="0" bIns="0" rIns="0">
            <a:spAutoFit/>
          </a:bodyPr>
          <a:lstStyle/>
          <a:p>
            <a:pPr algn="l">
              <a:lnSpc>
                <a:spcPts val="5600"/>
              </a:lnSpc>
              <a:spcBef>
                <a:spcPct val="0"/>
              </a:spcBef>
            </a:pPr>
            <a:r>
              <a:rPr lang="en-US" sz="4000">
                <a:solidFill>
                  <a:srgbClr val="3BEDFF"/>
                </a:solidFill>
                <a:latin typeface="Mokoto"/>
                <a:ea typeface="Mokoto"/>
                <a:cs typeface="Mokoto"/>
                <a:sym typeface="Mokoto"/>
              </a:rPr>
              <a:t>AUGMENTASI DATA</a:t>
            </a:r>
          </a:p>
        </p:txBody>
      </p:sp>
      <p:sp>
        <p:nvSpPr>
          <p:cNvPr name="TextBox 12" id="12"/>
          <p:cNvSpPr txBox="true"/>
          <p:nvPr/>
        </p:nvSpPr>
        <p:spPr>
          <a:xfrm rot="0">
            <a:off x="1952475" y="3638861"/>
            <a:ext cx="5881411" cy="2325370"/>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Open Sans"/>
                <a:ea typeface="Open Sans"/>
                <a:cs typeface="Open Sans"/>
                <a:sym typeface="Open Sans"/>
              </a:rPr>
              <a:t>Augmentasi Data tidak dilakukan karena jumalah datanya sendiri sudah memenuhi ketentuan yang ada dengan jumlah 100 keatas. Dataset sudah memiliki macam macam variasi dalam pengambilan foto secara natural</a:t>
            </a:r>
          </a:p>
        </p:txBody>
      </p:sp>
      <p:sp>
        <p:nvSpPr>
          <p:cNvPr name="Freeform 13" id="13"/>
          <p:cNvSpPr/>
          <p:nvPr/>
        </p:nvSpPr>
        <p:spPr>
          <a:xfrm flipH="false" flipV="false" rot="0">
            <a:off x="300632" y="494204"/>
            <a:ext cx="686276" cy="617648"/>
          </a:xfrm>
          <a:custGeom>
            <a:avLst/>
            <a:gdLst/>
            <a:ahLst/>
            <a:cxnLst/>
            <a:rect r="r" b="b" t="t" l="l"/>
            <a:pathLst>
              <a:path h="617648" w="686276">
                <a:moveTo>
                  <a:pt x="0" y="0"/>
                </a:moveTo>
                <a:lnTo>
                  <a:pt x="686276" y="0"/>
                </a:lnTo>
                <a:lnTo>
                  <a:pt x="686276" y="617648"/>
                </a:lnTo>
                <a:lnTo>
                  <a:pt x="0" y="6176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028700" y="465629"/>
            <a:ext cx="1469550" cy="611505"/>
          </a:xfrm>
          <a:prstGeom prst="rect">
            <a:avLst/>
          </a:prstGeom>
        </p:spPr>
        <p:txBody>
          <a:bodyPr anchor="t" rtlCol="false" tIns="0" lIns="0" bIns="0" rIns="0">
            <a:spAutoFit/>
          </a:bodyPr>
          <a:lstStyle/>
          <a:p>
            <a:pPr algn="l">
              <a:lnSpc>
                <a:spcPts val="2519"/>
              </a:lnSpc>
              <a:spcBef>
                <a:spcPct val="0"/>
              </a:spcBef>
            </a:pPr>
            <a:r>
              <a:rPr lang="en-US" sz="1799">
                <a:solidFill>
                  <a:srgbClr val="FFFFFF"/>
                </a:solidFill>
                <a:latin typeface="Open Sans"/>
                <a:ea typeface="Open Sans"/>
                <a:cs typeface="Open Sans"/>
                <a:sym typeface="Open Sans"/>
              </a:rPr>
              <a:t>MACHINE LEARNING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12A4C">
                <a:alpha val="100000"/>
              </a:srgbClr>
            </a:gs>
            <a:gs pos="100000">
              <a:srgbClr val="0A182E">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437121" y="-1563196"/>
            <a:ext cx="4335517" cy="4114800"/>
          </a:xfrm>
          <a:custGeom>
            <a:avLst/>
            <a:gdLst/>
            <a:ahLst/>
            <a:cxnLst/>
            <a:rect r="r" b="b" t="t" l="l"/>
            <a:pathLst>
              <a:path h="4114800" w="4335517">
                <a:moveTo>
                  <a:pt x="0" y="0"/>
                </a:moveTo>
                <a:lnTo>
                  <a:pt x="4335517" y="0"/>
                </a:lnTo>
                <a:lnTo>
                  <a:pt x="4335517" y="4114800"/>
                </a:lnTo>
                <a:lnTo>
                  <a:pt x="0" y="4114800"/>
                </a:lnTo>
                <a:lnTo>
                  <a:pt x="0" y="0"/>
                </a:lnTo>
                <a:close/>
              </a:path>
            </a:pathLst>
          </a:custGeom>
          <a:blipFill>
            <a:blip r:embed="rId2">
              <a:alphaModFix amt="87000"/>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17936549" y="8182847"/>
            <a:ext cx="1075453" cy="10754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93584" y="0"/>
                  </a:moveTo>
                  <a:lnTo>
                    <a:pt x="719216" y="0"/>
                  </a:lnTo>
                  <a:cubicBezTo>
                    <a:pt x="770901" y="0"/>
                    <a:pt x="812800" y="41899"/>
                    <a:pt x="812800" y="93584"/>
                  </a:cubicBezTo>
                  <a:lnTo>
                    <a:pt x="812800" y="719216"/>
                  </a:lnTo>
                  <a:cubicBezTo>
                    <a:pt x="812800" y="770901"/>
                    <a:pt x="770901" y="812800"/>
                    <a:pt x="719216" y="812800"/>
                  </a:cubicBezTo>
                  <a:lnTo>
                    <a:pt x="93584" y="812800"/>
                  </a:lnTo>
                  <a:cubicBezTo>
                    <a:pt x="41899" y="812800"/>
                    <a:pt x="0" y="770901"/>
                    <a:pt x="0" y="719216"/>
                  </a:cubicBezTo>
                  <a:lnTo>
                    <a:pt x="0" y="93584"/>
                  </a:lnTo>
                  <a:cubicBezTo>
                    <a:pt x="0" y="41899"/>
                    <a:pt x="41899" y="0"/>
                    <a:pt x="93584" y="0"/>
                  </a:cubicBezTo>
                  <a:close/>
                </a:path>
              </a:pathLst>
            </a:custGeom>
            <a:solidFill>
              <a:srgbClr val="3BEDFF"/>
            </a:solidFill>
          </p:spPr>
        </p:sp>
        <p:sp>
          <p:nvSpPr>
            <p:cNvPr name="TextBox 5" id="5"/>
            <p:cNvSpPr txBox="true"/>
            <p:nvPr/>
          </p:nvSpPr>
          <p:spPr>
            <a:xfrm>
              <a:off x="0" y="-47625"/>
              <a:ext cx="812800" cy="860425"/>
            </a:xfrm>
            <a:prstGeom prst="rect">
              <a:avLst/>
            </a:prstGeom>
          </p:spPr>
          <p:txBody>
            <a:bodyPr anchor="ctr" rtlCol="false" tIns="50800" lIns="50800" bIns="50800" rIns="50800"/>
            <a:lstStyle/>
            <a:p>
              <a:pPr algn="ctr">
                <a:lnSpc>
                  <a:spcPts val="3673"/>
                </a:lnSpc>
              </a:pPr>
            </a:p>
          </p:txBody>
        </p:sp>
      </p:grpSp>
      <p:grpSp>
        <p:nvGrpSpPr>
          <p:cNvPr name="Group 6" id="6"/>
          <p:cNvGrpSpPr>
            <a:grpSpLocks noChangeAspect="true"/>
          </p:cNvGrpSpPr>
          <p:nvPr/>
        </p:nvGrpSpPr>
        <p:grpSpPr>
          <a:xfrm rot="0">
            <a:off x="0" y="1963844"/>
            <a:ext cx="8323156" cy="8323156"/>
            <a:chOff x="0" y="0"/>
            <a:chExt cx="3282950" cy="3282950"/>
          </a:xfrm>
        </p:grpSpPr>
        <p:sp>
          <p:nvSpPr>
            <p:cNvPr name="Freeform 7" id="7"/>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a:blip r:embed="rId4"/>
              <a:stretch>
                <a:fillRect l="-25046" t="0" r="-25046" b="0"/>
              </a:stretch>
            </a:blipFill>
          </p:spPr>
        </p:sp>
      </p:grpSp>
      <p:sp>
        <p:nvSpPr>
          <p:cNvPr name="TextBox 8" id="8"/>
          <p:cNvSpPr txBox="true"/>
          <p:nvPr/>
        </p:nvSpPr>
        <p:spPr>
          <a:xfrm rot="0">
            <a:off x="10014457" y="2168950"/>
            <a:ext cx="6819176" cy="1403349"/>
          </a:xfrm>
          <a:prstGeom prst="rect">
            <a:avLst/>
          </a:prstGeom>
        </p:spPr>
        <p:txBody>
          <a:bodyPr anchor="t" rtlCol="false" tIns="0" lIns="0" bIns="0" rIns="0">
            <a:spAutoFit/>
          </a:bodyPr>
          <a:lstStyle/>
          <a:p>
            <a:pPr algn="l">
              <a:lnSpc>
                <a:spcPts val="5600"/>
              </a:lnSpc>
              <a:spcBef>
                <a:spcPct val="0"/>
              </a:spcBef>
            </a:pPr>
            <a:r>
              <a:rPr lang="en-US" sz="4000">
                <a:solidFill>
                  <a:srgbClr val="3BEDFF"/>
                </a:solidFill>
                <a:latin typeface="Mokoto"/>
                <a:ea typeface="Mokoto"/>
                <a:cs typeface="Mokoto"/>
                <a:sym typeface="Mokoto"/>
              </a:rPr>
              <a:t>STATISTIK DATA &amp; SPLIT DATA</a:t>
            </a:r>
          </a:p>
        </p:txBody>
      </p:sp>
      <p:sp>
        <p:nvSpPr>
          <p:cNvPr name="TextBox 9" id="9"/>
          <p:cNvSpPr txBox="true"/>
          <p:nvPr/>
        </p:nvSpPr>
        <p:spPr>
          <a:xfrm rot="0">
            <a:off x="11228919" y="3584775"/>
            <a:ext cx="4931388" cy="69215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Open Sans"/>
                <a:ea typeface="Open Sans"/>
                <a:cs typeface="Open Sans"/>
                <a:sym typeface="Open Sans"/>
              </a:rPr>
              <a:t>Sebelum Preprocessing ada 120 dataset mentah</a:t>
            </a:r>
          </a:p>
        </p:txBody>
      </p:sp>
      <p:sp>
        <p:nvSpPr>
          <p:cNvPr name="TextBox 10" id="10"/>
          <p:cNvSpPr txBox="true"/>
          <p:nvPr/>
        </p:nvSpPr>
        <p:spPr>
          <a:xfrm rot="0">
            <a:off x="10014457" y="3546675"/>
            <a:ext cx="1071587" cy="688011"/>
          </a:xfrm>
          <a:prstGeom prst="rect">
            <a:avLst/>
          </a:prstGeom>
        </p:spPr>
        <p:txBody>
          <a:bodyPr anchor="t" rtlCol="false" tIns="0" lIns="0" bIns="0" rIns="0">
            <a:spAutoFit/>
          </a:bodyPr>
          <a:lstStyle/>
          <a:p>
            <a:pPr algn="l">
              <a:lnSpc>
                <a:spcPts val="5653"/>
              </a:lnSpc>
              <a:spcBef>
                <a:spcPct val="0"/>
              </a:spcBef>
            </a:pPr>
            <a:r>
              <a:rPr lang="en-US" sz="4037" b="true">
                <a:solidFill>
                  <a:srgbClr val="3BEDFF"/>
                </a:solidFill>
                <a:latin typeface="Open Sans Bold"/>
                <a:ea typeface="Open Sans Bold"/>
                <a:cs typeface="Open Sans Bold"/>
                <a:sym typeface="Open Sans Bold"/>
              </a:rPr>
              <a:t>01.</a:t>
            </a:r>
          </a:p>
        </p:txBody>
      </p:sp>
      <p:sp>
        <p:nvSpPr>
          <p:cNvPr name="TextBox 11" id="11"/>
          <p:cNvSpPr txBox="true"/>
          <p:nvPr/>
        </p:nvSpPr>
        <p:spPr>
          <a:xfrm rot="0">
            <a:off x="11228919" y="4494977"/>
            <a:ext cx="4931388" cy="69215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Open Sans"/>
                <a:ea typeface="Open Sans"/>
                <a:cs typeface="Open Sans"/>
                <a:sym typeface="Open Sans"/>
              </a:rPr>
              <a:t>Sesudah Preprocessing menjadi 120 data yang terstandarisasi</a:t>
            </a:r>
          </a:p>
        </p:txBody>
      </p:sp>
      <p:sp>
        <p:nvSpPr>
          <p:cNvPr name="TextBox 12" id="12"/>
          <p:cNvSpPr txBox="true"/>
          <p:nvPr/>
        </p:nvSpPr>
        <p:spPr>
          <a:xfrm rot="0">
            <a:off x="10014457" y="4477997"/>
            <a:ext cx="1071587" cy="688011"/>
          </a:xfrm>
          <a:prstGeom prst="rect">
            <a:avLst/>
          </a:prstGeom>
        </p:spPr>
        <p:txBody>
          <a:bodyPr anchor="t" rtlCol="false" tIns="0" lIns="0" bIns="0" rIns="0">
            <a:spAutoFit/>
          </a:bodyPr>
          <a:lstStyle/>
          <a:p>
            <a:pPr algn="l">
              <a:lnSpc>
                <a:spcPts val="5653"/>
              </a:lnSpc>
              <a:spcBef>
                <a:spcPct val="0"/>
              </a:spcBef>
            </a:pPr>
            <a:r>
              <a:rPr lang="en-US" sz="4037" b="true">
                <a:solidFill>
                  <a:srgbClr val="3BEDFF"/>
                </a:solidFill>
                <a:latin typeface="Open Sans Bold"/>
                <a:ea typeface="Open Sans Bold"/>
                <a:cs typeface="Open Sans Bold"/>
                <a:sym typeface="Open Sans Bold"/>
              </a:rPr>
              <a:t>02.</a:t>
            </a:r>
          </a:p>
        </p:txBody>
      </p:sp>
      <p:sp>
        <p:nvSpPr>
          <p:cNvPr name="TextBox 13" id="13"/>
          <p:cNvSpPr txBox="true"/>
          <p:nvPr/>
        </p:nvSpPr>
        <p:spPr>
          <a:xfrm rot="0">
            <a:off x="11228919" y="5581650"/>
            <a:ext cx="4931388" cy="139700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Open Sans"/>
                <a:ea typeface="Open Sans"/>
                <a:cs typeface="Open Sans"/>
                <a:sym typeface="Open Sans"/>
              </a:rPr>
              <a:t>Rencana Split Data menggunakan rasio pembagian 80:20. 80% data latih sebanyak 24 gambar per kelas, 20% data validation sebnyak 6 gambar per kelas.</a:t>
            </a:r>
          </a:p>
        </p:txBody>
      </p:sp>
      <p:sp>
        <p:nvSpPr>
          <p:cNvPr name="TextBox 14" id="14"/>
          <p:cNvSpPr txBox="true"/>
          <p:nvPr/>
        </p:nvSpPr>
        <p:spPr>
          <a:xfrm rot="0">
            <a:off x="10014457" y="5543550"/>
            <a:ext cx="1071587" cy="688011"/>
          </a:xfrm>
          <a:prstGeom prst="rect">
            <a:avLst/>
          </a:prstGeom>
        </p:spPr>
        <p:txBody>
          <a:bodyPr anchor="t" rtlCol="false" tIns="0" lIns="0" bIns="0" rIns="0">
            <a:spAutoFit/>
          </a:bodyPr>
          <a:lstStyle/>
          <a:p>
            <a:pPr algn="l">
              <a:lnSpc>
                <a:spcPts val="5653"/>
              </a:lnSpc>
              <a:spcBef>
                <a:spcPct val="0"/>
              </a:spcBef>
            </a:pPr>
            <a:r>
              <a:rPr lang="en-US" sz="4037" b="true">
                <a:solidFill>
                  <a:srgbClr val="3BEDFF"/>
                </a:solidFill>
                <a:latin typeface="Open Sans Bold"/>
                <a:ea typeface="Open Sans Bold"/>
                <a:cs typeface="Open Sans Bold"/>
                <a:sym typeface="Open Sans Bold"/>
              </a:rPr>
              <a:t>03.</a:t>
            </a:r>
          </a:p>
        </p:txBody>
      </p:sp>
      <p:sp>
        <p:nvSpPr>
          <p:cNvPr name="Freeform 15" id="15"/>
          <p:cNvSpPr/>
          <p:nvPr/>
        </p:nvSpPr>
        <p:spPr>
          <a:xfrm flipH="false" flipV="false" rot="0">
            <a:off x="300632" y="494204"/>
            <a:ext cx="686276" cy="617648"/>
          </a:xfrm>
          <a:custGeom>
            <a:avLst/>
            <a:gdLst/>
            <a:ahLst/>
            <a:cxnLst/>
            <a:rect r="r" b="b" t="t" l="l"/>
            <a:pathLst>
              <a:path h="617648" w="686276">
                <a:moveTo>
                  <a:pt x="0" y="0"/>
                </a:moveTo>
                <a:lnTo>
                  <a:pt x="686276" y="0"/>
                </a:lnTo>
                <a:lnTo>
                  <a:pt x="686276" y="617648"/>
                </a:lnTo>
                <a:lnTo>
                  <a:pt x="0" y="6176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1028700" y="465629"/>
            <a:ext cx="1469550" cy="611505"/>
          </a:xfrm>
          <a:prstGeom prst="rect">
            <a:avLst/>
          </a:prstGeom>
        </p:spPr>
        <p:txBody>
          <a:bodyPr anchor="t" rtlCol="false" tIns="0" lIns="0" bIns="0" rIns="0">
            <a:spAutoFit/>
          </a:bodyPr>
          <a:lstStyle/>
          <a:p>
            <a:pPr algn="l">
              <a:lnSpc>
                <a:spcPts val="2519"/>
              </a:lnSpc>
              <a:spcBef>
                <a:spcPct val="0"/>
              </a:spcBef>
            </a:pPr>
            <a:r>
              <a:rPr lang="en-US" sz="1799">
                <a:solidFill>
                  <a:srgbClr val="FFFFFF"/>
                </a:solidFill>
                <a:latin typeface="Open Sans"/>
                <a:ea typeface="Open Sans"/>
                <a:cs typeface="Open Sans"/>
                <a:sym typeface="Open Sans"/>
              </a:rPr>
              <a:t>MACHINE LEARNING</a:t>
            </a:r>
          </a:p>
        </p:txBody>
      </p:sp>
      <p:sp>
        <p:nvSpPr>
          <p:cNvPr name="TextBox 17" id="17"/>
          <p:cNvSpPr txBox="true"/>
          <p:nvPr/>
        </p:nvSpPr>
        <p:spPr>
          <a:xfrm rot="0">
            <a:off x="10014457" y="8373228"/>
            <a:ext cx="7244843" cy="692150"/>
          </a:xfrm>
          <a:prstGeom prst="rect">
            <a:avLst/>
          </a:prstGeom>
        </p:spPr>
        <p:txBody>
          <a:bodyPr anchor="t" rtlCol="false" tIns="0" lIns="0" bIns="0" rIns="0">
            <a:spAutoFit/>
          </a:bodyPr>
          <a:lstStyle/>
          <a:p>
            <a:pPr algn="l">
              <a:lnSpc>
                <a:spcPts val="2799"/>
              </a:lnSpc>
              <a:spcBef>
                <a:spcPct val="0"/>
              </a:spcBef>
            </a:pPr>
            <a:r>
              <a:rPr lang="en-US" sz="1999" b="true">
                <a:solidFill>
                  <a:srgbClr val="FFFFFF"/>
                </a:solidFill>
                <a:latin typeface="Open Sans Bold"/>
                <a:ea typeface="Open Sans Bold"/>
                <a:cs typeface="Open Sans Bold"/>
                <a:sym typeface="Open Sans Bold"/>
              </a:rPr>
              <a:t>GitHub: https://github.com/Specter735/Machine-Learning.git </a:t>
            </a:r>
          </a:p>
        </p:txBody>
      </p:sp>
      <p:sp>
        <p:nvSpPr>
          <p:cNvPr name="TextBox 18" id="18"/>
          <p:cNvSpPr txBox="true"/>
          <p:nvPr/>
        </p:nvSpPr>
        <p:spPr>
          <a:xfrm rot="0">
            <a:off x="10014457" y="8038583"/>
            <a:ext cx="3447700" cy="372745"/>
          </a:xfrm>
          <a:prstGeom prst="rect">
            <a:avLst/>
          </a:prstGeom>
        </p:spPr>
        <p:txBody>
          <a:bodyPr anchor="t" rtlCol="false" tIns="0" lIns="0" bIns="0" rIns="0">
            <a:spAutoFit/>
          </a:bodyPr>
          <a:lstStyle/>
          <a:p>
            <a:pPr algn="l">
              <a:lnSpc>
                <a:spcPts val="3079"/>
              </a:lnSpc>
              <a:spcBef>
                <a:spcPct val="0"/>
              </a:spcBef>
            </a:pPr>
            <a:r>
              <a:rPr lang="en-US" sz="2199" b="true">
                <a:solidFill>
                  <a:srgbClr val="3BEDFF"/>
                </a:solidFill>
                <a:latin typeface="Open Sans Bold"/>
                <a:ea typeface="Open Sans Bold"/>
                <a:cs typeface="Open Sans Bold"/>
                <a:sym typeface="Open Sans Bold"/>
              </a:rPr>
              <a:t>Link Dataset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925" t="0" r="-4856" b="0"/>
            </a:stretch>
          </a:blipFill>
        </p:spPr>
      </p:sp>
      <p:sp>
        <p:nvSpPr>
          <p:cNvPr name="Freeform 3" id="3"/>
          <p:cNvSpPr/>
          <p:nvPr/>
        </p:nvSpPr>
        <p:spPr>
          <a:xfrm flipH="false" flipV="false" rot="0">
            <a:off x="15437121" y="-1563196"/>
            <a:ext cx="4335517" cy="4114800"/>
          </a:xfrm>
          <a:custGeom>
            <a:avLst/>
            <a:gdLst/>
            <a:ahLst/>
            <a:cxnLst/>
            <a:rect r="r" b="b" t="t" l="l"/>
            <a:pathLst>
              <a:path h="4114800" w="4335517">
                <a:moveTo>
                  <a:pt x="0" y="0"/>
                </a:moveTo>
                <a:lnTo>
                  <a:pt x="4335517" y="0"/>
                </a:lnTo>
                <a:lnTo>
                  <a:pt x="4335517"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7936549" y="8182847"/>
            <a:ext cx="1075453" cy="107545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93584" y="0"/>
                  </a:moveTo>
                  <a:lnTo>
                    <a:pt x="719216" y="0"/>
                  </a:lnTo>
                  <a:cubicBezTo>
                    <a:pt x="770901" y="0"/>
                    <a:pt x="812800" y="41899"/>
                    <a:pt x="812800" y="93584"/>
                  </a:cubicBezTo>
                  <a:lnTo>
                    <a:pt x="812800" y="719216"/>
                  </a:lnTo>
                  <a:cubicBezTo>
                    <a:pt x="812800" y="770901"/>
                    <a:pt x="770901" y="812800"/>
                    <a:pt x="719216" y="812800"/>
                  </a:cubicBezTo>
                  <a:lnTo>
                    <a:pt x="93584" y="812800"/>
                  </a:lnTo>
                  <a:cubicBezTo>
                    <a:pt x="41899" y="812800"/>
                    <a:pt x="0" y="770901"/>
                    <a:pt x="0" y="719216"/>
                  </a:cubicBezTo>
                  <a:lnTo>
                    <a:pt x="0" y="93584"/>
                  </a:lnTo>
                  <a:cubicBezTo>
                    <a:pt x="0" y="41899"/>
                    <a:pt x="41899" y="0"/>
                    <a:pt x="93584" y="0"/>
                  </a:cubicBezTo>
                  <a:close/>
                </a:path>
              </a:pathLst>
            </a:custGeom>
            <a:solidFill>
              <a:srgbClr val="3BEDFF"/>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3673"/>
                </a:lnSpc>
              </a:pPr>
            </a:p>
          </p:txBody>
        </p:sp>
      </p:grpSp>
      <p:sp>
        <p:nvSpPr>
          <p:cNvPr name="TextBox 7" id="7"/>
          <p:cNvSpPr txBox="true"/>
          <p:nvPr/>
        </p:nvSpPr>
        <p:spPr>
          <a:xfrm rot="0">
            <a:off x="8328408" y="3519555"/>
            <a:ext cx="7397764" cy="1847713"/>
          </a:xfrm>
          <a:prstGeom prst="rect">
            <a:avLst/>
          </a:prstGeom>
        </p:spPr>
        <p:txBody>
          <a:bodyPr anchor="t" rtlCol="false" tIns="0" lIns="0" bIns="0" rIns="0">
            <a:spAutoFit/>
          </a:bodyPr>
          <a:lstStyle/>
          <a:p>
            <a:pPr algn="l">
              <a:lnSpc>
                <a:spcPts val="7420"/>
              </a:lnSpc>
            </a:pPr>
            <a:r>
              <a:rPr lang="en-US" sz="5300">
                <a:solidFill>
                  <a:srgbClr val="3BEDFF"/>
                </a:solidFill>
                <a:latin typeface="Mokoto"/>
                <a:ea typeface="Mokoto"/>
                <a:cs typeface="Mokoto"/>
                <a:sym typeface="Mokoto"/>
              </a:rPr>
              <a:t>TERIMA</a:t>
            </a:r>
          </a:p>
          <a:p>
            <a:pPr algn="l">
              <a:lnSpc>
                <a:spcPts val="7420"/>
              </a:lnSpc>
              <a:spcBef>
                <a:spcPct val="0"/>
              </a:spcBef>
            </a:pPr>
            <a:r>
              <a:rPr lang="en-US" sz="5300">
                <a:solidFill>
                  <a:srgbClr val="3BEDFF"/>
                </a:solidFill>
                <a:latin typeface="Mokoto"/>
                <a:ea typeface="Mokoto"/>
                <a:cs typeface="Mokoto"/>
                <a:sym typeface="Mokoto"/>
              </a:rPr>
              <a:t>KASIH</a:t>
            </a:r>
          </a:p>
        </p:txBody>
      </p:sp>
      <p:sp>
        <p:nvSpPr>
          <p:cNvPr name="Freeform 8" id="8"/>
          <p:cNvSpPr/>
          <p:nvPr/>
        </p:nvSpPr>
        <p:spPr>
          <a:xfrm flipH="false" flipV="false" rot="0">
            <a:off x="300632" y="494204"/>
            <a:ext cx="686276" cy="617648"/>
          </a:xfrm>
          <a:custGeom>
            <a:avLst/>
            <a:gdLst/>
            <a:ahLst/>
            <a:cxnLst/>
            <a:rect r="r" b="b" t="t" l="l"/>
            <a:pathLst>
              <a:path h="617648" w="686276">
                <a:moveTo>
                  <a:pt x="0" y="0"/>
                </a:moveTo>
                <a:lnTo>
                  <a:pt x="686276" y="0"/>
                </a:lnTo>
                <a:lnTo>
                  <a:pt x="686276" y="617648"/>
                </a:lnTo>
                <a:lnTo>
                  <a:pt x="0" y="6176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028700" y="465629"/>
            <a:ext cx="1469550" cy="611505"/>
          </a:xfrm>
          <a:prstGeom prst="rect">
            <a:avLst/>
          </a:prstGeom>
        </p:spPr>
        <p:txBody>
          <a:bodyPr anchor="t" rtlCol="false" tIns="0" lIns="0" bIns="0" rIns="0">
            <a:spAutoFit/>
          </a:bodyPr>
          <a:lstStyle/>
          <a:p>
            <a:pPr algn="l">
              <a:lnSpc>
                <a:spcPts val="2519"/>
              </a:lnSpc>
              <a:spcBef>
                <a:spcPct val="0"/>
              </a:spcBef>
            </a:pPr>
            <a:r>
              <a:rPr lang="en-US" sz="1799">
                <a:solidFill>
                  <a:srgbClr val="FFFFFF"/>
                </a:solidFill>
                <a:latin typeface="Open Sans"/>
                <a:ea typeface="Open Sans"/>
                <a:cs typeface="Open Sans"/>
                <a:sym typeface="Open Sans"/>
              </a:rPr>
              <a:t>MACHINE LEARNING</a:t>
            </a:r>
          </a:p>
        </p:txBody>
      </p:sp>
      <p:grpSp>
        <p:nvGrpSpPr>
          <p:cNvPr name="Group 10" id="10"/>
          <p:cNvGrpSpPr>
            <a:grpSpLocks noChangeAspect="true"/>
          </p:cNvGrpSpPr>
          <p:nvPr/>
        </p:nvGrpSpPr>
        <p:grpSpPr>
          <a:xfrm rot="0">
            <a:off x="12474550" y="2551604"/>
            <a:ext cx="3948124" cy="6646674"/>
            <a:chOff x="0" y="0"/>
            <a:chExt cx="3771900" cy="6350000"/>
          </a:xfrm>
        </p:grpSpPr>
        <p:sp>
          <p:nvSpPr>
            <p:cNvPr name="Freeform 11" id="11"/>
            <p:cNvSpPr/>
            <p:nvPr/>
          </p:nvSpPr>
          <p:spPr>
            <a:xfrm flipH="false" flipV="false" rot="0">
              <a:off x="0" y="0"/>
              <a:ext cx="3771900" cy="6349937"/>
            </a:xfrm>
            <a:custGeom>
              <a:avLst/>
              <a:gdLst/>
              <a:ahLst/>
              <a:cxnLst/>
              <a:rect r="r" b="b" t="t" l="l"/>
              <a:pathLst>
                <a:path h="6349937" w="3771900">
                  <a:moveTo>
                    <a:pt x="0" y="546100"/>
                  </a:moveTo>
                  <a:lnTo>
                    <a:pt x="0" y="3953510"/>
                  </a:lnTo>
                  <a:cubicBezTo>
                    <a:pt x="0" y="4132580"/>
                    <a:pt x="87630" y="4301490"/>
                    <a:pt x="236220" y="4403090"/>
                  </a:cubicBezTo>
                  <a:lnTo>
                    <a:pt x="2914650" y="6252210"/>
                  </a:lnTo>
                  <a:cubicBezTo>
                    <a:pt x="3276600" y="6502400"/>
                    <a:pt x="3771900" y="6243320"/>
                    <a:pt x="3771900" y="5802630"/>
                  </a:cubicBezTo>
                  <a:lnTo>
                    <a:pt x="3771900" y="546100"/>
                  </a:lnTo>
                  <a:cubicBezTo>
                    <a:pt x="3771900" y="243840"/>
                    <a:pt x="3526790" y="0"/>
                    <a:pt x="3225800" y="0"/>
                  </a:cubicBezTo>
                  <a:lnTo>
                    <a:pt x="546100" y="0"/>
                  </a:lnTo>
                  <a:cubicBezTo>
                    <a:pt x="245110" y="0"/>
                    <a:pt x="0" y="245110"/>
                    <a:pt x="0" y="546100"/>
                  </a:cubicBezTo>
                  <a:close/>
                </a:path>
              </a:pathLst>
            </a:custGeom>
            <a:blipFill>
              <a:blip r:embed="rId7"/>
              <a:stretch>
                <a:fillRect l="-152207"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DAHGC43G02I</dc:identifier>
  <dcterms:modified xsi:type="dcterms:W3CDTF">2011-08-01T06:04:30Z</dcterms:modified>
  <cp:revision>1</cp:revision>
  <dc:title>Biru Futuristik Perusahaan Teknologi Presentasi</dc:title>
</cp:coreProperties>
</file>