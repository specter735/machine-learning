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Staatliches" charset="1" panose="00000000000000000000"/>
      <p:regular r:id="rId17"/>
    </p:embeddedFont>
    <p:embeddedFont>
      <p:font typeface="DM Sans" charset="1" panose="00000000000000000000"/>
      <p:regular r:id="rId18"/>
    </p:embeddedFont>
    <p:embeddedFont>
      <p:font typeface="DM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jpe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jpe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3.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24.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5.jpe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6392341">
            <a:off x="5852079" y="-1411861"/>
            <a:ext cx="5245202" cy="3147121"/>
          </a:xfrm>
          <a:custGeom>
            <a:avLst/>
            <a:gdLst/>
            <a:ahLst/>
            <a:cxnLst/>
            <a:rect r="r" b="b" t="t" l="l"/>
            <a:pathLst>
              <a:path h="3147121" w="5245202">
                <a:moveTo>
                  <a:pt x="0" y="0"/>
                </a:moveTo>
                <a:lnTo>
                  <a:pt x="5245202" y="0"/>
                </a:lnTo>
                <a:lnTo>
                  <a:pt x="5245202" y="3147121"/>
                </a:lnTo>
                <a:lnTo>
                  <a:pt x="0" y="3147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45342" y="0"/>
            <a:ext cx="8396045" cy="10287000"/>
            <a:chOff x="0" y="0"/>
            <a:chExt cx="1300767" cy="1593725"/>
          </a:xfrm>
        </p:grpSpPr>
        <p:sp>
          <p:nvSpPr>
            <p:cNvPr name="Freeform 4" id="4"/>
            <p:cNvSpPr/>
            <p:nvPr/>
          </p:nvSpPr>
          <p:spPr>
            <a:xfrm flipH="false" flipV="false" rot="0">
              <a:off x="0" y="0"/>
              <a:ext cx="1300767" cy="1593725"/>
            </a:xfrm>
            <a:custGeom>
              <a:avLst/>
              <a:gdLst/>
              <a:ahLst/>
              <a:cxnLst/>
              <a:rect r="r" b="b" t="t" l="l"/>
              <a:pathLst>
                <a:path h="1593725" w="1300767">
                  <a:moveTo>
                    <a:pt x="0" y="0"/>
                  </a:moveTo>
                  <a:lnTo>
                    <a:pt x="1300767" y="0"/>
                  </a:lnTo>
                  <a:lnTo>
                    <a:pt x="1300767" y="1593725"/>
                  </a:lnTo>
                  <a:lnTo>
                    <a:pt x="0" y="1593725"/>
                  </a:lnTo>
                  <a:close/>
                </a:path>
              </a:pathLst>
            </a:custGeom>
            <a:blipFill>
              <a:blip r:embed="rId4"/>
              <a:stretch>
                <a:fillRect l="-42058" t="0" r="-42058" b="0"/>
              </a:stretch>
            </a:blipFill>
          </p:spPr>
        </p:sp>
      </p:grpSp>
      <p:sp>
        <p:nvSpPr>
          <p:cNvPr name="Freeform 5" id="5"/>
          <p:cNvSpPr/>
          <p:nvPr/>
        </p:nvSpPr>
        <p:spPr>
          <a:xfrm flipH="false" flipV="false" rot="0">
            <a:off x="16665685" y="4141926"/>
            <a:ext cx="343557" cy="343557"/>
          </a:xfrm>
          <a:custGeom>
            <a:avLst/>
            <a:gdLst/>
            <a:ahLst/>
            <a:cxnLst/>
            <a:rect r="r" b="b" t="t" l="l"/>
            <a:pathLst>
              <a:path h="343557" w="343557">
                <a:moveTo>
                  <a:pt x="0" y="0"/>
                </a:moveTo>
                <a:lnTo>
                  <a:pt x="343557" y="0"/>
                </a:lnTo>
                <a:lnTo>
                  <a:pt x="343557" y="343557"/>
                </a:lnTo>
                <a:lnTo>
                  <a:pt x="0" y="3435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286463" y="6373187"/>
            <a:ext cx="4103271" cy="4418057"/>
          </a:xfrm>
          <a:custGeom>
            <a:avLst/>
            <a:gdLst/>
            <a:ahLst/>
            <a:cxnLst/>
            <a:rect r="r" b="b" t="t" l="l"/>
            <a:pathLst>
              <a:path h="4418057" w="4103271">
                <a:moveTo>
                  <a:pt x="0" y="0"/>
                </a:moveTo>
                <a:lnTo>
                  <a:pt x="4103271" y="0"/>
                </a:lnTo>
                <a:lnTo>
                  <a:pt x="4103271" y="4418058"/>
                </a:lnTo>
                <a:lnTo>
                  <a:pt x="0" y="4418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729708" y="1657316"/>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9764201" y="2274197"/>
            <a:ext cx="6375480" cy="1634249"/>
          </a:xfrm>
          <a:prstGeom prst="rect">
            <a:avLst/>
          </a:prstGeom>
        </p:spPr>
        <p:txBody>
          <a:bodyPr anchor="t" rtlCol="false" tIns="0" lIns="0" bIns="0" rIns="0">
            <a:spAutoFit/>
          </a:bodyPr>
          <a:lstStyle/>
          <a:p>
            <a:pPr algn="l">
              <a:lnSpc>
                <a:spcPts val="6434"/>
              </a:lnSpc>
            </a:pPr>
            <a:r>
              <a:rPr lang="en-US" sz="5361">
                <a:solidFill>
                  <a:srgbClr val="CB6CE6"/>
                </a:solidFill>
                <a:latin typeface="Staatliches"/>
                <a:ea typeface="Staatliches"/>
                <a:cs typeface="Staatliches"/>
                <a:sym typeface="Staatliches"/>
              </a:rPr>
              <a:t>Klasi</a:t>
            </a:r>
            <a:r>
              <a:rPr lang="en-US" sz="5361">
                <a:solidFill>
                  <a:srgbClr val="CB6CE6"/>
                </a:solidFill>
                <a:latin typeface="Staatliches"/>
                <a:ea typeface="Staatliches"/>
                <a:cs typeface="Staatliches"/>
                <a:sym typeface="Staatliches"/>
              </a:rPr>
              <a:t>fikasi Tingkat Kematangan Pisang </a:t>
            </a:r>
          </a:p>
        </p:txBody>
      </p:sp>
      <p:sp>
        <p:nvSpPr>
          <p:cNvPr name="TextBox 9" id="9"/>
          <p:cNvSpPr txBox="true"/>
          <p:nvPr/>
        </p:nvSpPr>
        <p:spPr>
          <a:xfrm rot="0">
            <a:off x="8950803" y="7489932"/>
            <a:ext cx="5831978" cy="786765"/>
          </a:xfrm>
          <a:prstGeom prst="rect">
            <a:avLst/>
          </a:prstGeom>
        </p:spPr>
        <p:txBody>
          <a:bodyPr anchor="t" rtlCol="false" tIns="0" lIns="0" bIns="0" rIns="0">
            <a:spAutoFit/>
          </a:bodyPr>
          <a:lstStyle/>
          <a:p>
            <a:pPr algn="l">
              <a:lnSpc>
                <a:spcPts val="3240"/>
              </a:lnSpc>
            </a:pPr>
            <a:r>
              <a:rPr lang="en-US" sz="1800">
                <a:solidFill>
                  <a:srgbClr val="FFFAFA"/>
                </a:solidFill>
                <a:latin typeface="DM Sans"/>
                <a:ea typeface="DM Sans"/>
                <a:cs typeface="DM Sans"/>
                <a:sym typeface="DM Sans"/>
              </a:rPr>
              <a:t>ABDURRAHMAN  GILANG HARJUNA</a:t>
            </a:r>
          </a:p>
          <a:p>
            <a:pPr algn="l">
              <a:lnSpc>
                <a:spcPts val="3240"/>
              </a:lnSpc>
            </a:pPr>
            <a:r>
              <a:rPr lang="en-US" sz="1800">
                <a:solidFill>
                  <a:srgbClr val="FFFAFA"/>
                </a:solidFill>
                <a:latin typeface="DM Sans"/>
                <a:ea typeface="DM Sans"/>
                <a:cs typeface="DM Sans"/>
                <a:sym typeface="DM Sans"/>
              </a:rPr>
              <a:t>2310817110004</a:t>
            </a:r>
          </a:p>
        </p:txBody>
      </p:sp>
      <p:sp>
        <p:nvSpPr>
          <p:cNvPr name="TextBox 10" id="10"/>
          <p:cNvSpPr txBox="true"/>
          <p:nvPr/>
        </p:nvSpPr>
        <p:spPr>
          <a:xfrm rot="0">
            <a:off x="9764201" y="3819773"/>
            <a:ext cx="5208009" cy="2828429"/>
          </a:xfrm>
          <a:prstGeom prst="rect">
            <a:avLst/>
          </a:prstGeom>
        </p:spPr>
        <p:txBody>
          <a:bodyPr anchor="t" rtlCol="false" tIns="0" lIns="0" bIns="0" rIns="0">
            <a:spAutoFit/>
          </a:bodyPr>
          <a:lstStyle/>
          <a:p>
            <a:pPr algn="l">
              <a:lnSpc>
                <a:spcPts val="5549"/>
              </a:lnSpc>
            </a:pPr>
            <a:r>
              <a:rPr lang="en-US" sz="4624">
                <a:solidFill>
                  <a:srgbClr val="FFFAFA"/>
                </a:solidFill>
                <a:latin typeface="Staatliches"/>
                <a:ea typeface="Staatliches"/>
                <a:cs typeface="Staatliches"/>
                <a:sym typeface="Staatliches"/>
              </a:rPr>
              <a:t>Berbasis Support Vector Machine (SVM) </a:t>
            </a:r>
            <a:r>
              <a:rPr lang="en-US" sz="4624">
                <a:solidFill>
                  <a:srgbClr val="FFFAFA"/>
                </a:solidFill>
                <a:latin typeface="Staatliches"/>
                <a:ea typeface="Staatliches"/>
                <a:cs typeface="Staatliches"/>
                <a:sym typeface="Staatliches"/>
              </a:rPr>
              <a:t>dengan Ekstraksi Fitur Ruang Warna HSV.</a:t>
            </a:r>
          </a:p>
        </p:txBody>
      </p:sp>
      <p:sp>
        <p:nvSpPr>
          <p:cNvPr name="TextBox 11" id="11"/>
          <p:cNvSpPr txBox="true"/>
          <p:nvPr/>
        </p:nvSpPr>
        <p:spPr>
          <a:xfrm rot="0">
            <a:off x="15326283" y="2476959"/>
            <a:ext cx="1920360" cy="819150"/>
          </a:xfrm>
          <a:prstGeom prst="rect">
            <a:avLst/>
          </a:prstGeom>
        </p:spPr>
        <p:txBody>
          <a:bodyPr anchor="t" rtlCol="false" tIns="0" lIns="0" bIns="0" rIns="0">
            <a:spAutoFit/>
          </a:bodyPr>
          <a:lstStyle/>
          <a:p>
            <a:pPr algn="l">
              <a:lnSpc>
                <a:spcPts val="3240"/>
              </a:lnSpc>
            </a:pPr>
            <a:r>
              <a:rPr lang="en-US" sz="2700">
                <a:solidFill>
                  <a:srgbClr val="FFFAFA"/>
                </a:solidFill>
                <a:latin typeface="Staatliches"/>
                <a:ea typeface="Staatliches"/>
                <a:cs typeface="Staatliches"/>
                <a:sym typeface="Staatliches"/>
              </a:rPr>
              <a:t>TEKONOLOGI</a:t>
            </a:r>
          </a:p>
          <a:p>
            <a:pPr algn="l">
              <a:lnSpc>
                <a:spcPts val="3240"/>
              </a:lnSpc>
            </a:pPr>
            <a:r>
              <a:rPr lang="en-US" sz="2700">
                <a:solidFill>
                  <a:srgbClr val="FFFAFA"/>
                </a:solidFill>
                <a:latin typeface="Staatliches"/>
                <a:ea typeface="Staatliches"/>
                <a:cs typeface="Staatliches"/>
                <a:sym typeface="Staatliches"/>
              </a:rPr>
              <a:t>INFORMASI</a:t>
            </a:r>
          </a:p>
        </p:txBody>
      </p:sp>
      <p:sp>
        <p:nvSpPr>
          <p:cNvPr name="TextBox 12" id="12"/>
          <p:cNvSpPr txBox="true"/>
          <p:nvPr/>
        </p:nvSpPr>
        <p:spPr>
          <a:xfrm rot="0">
            <a:off x="15326283" y="4037151"/>
            <a:ext cx="1234628" cy="377190"/>
          </a:xfrm>
          <a:prstGeom prst="rect">
            <a:avLst/>
          </a:prstGeom>
        </p:spPr>
        <p:txBody>
          <a:bodyPr anchor="t" rtlCol="false" tIns="0" lIns="0" bIns="0" rIns="0">
            <a:spAutoFit/>
          </a:bodyPr>
          <a:lstStyle/>
          <a:p>
            <a:pPr algn="l">
              <a:lnSpc>
                <a:spcPts val="3240"/>
              </a:lnSpc>
            </a:pPr>
            <a:r>
              <a:rPr lang="en-US" sz="1800">
                <a:solidFill>
                  <a:srgbClr val="FFFAFA"/>
                </a:solidFill>
                <a:latin typeface="DM Sans"/>
                <a:ea typeface="DM Sans"/>
                <a:cs typeface="DM Sans"/>
                <a:sym typeface="DM Sans"/>
              </a:rPr>
              <a:t>Start Now</a:t>
            </a:r>
          </a:p>
        </p:txBody>
      </p:sp>
      <p:sp>
        <p:nvSpPr>
          <p:cNvPr name="TextBox 13" id="13"/>
          <p:cNvSpPr txBox="true"/>
          <p:nvPr/>
        </p:nvSpPr>
        <p:spPr>
          <a:xfrm rot="0">
            <a:off x="11224993" y="1657316"/>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9547288" y="6960367"/>
            <a:ext cx="3790568" cy="3686327"/>
          </a:xfrm>
          <a:custGeom>
            <a:avLst/>
            <a:gdLst/>
            <a:ahLst/>
            <a:cxnLst/>
            <a:rect r="r" b="b" t="t" l="l"/>
            <a:pathLst>
              <a:path h="3686327" w="3790568">
                <a:moveTo>
                  <a:pt x="0" y="0"/>
                </a:moveTo>
                <a:lnTo>
                  <a:pt x="3790567" y="0"/>
                </a:lnTo>
                <a:lnTo>
                  <a:pt x="3790567" y="3686327"/>
                </a:lnTo>
                <a:lnTo>
                  <a:pt x="0" y="3686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7648" y="412146"/>
            <a:ext cx="4381439" cy="2628863"/>
          </a:xfrm>
          <a:custGeom>
            <a:avLst/>
            <a:gdLst/>
            <a:ahLst/>
            <a:cxnLst/>
            <a:rect r="r" b="b" t="t" l="l"/>
            <a:pathLst>
              <a:path h="2628863" w="4381439">
                <a:moveTo>
                  <a:pt x="0" y="0"/>
                </a:moveTo>
                <a:lnTo>
                  <a:pt x="4381439" y="0"/>
                </a:lnTo>
                <a:lnTo>
                  <a:pt x="4381439" y="2628864"/>
                </a:lnTo>
                <a:lnTo>
                  <a:pt x="0" y="26288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442571" y="1726578"/>
            <a:ext cx="5246370" cy="7690789"/>
            <a:chOff x="0" y="0"/>
            <a:chExt cx="812800" cy="1191505"/>
          </a:xfrm>
        </p:grpSpPr>
        <p:sp>
          <p:nvSpPr>
            <p:cNvPr name="Freeform 5" id="5"/>
            <p:cNvSpPr/>
            <p:nvPr/>
          </p:nvSpPr>
          <p:spPr>
            <a:xfrm flipH="false" flipV="false" rot="0">
              <a:off x="0" y="0"/>
              <a:ext cx="812800" cy="1191505"/>
            </a:xfrm>
            <a:custGeom>
              <a:avLst/>
              <a:gdLst/>
              <a:ahLst/>
              <a:cxnLst/>
              <a:rect r="r" b="b" t="t" l="l"/>
              <a:pathLst>
                <a:path h="1191505" w="812800">
                  <a:moveTo>
                    <a:pt x="0" y="0"/>
                  </a:moveTo>
                  <a:lnTo>
                    <a:pt x="812800" y="0"/>
                  </a:lnTo>
                  <a:lnTo>
                    <a:pt x="812800" y="1191505"/>
                  </a:lnTo>
                  <a:lnTo>
                    <a:pt x="0" y="1191505"/>
                  </a:lnTo>
                  <a:close/>
                </a:path>
              </a:pathLst>
            </a:custGeom>
            <a:blipFill>
              <a:blip r:embed="rId6"/>
              <a:stretch>
                <a:fillRect l="-59807" t="0" r="-59807" b="0"/>
              </a:stretch>
            </a:blipFill>
          </p:spPr>
        </p:sp>
      </p:grpSp>
      <p:sp>
        <p:nvSpPr>
          <p:cNvPr name="Freeform 6" id="6"/>
          <p:cNvSpPr/>
          <p:nvPr/>
        </p:nvSpPr>
        <p:spPr>
          <a:xfrm flipH="false" flipV="false" rot="0">
            <a:off x="-3408702" y="5004615"/>
            <a:ext cx="5240081" cy="5642079"/>
          </a:xfrm>
          <a:custGeom>
            <a:avLst/>
            <a:gdLst/>
            <a:ahLst/>
            <a:cxnLst/>
            <a:rect r="r" b="b" t="t" l="l"/>
            <a:pathLst>
              <a:path h="5642079" w="5240081">
                <a:moveTo>
                  <a:pt x="0" y="0"/>
                </a:moveTo>
                <a:lnTo>
                  <a:pt x="5240081" y="0"/>
                </a:lnTo>
                <a:lnTo>
                  <a:pt x="5240081" y="5642079"/>
                </a:lnTo>
                <a:lnTo>
                  <a:pt x="0" y="56420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086913" y="7150720"/>
            <a:ext cx="6644458" cy="1838325"/>
          </a:xfrm>
          <a:prstGeom prst="rect">
            <a:avLst/>
          </a:prstGeom>
        </p:spPr>
        <p:txBody>
          <a:bodyPr anchor="t" rtlCol="false" tIns="0" lIns="0" bIns="0" rIns="0">
            <a:spAutoFit/>
          </a:bodyPr>
          <a:lstStyle/>
          <a:p>
            <a:pPr algn="l">
              <a:lnSpc>
                <a:spcPts val="14400"/>
              </a:lnSpc>
            </a:pPr>
            <a:r>
              <a:rPr lang="en-US" sz="12000">
                <a:solidFill>
                  <a:srgbClr val="FFFAFA"/>
                </a:solidFill>
                <a:latin typeface="Staatliches"/>
                <a:ea typeface="Staatliches"/>
                <a:cs typeface="Staatliches"/>
                <a:sym typeface="Staatliches"/>
              </a:rPr>
              <a:t>MASALAH</a:t>
            </a:r>
          </a:p>
        </p:txBody>
      </p:sp>
      <p:sp>
        <p:nvSpPr>
          <p:cNvPr name="TextBox 8" id="8"/>
          <p:cNvSpPr txBox="true"/>
          <p:nvPr/>
        </p:nvSpPr>
        <p:spPr>
          <a:xfrm rot="0">
            <a:off x="6252738" y="2989329"/>
            <a:ext cx="4670185" cy="3244215"/>
          </a:xfrm>
          <a:prstGeom prst="rect">
            <a:avLst/>
          </a:prstGeom>
        </p:spPr>
        <p:txBody>
          <a:bodyPr anchor="t" rtlCol="false" tIns="0" lIns="0" bIns="0" rIns="0">
            <a:spAutoFit/>
          </a:bodyPr>
          <a:lstStyle/>
          <a:p>
            <a:pPr algn="just">
              <a:lnSpc>
                <a:spcPts val="3240"/>
              </a:lnSpc>
            </a:pPr>
            <a:r>
              <a:rPr lang="en-US" sz="1800">
                <a:solidFill>
                  <a:srgbClr val="FFFAFA"/>
                </a:solidFill>
                <a:latin typeface="DM Sans"/>
                <a:ea typeface="DM Sans"/>
                <a:cs typeface="DM Sans"/>
                <a:sym typeface="DM Sans"/>
              </a:rPr>
              <a:t>Banyak industri dalam nyortiran pisang masih manual sehingga banyak kesalahan dalam memilih pisang yang mentah, setengah matang, dan matang pada pemesanan klien. Metode yang manual masih lambat, menguras tenaga dan subjektif. Kelelahan visual pada pekerja juga membuat kerugian dalam pasca panen.</a:t>
            </a:r>
          </a:p>
        </p:txBody>
      </p:sp>
      <p:sp>
        <p:nvSpPr>
          <p:cNvPr name="TextBox 9" id="9"/>
          <p:cNvSpPr txBox="true"/>
          <p:nvPr/>
        </p:nvSpPr>
        <p:spPr>
          <a:xfrm rot="0">
            <a:off x="6252738" y="2239939"/>
            <a:ext cx="4197415" cy="323850"/>
          </a:xfrm>
          <a:prstGeom prst="rect">
            <a:avLst/>
          </a:prstGeom>
        </p:spPr>
        <p:txBody>
          <a:bodyPr anchor="t" rtlCol="false" tIns="0" lIns="0" bIns="0" rIns="0">
            <a:spAutoFit/>
          </a:bodyPr>
          <a:lstStyle/>
          <a:p>
            <a:pPr algn="l">
              <a:lnSpc>
                <a:spcPts val="2520"/>
              </a:lnSpc>
            </a:pPr>
            <a:r>
              <a:rPr lang="en-US" sz="2100">
                <a:solidFill>
                  <a:srgbClr val="CB6CE6"/>
                </a:solidFill>
                <a:latin typeface="Staatliches"/>
                <a:ea typeface="Staatliches"/>
                <a:cs typeface="Staatliches"/>
                <a:sym typeface="Staatliches"/>
              </a:rPr>
              <a:t>industri</a:t>
            </a:r>
          </a:p>
        </p:txBody>
      </p:sp>
      <p:sp>
        <p:nvSpPr>
          <p:cNvPr name="Freeform 10" id="10"/>
          <p:cNvSpPr/>
          <p:nvPr/>
        </p:nvSpPr>
        <p:spPr>
          <a:xfrm flipH="false" flipV="false" rot="0">
            <a:off x="179074" y="178233"/>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674359" y="178233"/>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1131981">
            <a:off x="13414617" y="805086"/>
            <a:ext cx="3742503" cy="2376489"/>
          </a:xfrm>
          <a:custGeom>
            <a:avLst/>
            <a:gdLst/>
            <a:ahLst/>
            <a:cxnLst/>
            <a:rect r="r" b="b" t="t" l="l"/>
            <a:pathLst>
              <a:path h="2376489" w="3742503">
                <a:moveTo>
                  <a:pt x="0" y="0"/>
                </a:moveTo>
                <a:lnTo>
                  <a:pt x="3742502" y="0"/>
                </a:lnTo>
                <a:lnTo>
                  <a:pt x="3742502" y="2376489"/>
                </a:lnTo>
                <a:lnTo>
                  <a:pt x="0" y="23764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94098" y="2655176"/>
            <a:ext cx="3995774" cy="3426376"/>
          </a:xfrm>
          <a:custGeom>
            <a:avLst/>
            <a:gdLst/>
            <a:ahLst/>
            <a:cxnLst/>
            <a:rect r="r" b="b" t="t" l="l"/>
            <a:pathLst>
              <a:path h="3426376" w="3995774">
                <a:moveTo>
                  <a:pt x="0" y="0"/>
                </a:moveTo>
                <a:lnTo>
                  <a:pt x="3995774" y="0"/>
                </a:lnTo>
                <a:lnTo>
                  <a:pt x="3995774" y="3426376"/>
                </a:lnTo>
                <a:lnTo>
                  <a:pt x="0" y="3426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084058" y="1872587"/>
            <a:ext cx="5865123" cy="3329815"/>
            <a:chOff x="0" y="0"/>
            <a:chExt cx="908661" cy="515876"/>
          </a:xfrm>
        </p:grpSpPr>
        <p:sp>
          <p:nvSpPr>
            <p:cNvPr name="Freeform 5" id="5"/>
            <p:cNvSpPr/>
            <p:nvPr/>
          </p:nvSpPr>
          <p:spPr>
            <a:xfrm flipH="false" flipV="false" rot="0">
              <a:off x="0" y="0"/>
              <a:ext cx="908661" cy="515876"/>
            </a:xfrm>
            <a:custGeom>
              <a:avLst/>
              <a:gdLst/>
              <a:ahLst/>
              <a:cxnLst/>
              <a:rect r="r" b="b" t="t" l="l"/>
              <a:pathLst>
                <a:path h="515876" w="908661">
                  <a:moveTo>
                    <a:pt x="0" y="0"/>
                  </a:moveTo>
                  <a:lnTo>
                    <a:pt x="908661" y="0"/>
                  </a:lnTo>
                  <a:lnTo>
                    <a:pt x="908661" y="515876"/>
                  </a:lnTo>
                  <a:lnTo>
                    <a:pt x="0" y="515876"/>
                  </a:lnTo>
                  <a:close/>
                </a:path>
              </a:pathLst>
            </a:custGeom>
            <a:blipFill>
              <a:blip r:embed="rId6"/>
              <a:stretch>
                <a:fillRect l="0" t="-3550" r="0" b="-13802"/>
              </a:stretch>
            </a:blipFill>
          </p:spPr>
        </p:sp>
      </p:grpSp>
      <p:sp>
        <p:nvSpPr>
          <p:cNvPr name="TextBox 6" id="6"/>
          <p:cNvSpPr txBox="true"/>
          <p:nvPr/>
        </p:nvSpPr>
        <p:spPr>
          <a:xfrm rot="0">
            <a:off x="2201102" y="1993331"/>
            <a:ext cx="10312403" cy="3276600"/>
          </a:xfrm>
          <a:prstGeom prst="rect">
            <a:avLst/>
          </a:prstGeom>
        </p:spPr>
        <p:txBody>
          <a:bodyPr anchor="t" rtlCol="false" tIns="0" lIns="0" bIns="0" rIns="0">
            <a:spAutoFit/>
          </a:bodyPr>
          <a:lstStyle/>
          <a:p>
            <a:pPr algn="l">
              <a:lnSpc>
                <a:spcPts val="12960"/>
              </a:lnSpc>
            </a:pPr>
            <a:r>
              <a:rPr lang="en-US" sz="10800">
                <a:solidFill>
                  <a:srgbClr val="FFFAFA"/>
                </a:solidFill>
                <a:latin typeface="Staatliches"/>
                <a:ea typeface="Staatliches"/>
                <a:cs typeface="Staatliches"/>
                <a:sym typeface="Staatliches"/>
              </a:rPr>
              <a:t>solusi &amp;</a:t>
            </a:r>
          </a:p>
          <a:p>
            <a:pPr algn="l">
              <a:lnSpc>
                <a:spcPts val="12960"/>
              </a:lnSpc>
            </a:pPr>
            <a:r>
              <a:rPr lang="en-US" sz="10800">
                <a:solidFill>
                  <a:srgbClr val="FFFAFA"/>
                </a:solidFill>
                <a:latin typeface="Staatliches"/>
                <a:ea typeface="Staatliches"/>
                <a:cs typeface="Staatliches"/>
                <a:sym typeface="Staatliches"/>
              </a:rPr>
              <a:t>tujuan</a:t>
            </a:r>
          </a:p>
        </p:txBody>
      </p:sp>
      <p:sp>
        <p:nvSpPr>
          <p:cNvPr name="TextBox 7" id="7"/>
          <p:cNvSpPr txBox="true"/>
          <p:nvPr/>
        </p:nvSpPr>
        <p:spPr>
          <a:xfrm rot="0">
            <a:off x="1660053" y="6516227"/>
            <a:ext cx="6099600" cy="1684020"/>
          </a:xfrm>
          <a:prstGeom prst="rect">
            <a:avLst/>
          </a:prstGeom>
        </p:spPr>
        <p:txBody>
          <a:bodyPr anchor="t" rtlCol="false" tIns="0" lIns="0" bIns="0" rIns="0">
            <a:spAutoFit/>
          </a:bodyPr>
          <a:lstStyle/>
          <a:p>
            <a:pPr algn="just">
              <a:lnSpc>
                <a:spcPts val="3419"/>
              </a:lnSpc>
            </a:pPr>
            <a:r>
              <a:rPr lang="en-US" sz="1899">
                <a:solidFill>
                  <a:srgbClr val="FFFAFA"/>
                </a:solidFill>
                <a:latin typeface="DM Sans"/>
                <a:ea typeface="DM Sans"/>
                <a:cs typeface="DM Sans"/>
                <a:sym typeface="DM Sans"/>
              </a:rPr>
              <a:t>Membangun sistem identifikasi otomatis terhadap pisang yang bersifat non-destruktif menggunakan visi komputer (SVM) dengan ekstraksi fitur ruang warna HSV</a:t>
            </a:r>
          </a:p>
        </p:txBody>
      </p:sp>
      <p:sp>
        <p:nvSpPr>
          <p:cNvPr name="TextBox 8" id="8"/>
          <p:cNvSpPr txBox="true"/>
          <p:nvPr/>
        </p:nvSpPr>
        <p:spPr>
          <a:xfrm rot="0">
            <a:off x="9966819" y="6516227"/>
            <a:ext cx="6099600" cy="1255395"/>
          </a:xfrm>
          <a:prstGeom prst="rect">
            <a:avLst/>
          </a:prstGeom>
        </p:spPr>
        <p:txBody>
          <a:bodyPr anchor="t" rtlCol="false" tIns="0" lIns="0" bIns="0" rIns="0">
            <a:spAutoFit/>
          </a:bodyPr>
          <a:lstStyle/>
          <a:p>
            <a:pPr algn="just">
              <a:lnSpc>
                <a:spcPts val="3419"/>
              </a:lnSpc>
            </a:pPr>
            <a:r>
              <a:rPr lang="en-US" sz="1899">
                <a:solidFill>
                  <a:srgbClr val="FFFAFA"/>
                </a:solidFill>
                <a:latin typeface="DM Sans"/>
                <a:ea typeface="DM Sans"/>
                <a:cs typeface="DM Sans"/>
                <a:sym typeface="DM Sans"/>
              </a:rPr>
              <a:t>Tujuannya untuk mengembangkan model klasifikasi kematangan pisang yang akurat tapi low cost dan menemukan parameter terbaik untuk klasifikasi pisang</a:t>
            </a:r>
          </a:p>
        </p:txBody>
      </p:sp>
      <p:sp>
        <p:nvSpPr>
          <p:cNvPr name="Freeform 9" id="9"/>
          <p:cNvSpPr/>
          <p:nvPr/>
        </p:nvSpPr>
        <p:spPr>
          <a:xfrm flipH="false" flipV="false" rot="0">
            <a:off x="160148" y="163429"/>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655433" y="163429"/>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16621575" y="7744153"/>
            <a:ext cx="4723339" cy="5085694"/>
          </a:xfrm>
          <a:custGeom>
            <a:avLst/>
            <a:gdLst/>
            <a:ahLst/>
            <a:cxnLst/>
            <a:rect r="r" b="b" t="t" l="l"/>
            <a:pathLst>
              <a:path h="5085694" w="4723339">
                <a:moveTo>
                  <a:pt x="0" y="0"/>
                </a:moveTo>
                <a:lnTo>
                  <a:pt x="4723339" y="0"/>
                </a:lnTo>
                <a:lnTo>
                  <a:pt x="4723339" y="5085694"/>
                </a:lnTo>
                <a:lnTo>
                  <a:pt x="0" y="5085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75866">
            <a:off x="-2097807" y="-2625064"/>
            <a:ext cx="3880556" cy="5446395"/>
          </a:xfrm>
          <a:custGeom>
            <a:avLst/>
            <a:gdLst/>
            <a:ahLst/>
            <a:cxnLst/>
            <a:rect r="r" b="b" t="t" l="l"/>
            <a:pathLst>
              <a:path h="5446395" w="3880556">
                <a:moveTo>
                  <a:pt x="0" y="0"/>
                </a:moveTo>
                <a:lnTo>
                  <a:pt x="3880556" y="0"/>
                </a:lnTo>
                <a:lnTo>
                  <a:pt x="3880556" y="5446395"/>
                </a:lnTo>
                <a:lnTo>
                  <a:pt x="0" y="5446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575845" y="416661"/>
            <a:ext cx="7136310" cy="1224079"/>
          </a:xfrm>
          <a:prstGeom prst="rect">
            <a:avLst/>
          </a:prstGeom>
        </p:spPr>
        <p:txBody>
          <a:bodyPr anchor="t" rtlCol="false" tIns="0" lIns="0" bIns="0" rIns="0">
            <a:spAutoFit/>
          </a:bodyPr>
          <a:lstStyle/>
          <a:p>
            <a:pPr algn="l">
              <a:lnSpc>
                <a:spcPts val="9662"/>
              </a:lnSpc>
            </a:pPr>
            <a:r>
              <a:rPr lang="en-US" sz="8052">
                <a:solidFill>
                  <a:srgbClr val="FFFAFA"/>
                </a:solidFill>
                <a:latin typeface="Staatliches"/>
                <a:ea typeface="Staatliches"/>
                <a:cs typeface="Staatliches"/>
                <a:sym typeface="Staatliches"/>
              </a:rPr>
              <a:t>jurnal REFERENSI</a:t>
            </a:r>
          </a:p>
        </p:txBody>
      </p:sp>
      <p:sp>
        <p:nvSpPr>
          <p:cNvPr name="Freeform 5" id="5"/>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6" id="6"/>
          <p:cNvGraphicFramePr>
            <a:graphicFrameLocks noGrp="true"/>
          </p:cNvGraphicFramePr>
          <p:nvPr/>
        </p:nvGraphicFramePr>
        <p:xfrm>
          <a:off x="522540" y="1640739"/>
          <a:ext cx="17242921" cy="8115300"/>
        </p:xfrm>
        <a:graphic>
          <a:graphicData uri="http://schemas.openxmlformats.org/drawingml/2006/table">
            <a:tbl>
              <a:tblPr/>
              <a:tblGrid>
                <a:gridCol w="4511149"/>
                <a:gridCol w="2678022"/>
                <a:gridCol w="3024477"/>
                <a:gridCol w="2109233"/>
                <a:gridCol w="4920041"/>
              </a:tblGrid>
              <a:tr h="765594">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TAHUN TERBIT</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ALASAN MEMILIH</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JUDUL ARTIKEL</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NAMA PENULIS</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NAMA JURNAL</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2344633">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2022</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just">
                        <a:lnSpc>
                          <a:spcPts val="2520"/>
                        </a:lnSpc>
                        <a:defRPr/>
                      </a:pPr>
                      <a:r>
                        <a:rPr lang="en-US" sz="1800">
                          <a:solidFill>
                            <a:srgbClr val="FFFFFF"/>
                          </a:solidFill>
                          <a:latin typeface="DM Sans"/>
                          <a:ea typeface="DM Sans"/>
                          <a:cs typeface="DM Sans"/>
                          <a:sym typeface="DM Sans"/>
                        </a:rPr>
                        <a:t>MEMBAHAS EKSTRAKSI NILAI WARNA</a:t>
                      </a:r>
                      <a:endParaRPr lang="en-US" sz="1100"/>
                    </a:p>
                    <a:p>
                      <a:pPr algn="just">
                        <a:lnSpc>
                          <a:spcPts val="2520"/>
                        </a:lnSpc>
                      </a:pPr>
                      <a:r>
                        <a:rPr lang="en-US" sz="1800">
                          <a:solidFill>
                            <a:srgbClr val="FFFFFF"/>
                          </a:solidFill>
                          <a:latin typeface="DM Sans"/>
                          <a:ea typeface="DM Sans"/>
                          <a:cs typeface="DM Sans"/>
                          <a:sym typeface="DM Sans"/>
                        </a:rPr>
                        <a:t>KULIT MERUPAKAN METODE NON-DESTRUKTIF YANG AKURAT UNTUK MEMPREDIKSI TINGKAT KEMATANGAN BUAH</a:t>
                      </a:r>
                    </a:p>
                    <a:p>
                      <a:pPr algn="just">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PREDICTION OF BANANA MATURY BASED ON THE SWEETNESS AND COLOR VALUE OF DIFFERENT SEGMENTS DURING RIPPERING</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LUKAI MA ET AL</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CURRENT RESEARCH IN FOOD SCIENCE</a:t>
                      </a:r>
                      <a:endParaRPr lang="en-US" sz="1100"/>
                    </a:p>
                    <a:p>
                      <a:pPr algn="l">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2660440">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2023</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just">
                        <a:lnSpc>
                          <a:spcPts val="2520"/>
                        </a:lnSpc>
                        <a:defRPr/>
                      </a:pPr>
                      <a:r>
                        <a:rPr lang="en-US" sz="1800">
                          <a:solidFill>
                            <a:srgbClr val="FFFFFF"/>
                          </a:solidFill>
                          <a:latin typeface="DM Sans"/>
                          <a:ea typeface="DM Sans"/>
                          <a:cs typeface="DM Sans"/>
                          <a:sym typeface="DM Sans"/>
                        </a:rPr>
                        <a:t>MENUNJUKKAN PENGGUNAAN IMAGE ANALYSIS (ANALISIS GAMBAR/PIKSEL) UNTUK MENGEKSTRAK PARAMETER WARNA UNTUK MENGHILANGKAN SUBJEKTIFITAS MANUSIA DALAM PENILAIAN KUALITAS</a:t>
                      </a:r>
                      <a:endParaRPr lang="en-US" sz="1100"/>
                    </a:p>
                    <a:p>
                      <a:pPr algn="just">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QUALITY ASSESMENT OF BANANA RIPENING STAGES BY COMBINING ANALYTICAL METHODS AND IMAGE ANALYSIS</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endParaRPr lang="en-US" sz="1100"/>
                    </a:p>
                    <a:p>
                      <a:pPr algn="l">
                        <a:lnSpc>
                          <a:spcPts val="2520"/>
                        </a:lnSpc>
                      </a:pPr>
                      <a:r>
                        <a:rPr lang="en-US" sz="1800">
                          <a:solidFill>
                            <a:srgbClr val="FFFFFF"/>
                          </a:solidFill>
                          <a:latin typeface="DM Sans"/>
                          <a:ea typeface="DM Sans"/>
                          <a:cs typeface="DM Sans"/>
                          <a:sym typeface="DM Sans"/>
                        </a:rPr>
                        <a:t>VASSILIA J. SINANOGLU ET AL</a:t>
                      </a:r>
                    </a:p>
                    <a:p>
                      <a:pPr algn="l">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APPLIED SCIENCE</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2344633">
                <a:tc>
                  <a:txBody>
                    <a:bodyPr anchor="t" rtlCol="false"/>
                    <a:lstStyle/>
                    <a:p>
                      <a:pPr algn="ctr">
                        <a:lnSpc>
                          <a:spcPts val="2520"/>
                        </a:lnSpc>
                        <a:defRPr/>
                      </a:pPr>
                      <a:r>
                        <a:rPr lang="en-US" sz="1800">
                          <a:solidFill>
                            <a:srgbClr val="FFFFFF"/>
                          </a:solidFill>
                          <a:latin typeface="DM Sans"/>
                          <a:ea typeface="DM Sans"/>
                          <a:cs typeface="DM Sans"/>
                          <a:sym typeface="DM Sans"/>
                        </a:rPr>
                        <a:t>2023</a:t>
                      </a:r>
                      <a:endParaRPr lang="en-US" sz="1100"/>
                    </a:p>
                    <a:p>
                      <a:pPr algn="ctr">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just">
                        <a:lnSpc>
                          <a:spcPts val="2520"/>
                        </a:lnSpc>
                        <a:defRPr/>
                      </a:pPr>
                      <a:r>
                        <a:rPr lang="en-US" sz="1800">
                          <a:solidFill>
                            <a:srgbClr val="FFFFFF"/>
                          </a:solidFill>
                          <a:latin typeface="DM Sans"/>
                          <a:ea typeface="DM Sans"/>
                          <a:cs typeface="DM Sans"/>
                          <a:sym typeface="DM Sans"/>
                        </a:rPr>
                        <a:t>MENUNJUKKAN URGENSI PENANGANAN MASALAH POST-HARVEST LOSS DAN MEMVALIDASI POSISI ALGORITMA TRADISIONAL SEPERTI SVM SEBAGAI BASELINE KLASIFIKASI YANG TANGGUH</a:t>
                      </a:r>
                      <a:endParaRPr lang="en-US" sz="1100"/>
                    </a:p>
                    <a:p>
                      <a:pPr algn="just">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DEEP LEARNING BASED INTELLIGENT IDENTIFICATION SYSTEM FOR RIPERING STAGES OF BANANA</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THAYUMANAVAN SHUPRAJHAA ET AL</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POSTHARVEST BIOLOGY AND TECHNOLOGY</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bl>
          </a:graphicData>
        </a:graphic>
      </p:graphicFrame>
      <p:sp>
        <p:nvSpPr>
          <p:cNvPr name="TextBox 7" id="7"/>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16621575" y="7744153"/>
            <a:ext cx="4723339" cy="5085694"/>
          </a:xfrm>
          <a:custGeom>
            <a:avLst/>
            <a:gdLst/>
            <a:ahLst/>
            <a:cxnLst/>
            <a:rect r="r" b="b" t="t" l="l"/>
            <a:pathLst>
              <a:path h="5085694" w="4723339">
                <a:moveTo>
                  <a:pt x="0" y="0"/>
                </a:moveTo>
                <a:lnTo>
                  <a:pt x="4723339" y="0"/>
                </a:lnTo>
                <a:lnTo>
                  <a:pt x="4723339" y="5085694"/>
                </a:lnTo>
                <a:lnTo>
                  <a:pt x="0" y="5085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75866">
            <a:off x="-2097807" y="-2625064"/>
            <a:ext cx="3880556" cy="5446395"/>
          </a:xfrm>
          <a:custGeom>
            <a:avLst/>
            <a:gdLst/>
            <a:ahLst/>
            <a:cxnLst/>
            <a:rect r="r" b="b" t="t" l="l"/>
            <a:pathLst>
              <a:path h="5446395" w="3880556">
                <a:moveTo>
                  <a:pt x="0" y="0"/>
                </a:moveTo>
                <a:lnTo>
                  <a:pt x="3880556" y="0"/>
                </a:lnTo>
                <a:lnTo>
                  <a:pt x="3880556" y="5446395"/>
                </a:lnTo>
                <a:lnTo>
                  <a:pt x="0" y="5446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788841" y="565961"/>
            <a:ext cx="7136310" cy="1224079"/>
          </a:xfrm>
          <a:prstGeom prst="rect">
            <a:avLst/>
          </a:prstGeom>
        </p:spPr>
        <p:txBody>
          <a:bodyPr anchor="t" rtlCol="false" tIns="0" lIns="0" bIns="0" rIns="0">
            <a:spAutoFit/>
          </a:bodyPr>
          <a:lstStyle/>
          <a:p>
            <a:pPr algn="l">
              <a:lnSpc>
                <a:spcPts val="9662"/>
              </a:lnSpc>
            </a:pPr>
            <a:r>
              <a:rPr lang="en-US" sz="8052">
                <a:solidFill>
                  <a:srgbClr val="FFFAFA"/>
                </a:solidFill>
                <a:latin typeface="Staatliches"/>
                <a:ea typeface="Staatliches"/>
                <a:cs typeface="Staatliches"/>
                <a:sym typeface="Staatliches"/>
              </a:rPr>
              <a:t>jurnal REFERENSI</a:t>
            </a:r>
          </a:p>
        </p:txBody>
      </p:sp>
      <p:sp>
        <p:nvSpPr>
          <p:cNvPr name="Freeform 5" id="5"/>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6" id="6"/>
          <p:cNvGraphicFramePr>
            <a:graphicFrameLocks noGrp="true"/>
          </p:cNvGraphicFramePr>
          <p:nvPr/>
        </p:nvGraphicFramePr>
        <p:xfrm>
          <a:off x="522540" y="2250034"/>
          <a:ext cx="17242921" cy="5786933"/>
        </p:xfrm>
        <a:graphic>
          <a:graphicData uri="http://schemas.openxmlformats.org/drawingml/2006/table">
            <a:tbl>
              <a:tblPr/>
              <a:tblGrid>
                <a:gridCol w="4511149"/>
                <a:gridCol w="2678022"/>
                <a:gridCol w="3024477"/>
                <a:gridCol w="2109233"/>
                <a:gridCol w="4920041"/>
              </a:tblGrid>
              <a:tr h="767050">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TAHUN TERBIT</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ALASAN MEMILIH</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JUDUL ARTIKEL</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NAMA PENULIS</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DM Sans Bold"/>
                          <a:ea typeface="DM Sans Bold"/>
                          <a:cs typeface="DM Sans Bold"/>
                          <a:sym typeface="DM Sans Bold"/>
                        </a:rPr>
                        <a:t>NAMA JURNAL</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2354384">
                <a:tc>
                  <a:txBody>
                    <a:bodyPr anchor="t" rtlCol="false"/>
                    <a:lstStyle/>
                    <a:p>
                      <a:pPr algn="ctr">
                        <a:lnSpc>
                          <a:spcPts val="2520"/>
                        </a:lnSpc>
                        <a:defRPr/>
                      </a:pPr>
                      <a:r>
                        <a:rPr lang="en-US" sz="1800">
                          <a:solidFill>
                            <a:srgbClr val="FFFFFF"/>
                          </a:solidFill>
                          <a:latin typeface="DM Sans"/>
                          <a:ea typeface="DM Sans"/>
                          <a:cs typeface="DM Sans"/>
                          <a:sym typeface="DM Sans"/>
                        </a:rPr>
                        <a:t>2025</a:t>
                      </a:r>
                      <a:endParaRPr lang="en-US" sz="1100"/>
                    </a:p>
                    <a:p>
                      <a:pPr algn="ctr">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just">
                        <a:lnSpc>
                          <a:spcPts val="2520"/>
                        </a:lnSpc>
                        <a:defRPr/>
                      </a:pPr>
                      <a:r>
                        <a:rPr lang="en-US" sz="1800">
                          <a:solidFill>
                            <a:srgbClr val="FFFFFF"/>
                          </a:solidFill>
                          <a:latin typeface="DM Sans"/>
                          <a:ea typeface="DM Sans"/>
                          <a:cs typeface="DM Sans"/>
                          <a:sym typeface="DM Sans"/>
                        </a:rPr>
                        <a:t>MEMBUKTIKAN EFISIENSI ALGORITMA KLASIK (SVM) DALAM MENGHASILKAN KLASIFIKASI DENGAN AKURASI TINGGI (&gt;96%) UNTUK KEBUTUHAN INDUSTRY BERBIAYA RENDAH (LOW-COST)</a:t>
                      </a:r>
                      <a:endParaRPr lang="en-US" sz="1100"/>
                    </a:p>
                    <a:p>
                      <a:pPr algn="just">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LOW-COST, MUNTISENSOR NONDESTRUKTIF BANANA RIPENESS ESTIMATION USING MACHINE LEARNING</a:t>
                      </a:r>
                      <a:endParaRPr lang="en-US" sz="1100"/>
                    </a:p>
                    <a:p>
                      <a:pPr algn="l">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DM Sans"/>
                          <a:ea typeface="DM Sans"/>
                          <a:cs typeface="DM Sans"/>
                          <a:sym typeface="DM Sans"/>
                        </a:rPr>
                        <a:t>KRISTIAN M. S. CALLAGHAN AND URIEL MARTINEZ-HERNANDEZ</a:t>
                      </a:r>
                      <a:endParaRPr lang="en-US" sz="1100"/>
                    </a:p>
                    <a:p>
                      <a:pPr algn="ctr">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IEEE SENSORS JOURNAL</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2665499">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2023</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just">
                        <a:lnSpc>
                          <a:spcPts val="2520"/>
                        </a:lnSpc>
                        <a:defRPr/>
                      </a:pPr>
                      <a:r>
                        <a:rPr lang="en-US" sz="1800">
                          <a:solidFill>
                            <a:srgbClr val="FFFFFF"/>
                          </a:solidFill>
                          <a:latin typeface="DM Sans"/>
                          <a:ea typeface="DM Sans"/>
                          <a:cs typeface="DM Sans"/>
                          <a:sym typeface="DM Sans"/>
                        </a:rPr>
                        <a:t>MENGENAI ULASAN SISTEMATIS YANG MENEGASKAN BAHWA SHALLOW LEARNING (SEPERTI SVM) YANG DIPADUKAN DENGAN RUANG WARNA MURNI ADALAH METODE PALING EFEKTIF DALAM KLASIFIKASI BUAH CERDAS</a:t>
                      </a:r>
                      <a:endParaRPr lang="en-US" sz="1100"/>
                    </a:p>
                    <a:p>
                      <a:pPr algn="just">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DM Sans"/>
                          <a:ea typeface="DM Sans"/>
                          <a:cs typeface="DM Sans"/>
                          <a:sym typeface="DM Sans"/>
                        </a:rPr>
                        <a:t>NON-DESTRUKTIF BANANA RIPENESS DETECTION USING SHALLOW AND DEEP LEARNING: A SYSTEMATIC REVIEW</a:t>
                      </a:r>
                      <a:endParaRPr lang="en-US" sz="1100"/>
                    </a:p>
                    <a:p>
                      <a:pPr algn="l">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PREETY BAGLAT ET AL</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endParaRPr lang="en-US" sz="1100"/>
                    </a:p>
                    <a:p>
                      <a:pPr algn="ctr">
                        <a:lnSpc>
                          <a:spcPts val="2520"/>
                        </a:lnSpc>
                      </a:pPr>
                      <a:r>
                        <a:rPr lang="en-US" sz="1800">
                          <a:solidFill>
                            <a:srgbClr val="FFFFFF"/>
                          </a:solidFill>
                          <a:latin typeface="DM Sans"/>
                          <a:ea typeface="DM Sans"/>
                          <a:cs typeface="DM Sans"/>
                          <a:sym typeface="DM Sans"/>
                        </a:rPr>
                        <a:t>  SENSORS</a:t>
                      </a:r>
                    </a:p>
                    <a:p>
                      <a:pPr algn="ctr">
                        <a:lnSpc>
                          <a:spcPts val="2520"/>
                        </a:lnSpc>
                      </a:pPr>
                      <a:r>
                        <a:rPr lang="en-US" sz="1800">
                          <a:solidFill>
                            <a:srgbClr val="FFFFFF"/>
                          </a:solidFill>
                          <a:latin typeface="DM Sans"/>
                          <a:ea typeface="DM Sans"/>
                          <a:cs typeface="DM Sans"/>
                          <a:sym typeface="DM Sans"/>
                        </a:rPr>
                        <a:t>  </a:t>
                      </a: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bl>
          </a:graphicData>
        </a:graphic>
      </p:graphicFrame>
      <p:sp>
        <p:nvSpPr>
          <p:cNvPr name="TextBox 7" id="7"/>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true" rot="9913725">
            <a:off x="1323421" y="8471814"/>
            <a:ext cx="4574582" cy="2904860"/>
          </a:xfrm>
          <a:custGeom>
            <a:avLst/>
            <a:gdLst/>
            <a:ahLst/>
            <a:cxnLst/>
            <a:rect r="r" b="b" t="t" l="l"/>
            <a:pathLst>
              <a:path h="2904860" w="4574582">
                <a:moveTo>
                  <a:pt x="0" y="2904860"/>
                </a:moveTo>
                <a:lnTo>
                  <a:pt x="4574582" y="2904860"/>
                </a:lnTo>
                <a:lnTo>
                  <a:pt x="4574582" y="0"/>
                </a:lnTo>
                <a:lnTo>
                  <a:pt x="0" y="0"/>
                </a:lnTo>
                <a:lnTo>
                  <a:pt x="0" y="290486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899011">
            <a:off x="-2292099" y="-1162082"/>
            <a:ext cx="4584199" cy="4137240"/>
          </a:xfrm>
          <a:custGeom>
            <a:avLst/>
            <a:gdLst/>
            <a:ahLst/>
            <a:cxnLst/>
            <a:rect r="r" b="b" t="t" l="l"/>
            <a:pathLst>
              <a:path h="4137240" w="4584199">
                <a:moveTo>
                  <a:pt x="4584198" y="0"/>
                </a:moveTo>
                <a:lnTo>
                  <a:pt x="0" y="0"/>
                </a:lnTo>
                <a:lnTo>
                  <a:pt x="0" y="4137240"/>
                </a:lnTo>
                <a:lnTo>
                  <a:pt x="4584198" y="4137240"/>
                </a:lnTo>
                <a:lnTo>
                  <a:pt x="458419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975980" y="635362"/>
            <a:ext cx="8928945" cy="1495425"/>
          </a:xfrm>
          <a:prstGeom prst="rect">
            <a:avLst/>
          </a:prstGeom>
        </p:spPr>
        <p:txBody>
          <a:bodyPr anchor="t" rtlCol="false" tIns="0" lIns="0" bIns="0" rIns="0">
            <a:spAutoFit/>
          </a:bodyPr>
          <a:lstStyle/>
          <a:p>
            <a:pPr algn="l">
              <a:lnSpc>
                <a:spcPts val="11880"/>
              </a:lnSpc>
            </a:pPr>
            <a:r>
              <a:rPr lang="en-US" sz="9900">
                <a:solidFill>
                  <a:srgbClr val="FFFAFA"/>
                </a:solidFill>
                <a:latin typeface="Staatliches"/>
                <a:ea typeface="Staatliches"/>
                <a:cs typeface="Staatliches"/>
                <a:sym typeface="Staatliches"/>
              </a:rPr>
              <a:t>Metode &amp; dataset</a:t>
            </a:r>
          </a:p>
        </p:txBody>
      </p:sp>
      <p:sp>
        <p:nvSpPr>
          <p:cNvPr name="TextBox 5" id="5"/>
          <p:cNvSpPr txBox="true"/>
          <p:nvPr/>
        </p:nvSpPr>
        <p:spPr>
          <a:xfrm rot="0">
            <a:off x="1223234" y="2529644"/>
            <a:ext cx="7505492" cy="3847717"/>
          </a:xfrm>
          <a:prstGeom prst="rect">
            <a:avLst/>
          </a:prstGeom>
        </p:spPr>
        <p:txBody>
          <a:bodyPr anchor="t" rtlCol="false" tIns="0" lIns="0" bIns="0" rIns="0">
            <a:spAutoFit/>
          </a:bodyPr>
          <a:lstStyle/>
          <a:p>
            <a:pPr algn="just">
              <a:lnSpc>
                <a:spcPts val="3834"/>
              </a:lnSpc>
            </a:pPr>
            <a:r>
              <a:rPr lang="en-US" sz="2130" b="true">
                <a:solidFill>
                  <a:srgbClr val="FFFAFA"/>
                </a:solidFill>
                <a:latin typeface="DM Sans Bold"/>
                <a:ea typeface="DM Sans Bold"/>
                <a:cs typeface="DM Sans Bold"/>
                <a:sym typeface="DM Sans Bold"/>
              </a:rPr>
              <a:t>Metode:</a:t>
            </a:r>
          </a:p>
          <a:p>
            <a:pPr algn="just" marL="459873" indent="-229937" lvl="1">
              <a:lnSpc>
                <a:spcPts val="3834"/>
              </a:lnSpc>
              <a:buFont typeface="Arial"/>
              <a:buChar char="•"/>
            </a:pPr>
            <a:r>
              <a:rPr lang="en-US" b="true" sz="2130">
                <a:solidFill>
                  <a:srgbClr val="FFFAFA"/>
                </a:solidFill>
                <a:latin typeface="DM Sans Bold"/>
                <a:ea typeface="DM Sans Bold"/>
                <a:cs typeface="DM Sans Bold"/>
                <a:sym typeface="DM Sans Bold"/>
              </a:rPr>
              <a:t>HSV (Hue, Saturation, Value): </a:t>
            </a:r>
            <a:r>
              <a:rPr lang="en-US" sz="2130">
                <a:solidFill>
                  <a:srgbClr val="FFFAFA"/>
                </a:solidFill>
                <a:latin typeface="DM Sans"/>
                <a:ea typeface="DM Sans"/>
                <a:cs typeface="DM Sans"/>
                <a:sym typeface="DM Sans"/>
              </a:rPr>
              <a:t>Mampu memisahkan informasi warna murni (Hue) dari gangguan intensitas cahaya atau bayangan.</a:t>
            </a:r>
          </a:p>
          <a:p>
            <a:pPr algn="just" marL="459873" indent="-229937" lvl="1">
              <a:lnSpc>
                <a:spcPts val="3834"/>
              </a:lnSpc>
              <a:buFont typeface="Arial"/>
              <a:buChar char="•"/>
            </a:pPr>
            <a:r>
              <a:rPr lang="en-US" b="true" sz="2130">
                <a:solidFill>
                  <a:srgbClr val="FFFAFA"/>
                </a:solidFill>
                <a:latin typeface="DM Sans Bold"/>
                <a:ea typeface="DM Sans Bold"/>
                <a:cs typeface="DM Sans Bold"/>
                <a:sym typeface="DM Sans Bold"/>
              </a:rPr>
              <a:t>Support Vector Machine (SVM): </a:t>
            </a:r>
            <a:r>
              <a:rPr lang="en-US" sz="2130">
                <a:solidFill>
                  <a:srgbClr val="FFFAFA"/>
                </a:solidFill>
                <a:latin typeface="DM Sans"/>
                <a:ea typeface="DM Sans"/>
                <a:cs typeface="DM Sans"/>
                <a:sym typeface="DM Sans"/>
              </a:rPr>
              <a:t>Algoritma yang sangat efisien untuk dataset dimensi menengah. Bekerja dengan mencari bidang pemisah (Hyperplane) paling optimal antar kelas.</a:t>
            </a:r>
          </a:p>
        </p:txBody>
      </p:sp>
      <p:sp>
        <p:nvSpPr>
          <p:cNvPr name="TextBox 6" id="6"/>
          <p:cNvSpPr txBox="true"/>
          <p:nvPr/>
        </p:nvSpPr>
        <p:spPr>
          <a:xfrm rot="0">
            <a:off x="9440453" y="2529644"/>
            <a:ext cx="7505492" cy="3361942"/>
          </a:xfrm>
          <a:prstGeom prst="rect">
            <a:avLst/>
          </a:prstGeom>
        </p:spPr>
        <p:txBody>
          <a:bodyPr anchor="t" rtlCol="false" tIns="0" lIns="0" bIns="0" rIns="0">
            <a:spAutoFit/>
          </a:bodyPr>
          <a:lstStyle/>
          <a:p>
            <a:pPr algn="just">
              <a:lnSpc>
                <a:spcPts val="3834"/>
              </a:lnSpc>
            </a:pPr>
            <a:r>
              <a:rPr lang="en-US" sz="2130" b="true">
                <a:solidFill>
                  <a:srgbClr val="FFFAFA"/>
                </a:solidFill>
                <a:latin typeface="DM Sans Bold"/>
                <a:ea typeface="DM Sans Bold"/>
                <a:cs typeface="DM Sans Bold"/>
                <a:sym typeface="DM Sans Bold"/>
              </a:rPr>
              <a:t>Dataset:</a:t>
            </a:r>
          </a:p>
          <a:p>
            <a:pPr algn="just" marL="459873" indent="-229937" lvl="1">
              <a:lnSpc>
                <a:spcPts val="3834"/>
              </a:lnSpc>
              <a:buFont typeface="Arial"/>
              <a:buChar char="•"/>
            </a:pPr>
            <a:r>
              <a:rPr lang="en-US" b="true" sz="2130">
                <a:solidFill>
                  <a:srgbClr val="FFFAFA"/>
                </a:solidFill>
                <a:latin typeface="DM Sans Bold"/>
                <a:ea typeface="DM Sans Bold"/>
                <a:cs typeface="DM Sans Bold"/>
                <a:sym typeface="DM Sans Bold"/>
              </a:rPr>
              <a:t>Total Data: </a:t>
            </a:r>
            <a:r>
              <a:rPr lang="en-US" sz="2130">
                <a:solidFill>
                  <a:srgbClr val="FFFAFA"/>
                </a:solidFill>
                <a:latin typeface="DM Sans"/>
                <a:ea typeface="DM Sans"/>
                <a:cs typeface="DM Sans"/>
                <a:sym typeface="DM Sans"/>
              </a:rPr>
              <a:t>360 citra (Hasil augmentasi dari 120 gambar asli).</a:t>
            </a:r>
          </a:p>
          <a:p>
            <a:pPr algn="just" marL="459873" indent="-229937" lvl="1">
              <a:lnSpc>
                <a:spcPts val="3834"/>
              </a:lnSpc>
              <a:buFont typeface="Arial"/>
              <a:buChar char="•"/>
            </a:pPr>
            <a:r>
              <a:rPr lang="en-US" b="true" sz="2130">
                <a:solidFill>
                  <a:srgbClr val="FFFAFA"/>
                </a:solidFill>
                <a:latin typeface="DM Sans Bold"/>
                <a:ea typeface="DM Sans Bold"/>
                <a:cs typeface="DM Sans Bold"/>
                <a:sym typeface="DM Sans Bold"/>
              </a:rPr>
              <a:t>Pembagian Kelas: </a:t>
            </a:r>
            <a:r>
              <a:rPr lang="en-US" sz="2130">
                <a:solidFill>
                  <a:srgbClr val="FFFAFA"/>
                </a:solidFill>
                <a:latin typeface="DM Sans"/>
                <a:ea typeface="DM Sans"/>
                <a:cs typeface="DM Sans"/>
                <a:sym typeface="DM Sans"/>
              </a:rPr>
              <a:t>Mentah: 120 gambar, Setengah Matang: 120 gambar, dan Matang: 120 gambar.</a:t>
            </a:r>
          </a:p>
          <a:p>
            <a:pPr algn="just" marL="459873" indent="-229937" lvl="1">
              <a:lnSpc>
                <a:spcPts val="3834"/>
              </a:lnSpc>
              <a:buFont typeface="Arial"/>
              <a:buChar char="•"/>
            </a:pPr>
            <a:r>
              <a:rPr lang="en-US" b="true" sz="2130">
                <a:solidFill>
                  <a:srgbClr val="FFFAFA"/>
                </a:solidFill>
                <a:latin typeface="DM Sans Bold"/>
                <a:ea typeface="DM Sans Bold"/>
                <a:cs typeface="DM Sans Bold"/>
                <a:sym typeface="DM Sans Bold"/>
              </a:rPr>
              <a:t>Pembagian Data: </a:t>
            </a:r>
            <a:r>
              <a:rPr lang="en-US" sz="2130">
                <a:solidFill>
                  <a:srgbClr val="FFFAFA"/>
                </a:solidFill>
                <a:latin typeface="DM Sans"/>
                <a:ea typeface="DM Sans"/>
                <a:cs typeface="DM Sans"/>
                <a:sym typeface="DM Sans"/>
              </a:rPr>
              <a:t>80% Data Latih (288 gambar) dan 20% Data Uji (72 gambar).</a:t>
            </a:r>
          </a:p>
        </p:txBody>
      </p:sp>
      <p:sp>
        <p:nvSpPr>
          <p:cNvPr name="Freeform 7" id="7"/>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
        <p:nvSpPr>
          <p:cNvPr name="Freeform 9" id="9"/>
          <p:cNvSpPr/>
          <p:nvPr/>
        </p:nvSpPr>
        <p:spPr>
          <a:xfrm flipH="false" flipV="false" rot="0">
            <a:off x="13269142" y="6313963"/>
            <a:ext cx="2734553" cy="2944337"/>
          </a:xfrm>
          <a:custGeom>
            <a:avLst/>
            <a:gdLst/>
            <a:ahLst/>
            <a:cxnLst/>
            <a:rect r="r" b="b" t="t" l="l"/>
            <a:pathLst>
              <a:path h="2944337" w="2734553">
                <a:moveTo>
                  <a:pt x="0" y="0"/>
                </a:moveTo>
                <a:lnTo>
                  <a:pt x="2734553" y="0"/>
                </a:lnTo>
                <a:lnTo>
                  <a:pt x="2734553" y="2944337"/>
                </a:lnTo>
                <a:lnTo>
                  <a:pt x="0" y="29443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2785966" y="6313963"/>
            <a:ext cx="2969528" cy="2656127"/>
            <a:chOff x="0" y="0"/>
            <a:chExt cx="1174310" cy="1050374"/>
          </a:xfrm>
        </p:grpSpPr>
        <p:sp>
          <p:nvSpPr>
            <p:cNvPr name="Freeform 11" id="11"/>
            <p:cNvSpPr/>
            <p:nvPr/>
          </p:nvSpPr>
          <p:spPr>
            <a:xfrm flipH="false" flipV="false" rot="0">
              <a:off x="0" y="0"/>
              <a:ext cx="1174310" cy="1050374"/>
            </a:xfrm>
            <a:custGeom>
              <a:avLst/>
              <a:gdLst/>
              <a:ahLst/>
              <a:cxnLst/>
              <a:rect r="r" b="b" t="t" l="l"/>
              <a:pathLst>
                <a:path h="1050374" w="1174310">
                  <a:moveTo>
                    <a:pt x="0" y="0"/>
                  </a:moveTo>
                  <a:lnTo>
                    <a:pt x="1174310" y="0"/>
                  </a:lnTo>
                  <a:lnTo>
                    <a:pt x="1174310" y="1050374"/>
                  </a:lnTo>
                  <a:lnTo>
                    <a:pt x="0" y="1050374"/>
                  </a:lnTo>
                  <a:close/>
                </a:path>
              </a:pathLst>
            </a:custGeom>
            <a:blipFill>
              <a:blip r:embed="rId10"/>
              <a:stretch>
                <a:fillRect l="-17126" t="0" r="-17126"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TextBox 2" id="2"/>
          <p:cNvSpPr txBox="true"/>
          <p:nvPr/>
        </p:nvSpPr>
        <p:spPr>
          <a:xfrm rot="0">
            <a:off x="4815737" y="526759"/>
            <a:ext cx="8656525" cy="1495425"/>
          </a:xfrm>
          <a:prstGeom prst="rect">
            <a:avLst/>
          </a:prstGeom>
        </p:spPr>
        <p:txBody>
          <a:bodyPr anchor="t" rtlCol="false" tIns="0" lIns="0" bIns="0" rIns="0">
            <a:spAutoFit/>
          </a:bodyPr>
          <a:lstStyle/>
          <a:p>
            <a:pPr algn="l">
              <a:lnSpc>
                <a:spcPts val="11880"/>
              </a:lnSpc>
            </a:pPr>
            <a:r>
              <a:rPr lang="en-US" sz="9900">
                <a:solidFill>
                  <a:srgbClr val="FFFAFA"/>
                </a:solidFill>
                <a:latin typeface="Staatliches"/>
                <a:ea typeface="Staatliches"/>
                <a:cs typeface="Staatliches"/>
                <a:sym typeface="Staatliches"/>
              </a:rPr>
              <a:t>tahap penelitian</a:t>
            </a:r>
          </a:p>
        </p:txBody>
      </p:sp>
      <p:sp>
        <p:nvSpPr>
          <p:cNvPr name="Freeform 3" id="3"/>
          <p:cNvSpPr/>
          <p:nvPr/>
        </p:nvSpPr>
        <p:spPr>
          <a:xfrm flipH="false" flipV="false" rot="0">
            <a:off x="1028700" y="4662737"/>
            <a:ext cx="4532026" cy="4879705"/>
          </a:xfrm>
          <a:custGeom>
            <a:avLst/>
            <a:gdLst/>
            <a:ahLst/>
            <a:cxnLst/>
            <a:rect r="r" b="b" t="t" l="l"/>
            <a:pathLst>
              <a:path h="4879705" w="4532026">
                <a:moveTo>
                  <a:pt x="0" y="0"/>
                </a:moveTo>
                <a:lnTo>
                  <a:pt x="4532026" y="0"/>
                </a:lnTo>
                <a:lnTo>
                  <a:pt x="4532026" y="4879705"/>
                </a:lnTo>
                <a:lnTo>
                  <a:pt x="0" y="4879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60417" y="2270561"/>
            <a:ext cx="4317301" cy="6779837"/>
            <a:chOff x="0" y="0"/>
            <a:chExt cx="668863" cy="1050374"/>
          </a:xfrm>
        </p:grpSpPr>
        <p:sp>
          <p:nvSpPr>
            <p:cNvPr name="Freeform 5" id="5"/>
            <p:cNvSpPr/>
            <p:nvPr/>
          </p:nvSpPr>
          <p:spPr>
            <a:xfrm flipH="false" flipV="false" rot="0">
              <a:off x="0" y="0"/>
              <a:ext cx="668863" cy="1050374"/>
            </a:xfrm>
            <a:custGeom>
              <a:avLst/>
              <a:gdLst/>
              <a:ahLst/>
              <a:cxnLst/>
              <a:rect r="r" b="b" t="t" l="l"/>
              <a:pathLst>
                <a:path h="1050374" w="668863">
                  <a:moveTo>
                    <a:pt x="0" y="0"/>
                  </a:moveTo>
                  <a:lnTo>
                    <a:pt x="668863" y="0"/>
                  </a:lnTo>
                  <a:lnTo>
                    <a:pt x="668863" y="1050374"/>
                  </a:lnTo>
                  <a:lnTo>
                    <a:pt x="0" y="1050374"/>
                  </a:lnTo>
                  <a:close/>
                </a:path>
              </a:pathLst>
            </a:custGeom>
            <a:blipFill>
              <a:blip r:embed="rId4"/>
              <a:stretch>
                <a:fillRect l="-2346" t="0" r="-2346" b="0"/>
              </a:stretch>
            </a:blipFill>
          </p:spPr>
        </p:sp>
      </p:grpSp>
      <p:sp>
        <p:nvSpPr>
          <p:cNvPr name="Freeform 6" id="6"/>
          <p:cNvSpPr/>
          <p:nvPr/>
        </p:nvSpPr>
        <p:spPr>
          <a:xfrm flipH="false" flipV="false" rot="0">
            <a:off x="14111930" y="-1552341"/>
            <a:ext cx="5845152" cy="3507091"/>
          </a:xfrm>
          <a:custGeom>
            <a:avLst/>
            <a:gdLst/>
            <a:ahLst/>
            <a:cxnLst/>
            <a:rect r="r" b="b" t="t" l="l"/>
            <a:pathLst>
              <a:path h="3507091" w="5845152">
                <a:moveTo>
                  <a:pt x="0" y="0"/>
                </a:moveTo>
                <a:lnTo>
                  <a:pt x="5845152" y="0"/>
                </a:lnTo>
                <a:lnTo>
                  <a:pt x="5845152" y="3507091"/>
                </a:lnTo>
                <a:lnTo>
                  <a:pt x="0" y="35070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3014115" y="6029172"/>
            <a:ext cx="2969528" cy="3021227"/>
            <a:chOff x="0" y="0"/>
            <a:chExt cx="1174310" cy="1194754"/>
          </a:xfrm>
        </p:grpSpPr>
        <p:sp>
          <p:nvSpPr>
            <p:cNvPr name="Freeform 8" id="8"/>
            <p:cNvSpPr/>
            <p:nvPr/>
          </p:nvSpPr>
          <p:spPr>
            <a:xfrm flipH="false" flipV="false" rot="0">
              <a:off x="0" y="0"/>
              <a:ext cx="1174310" cy="1194754"/>
            </a:xfrm>
            <a:custGeom>
              <a:avLst/>
              <a:gdLst/>
              <a:ahLst/>
              <a:cxnLst/>
              <a:rect r="r" b="b" t="t" l="l"/>
              <a:pathLst>
                <a:path h="1194754" w="1174310">
                  <a:moveTo>
                    <a:pt x="0" y="0"/>
                  </a:moveTo>
                  <a:lnTo>
                    <a:pt x="1174310" y="0"/>
                  </a:lnTo>
                  <a:lnTo>
                    <a:pt x="1174310" y="1194754"/>
                  </a:lnTo>
                  <a:lnTo>
                    <a:pt x="0" y="1194754"/>
                  </a:lnTo>
                  <a:close/>
                </a:path>
              </a:pathLst>
            </a:custGeom>
            <a:blipFill>
              <a:blip r:embed="rId7"/>
              <a:stretch>
                <a:fillRect l="0" t="-9639" r="0" b="-37886"/>
              </a:stretch>
            </a:blipFill>
          </p:spPr>
        </p:sp>
      </p:grpSp>
      <p:sp>
        <p:nvSpPr>
          <p:cNvPr name="Freeform 9" id="9"/>
          <p:cNvSpPr/>
          <p:nvPr/>
        </p:nvSpPr>
        <p:spPr>
          <a:xfrm flipH="false" flipV="false" rot="5467471">
            <a:off x="-2357368" y="540330"/>
            <a:ext cx="4714735" cy="2828841"/>
          </a:xfrm>
          <a:custGeom>
            <a:avLst/>
            <a:gdLst/>
            <a:ahLst/>
            <a:cxnLst/>
            <a:rect r="r" b="b" t="t" l="l"/>
            <a:pathLst>
              <a:path h="2828841" w="4714735">
                <a:moveTo>
                  <a:pt x="0" y="0"/>
                </a:moveTo>
                <a:lnTo>
                  <a:pt x="4714736" y="0"/>
                </a:lnTo>
                <a:lnTo>
                  <a:pt x="4714736" y="2828841"/>
                </a:lnTo>
                <a:lnTo>
                  <a:pt x="0" y="2828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6234021" y="2137211"/>
            <a:ext cx="10437819" cy="3624855"/>
          </a:xfrm>
          <a:prstGeom prst="rect">
            <a:avLst/>
          </a:prstGeom>
        </p:spPr>
        <p:txBody>
          <a:bodyPr anchor="t" rtlCol="false" tIns="0" lIns="0" bIns="0" rIns="0">
            <a:spAutoFit/>
          </a:bodyPr>
          <a:lstStyle/>
          <a:p>
            <a:pPr algn="just" marL="497591" indent="-248795" lvl="1">
              <a:lnSpc>
                <a:spcPts val="4148"/>
              </a:lnSpc>
              <a:buFont typeface="Arial"/>
              <a:buChar char="•"/>
            </a:pPr>
            <a:r>
              <a:rPr lang="en-US" b="true" sz="2304">
                <a:solidFill>
                  <a:srgbClr val="FFFAFA"/>
                </a:solidFill>
                <a:latin typeface="DM Sans Bold"/>
                <a:ea typeface="DM Sans Bold"/>
                <a:cs typeface="DM Sans Bold"/>
                <a:sym typeface="DM Sans Bold"/>
              </a:rPr>
              <a:t>Preprocessing</a:t>
            </a:r>
            <a:r>
              <a:rPr lang="en-US" sz="2304">
                <a:solidFill>
                  <a:srgbClr val="FFFAFA"/>
                </a:solidFill>
                <a:latin typeface="DM Sans"/>
                <a:ea typeface="DM Sans"/>
                <a:cs typeface="DM Sans"/>
                <a:sym typeface="DM Sans"/>
              </a:rPr>
              <a:t>: Ekstraksi dataset, resize ke 224x224 piksel, dan Augmentasi (Rotasi &amp; Flip).</a:t>
            </a:r>
          </a:p>
          <a:p>
            <a:pPr algn="just" marL="497591" indent="-248795" lvl="1">
              <a:lnSpc>
                <a:spcPts val="4148"/>
              </a:lnSpc>
              <a:buFont typeface="Arial"/>
              <a:buChar char="•"/>
            </a:pPr>
            <a:r>
              <a:rPr lang="en-US" b="true" sz="2304">
                <a:solidFill>
                  <a:srgbClr val="FFFAFA"/>
                </a:solidFill>
                <a:latin typeface="DM Sans Bold"/>
                <a:ea typeface="DM Sans Bold"/>
                <a:cs typeface="DM Sans Bold"/>
                <a:sym typeface="DM Sans Bold"/>
              </a:rPr>
              <a:t>Feature Extraction</a:t>
            </a:r>
            <a:r>
              <a:rPr lang="en-US" sz="2304">
                <a:solidFill>
                  <a:srgbClr val="FFFAFA"/>
                </a:solidFill>
                <a:latin typeface="DM Sans"/>
                <a:ea typeface="DM Sans"/>
                <a:cs typeface="DM Sans"/>
                <a:sym typeface="DM Sans"/>
              </a:rPr>
              <a:t>: Konversi ke HSV dan pembuatan Histogram 3D (8x8x8 bins) menghasilkan 512 fitur.</a:t>
            </a:r>
          </a:p>
          <a:p>
            <a:pPr algn="just" marL="497591" indent="-248795" lvl="1">
              <a:lnSpc>
                <a:spcPts val="4148"/>
              </a:lnSpc>
              <a:buFont typeface="Arial"/>
              <a:buChar char="•"/>
            </a:pPr>
            <a:r>
              <a:rPr lang="en-US" b="true" sz="2304">
                <a:solidFill>
                  <a:srgbClr val="FFFAFA"/>
                </a:solidFill>
                <a:latin typeface="DM Sans Bold"/>
                <a:ea typeface="DM Sans Bold"/>
                <a:cs typeface="DM Sans Bold"/>
                <a:sym typeface="DM Sans Bold"/>
              </a:rPr>
              <a:t>Scaling</a:t>
            </a:r>
            <a:r>
              <a:rPr lang="en-US" sz="2304">
                <a:solidFill>
                  <a:srgbClr val="FFFAFA"/>
                </a:solidFill>
                <a:latin typeface="DM Sans"/>
                <a:ea typeface="DM Sans"/>
                <a:cs typeface="DM Sans"/>
                <a:sym typeface="DM Sans"/>
              </a:rPr>
              <a:t>: Standarisasi fitur menggunakan StandardScaler (Z-score).</a:t>
            </a:r>
          </a:p>
          <a:p>
            <a:pPr algn="just" marL="497591" indent="-248795" lvl="1">
              <a:lnSpc>
                <a:spcPts val="4148"/>
              </a:lnSpc>
              <a:buFont typeface="Arial"/>
              <a:buChar char="•"/>
            </a:pPr>
            <a:r>
              <a:rPr lang="en-US" b="true" sz="2304">
                <a:solidFill>
                  <a:srgbClr val="FFFAFA"/>
                </a:solidFill>
                <a:latin typeface="DM Sans Bold"/>
                <a:ea typeface="DM Sans Bold"/>
                <a:cs typeface="DM Sans Bold"/>
                <a:sym typeface="DM Sans Bold"/>
              </a:rPr>
              <a:t>Training</a:t>
            </a:r>
            <a:r>
              <a:rPr lang="en-US" sz="2304">
                <a:solidFill>
                  <a:srgbClr val="FFFAFA"/>
                </a:solidFill>
                <a:latin typeface="DM Sans"/>
                <a:ea typeface="DM Sans"/>
                <a:cs typeface="DM Sans"/>
                <a:sym typeface="DM Sans"/>
              </a:rPr>
              <a:t>: Pelatihan model SVM dengan 3 skenario hyperparameter.</a:t>
            </a:r>
          </a:p>
          <a:p>
            <a:pPr algn="just" marL="497591" indent="-248795" lvl="1">
              <a:lnSpc>
                <a:spcPts val="4148"/>
              </a:lnSpc>
              <a:buFont typeface="Arial"/>
              <a:buChar char="•"/>
            </a:pPr>
            <a:r>
              <a:rPr lang="en-US" b="true" sz="2304">
                <a:solidFill>
                  <a:srgbClr val="FFFAFA"/>
                </a:solidFill>
                <a:latin typeface="DM Sans Bold"/>
                <a:ea typeface="DM Sans Bold"/>
                <a:cs typeface="DM Sans Bold"/>
                <a:sym typeface="DM Sans Bold"/>
              </a:rPr>
              <a:t>Evaluation</a:t>
            </a:r>
            <a:r>
              <a:rPr lang="en-US" sz="2304">
                <a:solidFill>
                  <a:srgbClr val="FFFAFA"/>
                </a:solidFill>
                <a:latin typeface="DM Sans"/>
                <a:ea typeface="DM Sans"/>
                <a:cs typeface="DM Sans"/>
                <a:sym typeface="DM Sans"/>
              </a:rPr>
              <a:t>: Pengujian model terbaik menggunakan Confusion Matrix.</a:t>
            </a:r>
          </a:p>
        </p:txBody>
      </p:sp>
      <p:sp>
        <p:nvSpPr>
          <p:cNvPr name="Freeform 11" id="11"/>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12172498" y="6522243"/>
            <a:ext cx="3178230" cy="3422052"/>
          </a:xfrm>
          <a:custGeom>
            <a:avLst/>
            <a:gdLst/>
            <a:ahLst/>
            <a:cxnLst/>
            <a:rect r="r" b="b" t="t" l="l"/>
            <a:pathLst>
              <a:path h="3422052" w="3178230">
                <a:moveTo>
                  <a:pt x="0" y="0"/>
                </a:moveTo>
                <a:lnTo>
                  <a:pt x="3178230" y="0"/>
                </a:lnTo>
                <a:lnTo>
                  <a:pt x="3178230" y="3422051"/>
                </a:lnTo>
                <a:lnTo>
                  <a:pt x="0" y="3422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10102" y="6522243"/>
            <a:ext cx="3178230" cy="3422052"/>
          </a:xfrm>
          <a:custGeom>
            <a:avLst/>
            <a:gdLst/>
            <a:ahLst/>
            <a:cxnLst/>
            <a:rect r="r" b="b" t="t" l="l"/>
            <a:pathLst>
              <a:path h="3422052" w="3178230">
                <a:moveTo>
                  <a:pt x="0" y="0"/>
                </a:moveTo>
                <a:lnTo>
                  <a:pt x="3178231" y="0"/>
                </a:lnTo>
                <a:lnTo>
                  <a:pt x="3178231" y="3422051"/>
                </a:lnTo>
                <a:lnTo>
                  <a:pt x="0" y="3422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2172498" y="6411288"/>
            <a:ext cx="4937242" cy="3119674"/>
            <a:chOff x="0" y="0"/>
            <a:chExt cx="2257892" cy="1426685"/>
          </a:xfrm>
        </p:grpSpPr>
        <p:sp>
          <p:nvSpPr>
            <p:cNvPr name="Freeform 5" id="5"/>
            <p:cNvSpPr/>
            <p:nvPr/>
          </p:nvSpPr>
          <p:spPr>
            <a:xfrm flipH="false" flipV="false" rot="0">
              <a:off x="0" y="0"/>
              <a:ext cx="2257892" cy="1426685"/>
            </a:xfrm>
            <a:custGeom>
              <a:avLst/>
              <a:gdLst/>
              <a:ahLst/>
              <a:cxnLst/>
              <a:rect r="r" b="b" t="t" l="l"/>
              <a:pathLst>
                <a:path h="1426685" w="2257892">
                  <a:moveTo>
                    <a:pt x="0" y="0"/>
                  </a:moveTo>
                  <a:lnTo>
                    <a:pt x="2257892" y="0"/>
                  </a:lnTo>
                  <a:lnTo>
                    <a:pt x="2257892" y="1426685"/>
                  </a:lnTo>
                  <a:lnTo>
                    <a:pt x="0" y="1426685"/>
                  </a:lnTo>
                  <a:close/>
                </a:path>
              </a:pathLst>
            </a:custGeom>
            <a:blipFill>
              <a:blip r:embed="rId4"/>
              <a:stretch>
                <a:fillRect l="0" t="-2720" r="0" b="-2720"/>
              </a:stretch>
            </a:blipFill>
          </p:spPr>
        </p:sp>
      </p:grpSp>
      <p:sp>
        <p:nvSpPr>
          <p:cNvPr name="Freeform 6" id="6"/>
          <p:cNvSpPr/>
          <p:nvPr/>
        </p:nvSpPr>
        <p:spPr>
          <a:xfrm flipH="false" flipV="false" rot="1110361">
            <a:off x="-3337686" y="-965217"/>
            <a:ext cx="5374333" cy="6360157"/>
          </a:xfrm>
          <a:custGeom>
            <a:avLst/>
            <a:gdLst/>
            <a:ahLst/>
            <a:cxnLst/>
            <a:rect r="r" b="b" t="t" l="l"/>
            <a:pathLst>
              <a:path h="6360157" w="5374333">
                <a:moveTo>
                  <a:pt x="0" y="0"/>
                </a:moveTo>
                <a:lnTo>
                  <a:pt x="5374332" y="0"/>
                </a:lnTo>
                <a:lnTo>
                  <a:pt x="5374332" y="6360157"/>
                </a:lnTo>
                <a:lnTo>
                  <a:pt x="0" y="63601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110361">
            <a:off x="15600834" y="-2786433"/>
            <a:ext cx="5374333" cy="6360157"/>
          </a:xfrm>
          <a:custGeom>
            <a:avLst/>
            <a:gdLst/>
            <a:ahLst/>
            <a:cxnLst/>
            <a:rect r="r" b="b" t="t" l="l"/>
            <a:pathLst>
              <a:path h="6360157" w="5374333">
                <a:moveTo>
                  <a:pt x="0" y="0"/>
                </a:moveTo>
                <a:lnTo>
                  <a:pt x="5374332" y="0"/>
                </a:lnTo>
                <a:lnTo>
                  <a:pt x="5374332" y="6360157"/>
                </a:lnTo>
                <a:lnTo>
                  <a:pt x="0" y="63601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043092" y="3903349"/>
            <a:ext cx="12422217" cy="1961403"/>
          </a:xfrm>
          <a:custGeom>
            <a:avLst/>
            <a:gdLst/>
            <a:ahLst/>
            <a:cxnLst/>
            <a:rect r="r" b="b" t="t" l="l"/>
            <a:pathLst>
              <a:path h="1961403" w="12422217">
                <a:moveTo>
                  <a:pt x="0" y="0"/>
                </a:moveTo>
                <a:lnTo>
                  <a:pt x="12422217" y="0"/>
                </a:lnTo>
                <a:lnTo>
                  <a:pt x="12422217" y="1961403"/>
                </a:lnTo>
                <a:lnTo>
                  <a:pt x="0" y="1961403"/>
                </a:lnTo>
                <a:lnTo>
                  <a:pt x="0" y="0"/>
                </a:lnTo>
                <a:close/>
              </a:path>
            </a:pathLst>
          </a:custGeom>
          <a:blipFill>
            <a:blip r:embed="rId7"/>
            <a:stretch>
              <a:fillRect l="0" t="0" r="0" b="0"/>
            </a:stretch>
          </a:blipFill>
        </p:spPr>
      </p:sp>
      <p:sp>
        <p:nvSpPr>
          <p:cNvPr name="TextBox 9" id="9"/>
          <p:cNvSpPr txBox="true"/>
          <p:nvPr/>
        </p:nvSpPr>
        <p:spPr>
          <a:xfrm rot="0">
            <a:off x="2907064" y="654721"/>
            <a:ext cx="12186312" cy="1560140"/>
          </a:xfrm>
          <a:prstGeom prst="rect">
            <a:avLst/>
          </a:prstGeom>
        </p:spPr>
        <p:txBody>
          <a:bodyPr anchor="t" rtlCol="false" tIns="0" lIns="0" bIns="0" rIns="0">
            <a:spAutoFit/>
          </a:bodyPr>
          <a:lstStyle/>
          <a:p>
            <a:pPr algn="l">
              <a:lnSpc>
                <a:spcPts val="12240"/>
              </a:lnSpc>
            </a:pPr>
            <a:r>
              <a:rPr lang="en-US" sz="10200">
                <a:solidFill>
                  <a:srgbClr val="FFFAFA"/>
                </a:solidFill>
                <a:latin typeface="Staatliches"/>
                <a:ea typeface="Staatliches"/>
                <a:cs typeface="Staatliches"/>
                <a:sym typeface="Staatliches"/>
              </a:rPr>
              <a:t>hasil percobaan training</a:t>
            </a:r>
          </a:p>
        </p:txBody>
      </p:sp>
      <p:sp>
        <p:nvSpPr>
          <p:cNvPr name="TextBox 10" id="10"/>
          <p:cNvSpPr txBox="true"/>
          <p:nvPr/>
        </p:nvSpPr>
        <p:spPr>
          <a:xfrm rot="0">
            <a:off x="2663245" y="3114611"/>
            <a:ext cx="13181911" cy="421239"/>
          </a:xfrm>
          <a:prstGeom prst="rect">
            <a:avLst/>
          </a:prstGeom>
        </p:spPr>
        <p:txBody>
          <a:bodyPr anchor="t" rtlCol="false" tIns="0" lIns="0" bIns="0" rIns="0">
            <a:spAutoFit/>
          </a:bodyPr>
          <a:lstStyle/>
          <a:p>
            <a:pPr algn="l">
              <a:lnSpc>
                <a:spcPts val="3650"/>
              </a:lnSpc>
            </a:pPr>
            <a:r>
              <a:rPr lang="en-US" sz="2028">
                <a:solidFill>
                  <a:srgbClr val="FFFAFA"/>
                </a:solidFill>
                <a:latin typeface="DM Sans"/>
                <a:ea typeface="DM Sans"/>
                <a:cs typeface="DM Sans"/>
                <a:sym typeface="DM Sans"/>
              </a:rPr>
              <a:t>Training mengggunakan model SVM dengan 3 skenario hyperparameter, Parameter Kernel dan Parameter C </a:t>
            </a:r>
          </a:p>
        </p:txBody>
      </p:sp>
      <p:sp>
        <p:nvSpPr>
          <p:cNvPr name="Freeform 11" id="11"/>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TextBox 2" id="2"/>
          <p:cNvSpPr txBox="true"/>
          <p:nvPr/>
        </p:nvSpPr>
        <p:spPr>
          <a:xfrm rot="0">
            <a:off x="3781460" y="520911"/>
            <a:ext cx="10725081" cy="1495425"/>
          </a:xfrm>
          <a:prstGeom prst="rect">
            <a:avLst/>
          </a:prstGeom>
        </p:spPr>
        <p:txBody>
          <a:bodyPr anchor="t" rtlCol="false" tIns="0" lIns="0" bIns="0" rIns="0">
            <a:spAutoFit/>
          </a:bodyPr>
          <a:lstStyle/>
          <a:p>
            <a:pPr algn="l">
              <a:lnSpc>
                <a:spcPts val="11880"/>
              </a:lnSpc>
            </a:pPr>
            <a:r>
              <a:rPr lang="en-US" sz="9900">
                <a:solidFill>
                  <a:srgbClr val="FFFAFA"/>
                </a:solidFill>
                <a:latin typeface="Staatliches"/>
                <a:ea typeface="Staatliches"/>
                <a:cs typeface="Staatliches"/>
                <a:sym typeface="Staatliches"/>
              </a:rPr>
              <a:t>akurasi model terbaik</a:t>
            </a:r>
          </a:p>
        </p:txBody>
      </p:sp>
      <p:sp>
        <p:nvSpPr>
          <p:cNvPr name="Freeform 3" id="3"/>
          <p:cNvSpPr/>
          <p:nvPr/>
        </p:nvSpPr>
        <p:spPr>
          <a:xfrm flipH="false" flipV="false" rot="0">
            <a:off x="-2342634" y="7303424"/>
            <a:ext cx="4780387" cy="5147119"/>
          </a:xfrm>
          <a:custGeom>
            <a:avLst/>
            <a:gdLst/>
            <a:ahLst/>
            <a:cxnLst/>
            <a:rect r="r" b="b" t="t" l="l"/>
            <a:pathLst>
              <a:path h="5147119" w="4780387">
                <a:moveTo>
                  <a:pt x="0" y="0"/>
                </a:moveTo>
                <a:lnTo>
                  <a:pt x="4780387" y="0"/>
                </a:lnTo>
                <a:lnTo>
                  <a:pt x="4780387" y="5147119"/>
                </a:lnTo>
                <a:lnTo>
                  <a:pt x="0" y="5147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452027">
            <a:off x="-3682788" y="-324494"/>
            <a:ext cx="7460695" cy="5185183"/>
          </a:xfrm>
          <a:custGeom>
            <a:avLst/>
            <a:gdLst/>
            <a:ahLst/>
            <a:cxnLst/>
            <a:rect r="r" b="b" t="t" l="l"/>
            <a:pathLst>
              <a:path h="5185183" w="7460695">
                <a:moveTo>
                  <a:pt x="0" y="0"/>
                </a:moveTo>
                <a:lnTo>
                  <a:pt x="7460695" y="0"/>
                </a:lnTo>
                <a:lnTo>
                  <a:pt x="7460695" y="5185183"/>
                </a:lnTo>
                <a:lnTo>
                  <a:pt x="0" y="51851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52027">
            <a:off x="15564937" y="6009270"/>
            <a:ext cx="7460695" cy="5185183"/>
          </a:xfrm>
          <a:custGeom>
            <a:avLst/>
            <a:gdLst/>
            <a:ahLst/>
            <a:cxnLst/>
            <a:rect r="r" b="b" t="t" l="l"/>
            <a:pathLst>
              <a:path h="5185183" w="7460695">
                <a:moveTo>
                  <a:pt x="0" y="0"/>
                </a:moveTo>
                <a:lnTo>
                  <a:pt x="7460695" y="0"/>
                </a:lnTo>
                <a:lnTo>
                  <a:pt x="7460695" y="5185183"/>
                </a:lnTo>
                <a:lnTo>
                  <a:pt x="0" y="51851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79013" y="2749046"/>
            <a:ext cx="11301259" cy="4788908"/>
          </a:xfrm>
          <a:custGeom>
            <a:avLst/>
            <a:gdLst/>
            <a:ahLst/>
            <a:cxnLst/>
            <a:rect r="r" b="b" t="t" l="l"/>
            <a:pathLst>
              <a:path h="4788908" w="11301259">
                <a:moveTo>
                  <a:pt x="0" y="0"/>
                </a:moveTo>
                <a:lnTo>
                  <a:pt x="11301259" y="0"/>
                </a:lnTo>
                <a:lnTo>
                  <a:pt x="11301259" y="4788908"/>
                </a:lnTo>
                <a:lnTo>
                  <a:pt x="0" y="4788908"/>
                </a:lnTo>
                <a:lnTo>
                  <a:pt x="0" y="0"/>
                </a:lnTo>
                <a:close/>
              </a:path>
            </a:pathLst>
          </a:custGeom>
          <a:blipFill>
            <a:blip r:embed="rId6"/>
            <a:stretch>
              <a:fillRect l="0" t="0" r="0" b="0"/>
            </a:stretch>
          </a:blipFill>
        </p:spPr>
      </p:sp>
      <p:sp>
        <p:nvSpPr>
          <p:cNvPr name="Freeform 7" id="7"/>
          <p:cNvSpPr/>
          <p:nvPr/>
        </p:nvSpPr>
        <p:spPr>
          <a:xfrm flipH="false" flipV="false" rot="0">
            <a:off x="7457048" y="98134"/>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7952334" y="98134"/>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
        <p:nvSpPr>
          <p:cNvPr name="Freeform 9" id="9"/>
          <p:cNvSpPr/>
          <p:nvPr/>
        </p:nvSpPr>
        <p:spPr>
          <a:xfrm flipH="false" flipV="false" rot="0">
            <a:off x="12200711" y="2749046"/>
            <a:ext cx="5609263" cy="4788908"/>
          </a:xfrm>
          <a:custGeom>
            <a:avLst/>
            <a:gdLst/>
            <a:ahLst/>
            <a:cxnLst/>
            <a:rect r="r" b="b" t="t" l="l"/>
            <a:pathLst>
              <a:path h="4788908" w="5609263">
                <a:moveTo>
                  <a:pt x="0" y="0"/>
                </a:moveTo>
                <a:lnTo>
                  <a:pt x="5609263" y="0"/>
                </a:lnTo>
                <a:lnTo>
                  <a:pt x="5609263" y="4788908"/>
                </a:lnTo>
                <a:lnTo>
                  <a:pt x="0" y="4788908"/>
                </a:lnTo>
                <a:lnTo>
                  <a:pt x="0" y="0"/>
                </a:lnTo>
                <a:close/>
              </a:path>
            </a:pathLst>
          </a:custGeom>
          <a:blipFill>
            <a:blip r:embed="rId9"/>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9547288" y="6960367"/>
            <a:ext cx="3790568" cy="3686327"/>
          </a:xfrm>
          <a:custGeom>
            <a:avLst/>
            <a:gdLst/>
            <a:ahLst/>
            <a:cxnLst/>
            <a:rect r="r" b="b" t="t" l="l"/>
            <a:pathLst>
              <a:path h="3686327" w="3790568">
                <a:moveTo>
                  <a:pt x="0" y="0"/>
                </a:moveTo>
                <a:lnTo>
                  <a:pt x="3790567" y="0"/>
                </a:lnTo>
                <a:lnTo>
                  <a:pt x="3790567" y="3686327"/>
                </a:lnTo>
                <a:lnTo>
                  <a:pt x="0" y="3686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7648" y="412146"/>
            <a:ext cx="4381439" cy="2628863"/>
          </a:xfrm>
          <a:custGeom>
            <a:avLst/>
            <a:gdLst/>
            <a:ahLst/>
            <a:cxnLst/>
            <a:rect r="r" b="b" t="t" l="l"/>
            <a:pathLst>
              <a:path h="2628863" w="4381439">
                <a:moveTo>
                  <a:pt x="0" y="0"/>
                </a:moveTo>
                <a:lnTo>
                  <a:pt x="4381439" y="0"/>
                </a:lnTo>
                <a:lnTo>
                  <a:pt x="4381439" y="2628864"/>
                </a:lnTo>
                <a:lnTo>
                  <a:pt x="0" y="26288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442571" y="1726578"/>
            <a:ext cx="5246370" cy="7690789"/>
            <a:chOff x="0" y="0"/>
            <a:chExt cx="812800" cy="1191505"/>
          </a:xfrm>
        </p:grpSpPr>
        <p:sp>
          <p:nvSpPr>
            <p:cNvPr name="Freeform 5" id="5"/>
            <p:cNvSpPr/>
            <p:nvPr/>
          </p:nvSpPr>
          <p:spPr>
            <a:xfrm flipH="false" flipV="false" rot="0">
              <a:off x="0" y="0"/>
              <a:ext cx="812800" cy="1191505"/>
            </a:xfrm>
            <a:custGeom>
              <a:avLst/>
              <a:gdLst/>
              <a:ahLst/>
              <a:cxnLst/>
              <a:rect r="r" b="b" t="t" l="l"/>
              <a:pathLst>
                <a:path h="1191505" w="812800">
                  <a:moveTo>
                    <a:pt x="0" y="0"/>
                  </a:moveTo>
                  <a:lnTo>
                    <a:pt x="812800" y="0"/>
                  </a:lnTo>
                  <a:lnTo>
                    <a:pt x="812800" y="1191505"/>
                  </a:lnTo>
                  <a:lnTo>
                    <a:pt x="0" y="1191505"/>
                  </a:lnTo>
                  <a:close/>
                </a:path>
              </a:pathLst>
            </a:custGeom>
            <a:blipFill>
              <a:blip r:embed="rId6"/>
              <a:stretch>
                <a:fillRect l="-59807" t="0" r="-59807" b="0"/>
              </a:stretch>
            </a:blipFill>
          </p:spPr>
        </p:sp>
      </p:grpSp>
      <p:sp>
        <p:nvSpPr>
          <p:cNvPr name="Freeform 6" id="6"/>
          <p:cNvSpPr/>
          <p:nvPr/>
        </p:nvSpPr>
        <p:spPr>
          <a:xfrm flipH="false" flipV="false" rot="0">
            <a:off x="-3408702" y="5004615"/>
            <a:ext cx="5240081" cy="5642079"/>
          </a:xfrm>
          <a:custGeom>
            <a:avLst/>
            <a:gdLst/>
            <a:ahLst/>
            <a:cxnLst/>
            <a:rect r="r" b="b" t="t" l="l"/>
            <a:pathLst>
              <a:path h="5642079" w="5240081">
                <a:moveTo>
                  <a:pt x="0" y="0"/>
                </a:moveTo>
                <a:lnTo>
                  <a:pt x="5240081" y="0"/>
                </a:lnTo>
                <a:lnTo>
                  <a:pt x="5240081" y="5642079"/>
                </a:lnTo>
                <a:lnTo>
                  <a:pt x="0" y="56420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143745" y="644099"/>
            <a:ext cx="6644458" cy="1838325"/>
          </a:xfrm>
          <a:prstGeom prst="rect">
            <a:avLst/>
          </a:prstGeom>
        </p:spPr>
        <p:txBody>
          <a:bodyPr anchor="t" rtlCol="false" tIns="0" lIns="0" bIns="0" rIns="0">
            <a:spAutoFit/>
          </a:bodyPr>
          <a:lstStyle/>
          <a:p>
            <a:pPr algn="l">
              <a:lnSpc>
                <a:spcPts val="14400"/>
              </a:lnSpc>
            </a:pPr>
            <a:r>
              <a:rPr lang="en-US" sz="12000">
                <a:solidFill>
                  <a:srgbClr val="FFFAFA"/>
                </a:solidFill>
                <a:latin typeface="Staatliches"/>
                <a:ea typeface="Staatliches"/>
                <a:cs typeface="Staatliches"/>
                <a:sym typeface="Staatliches"/>
              </a:rPr>
              <a:t>kesimpulan</a:t>
            </a:r>
          </a:p>
        </p:txBody>
      </p:sp>
      <p:sp>
        <p:nvSpPr>
          <p:cNvPr name="TextBox 8" id="8"/>
          <p:cNvSpPr txBox="true"/>
          <p:nvPr/>
        </p:nvSpPr>
        <p:spPr>
          <a:xfrm rot="0">
            <a:off x="2143745" y="3081799"/>
            <a:ext cx="5583447" cy="4817593"/>
          </a:xfrm>
          <a:prstGeom prst="rect">
            <a:avLst/>
          </a:prstGeom>
        </p:spPr>
        <p:txBody>
          <a:bodyPr anchor="t" rtlCol="false" tIns="0" lIns="0" bIns="0" rIns="0">
            <a:spAutoFit/>
          </a:bodyPr>
          <a:lstStyle/>
          <a:p>
            <a:pPr algn="just">
              <a:lnSpc>
                <a:spcPts val="3873"/>
              </a:lnSpc>
            </a:pPr>
            <a:r>
              <a:rPr lang="en-US" sz="2151">
                <a:solidFill>
                  <a:srgbClr val="FFFAFA"/>
                </a:solidFill>
                <a:latin typeface="DM Sans"/>
                <a:ea typeface="DM Sans"/>
                <a:cs typeface="DM Sans"/>
                <a:sym typeface="DM Sans"/>
              </a:rPr>
              <a:t>Dalam penelitian ini membuktikan bahwa ekst</a:t>
            </a:r>
            <a:r>
              <a:rPr lang="en-US" sz="2151">
                <a:solidFill>
                  <a:srgbClr val="FFFAFA"/>
                </a:solidFill>
                <a:latin typeface="DM Sans"/>
                <a:ea typeface="DM Sans"/>
                <a:cs typeface="DM Sans"/>
                <a:sym typeface="DM Sans"/>
              </a:rPr>
              <a:t>raksi fitur HSV berhasil meminimalkan bias pencahayaan dalam mengenali warna pisang. Algoritma SVM dengan Kernel Linear terbukti menjadi solusi paling efektif dan efisien (Akurasi 95.83%). Sistem ini juga bisa diimplementasikan sebagai metode identifikasi otomatis untuk meningkatkan efisiensi penyortiran di industri.</a:t>
            </a:r>
          </a:p>
          <a:p>
            <a:pPr algn="just">
              <a:lnSpc>
                <a:spcPts val="3873"/>
              </a:lnSpc>
            </a:pPr>
          </a:p>
        </p:txBody>
      </p:sp>
      <p:sp>
        <p:nvSpPr>
          <p:cNvPr name="Freeform 9" id="9"/>
          <p:cNvSpPr/>
          <p:nvPr/>
        </p:nvSpPr>
        <p:spPr>
          <a:xfrm flipH="false" flipV="false" rot="0">
            <a:off x="179074" y="185798"/>
            <a:ext cx="314029" cy="467827"/>
          </a:xfrm>
          <a:custGeom>
            <a:avLst/>
            <a:gdLst/>
            <a:ahLst/>
            <a:cxnLst/>
            <a:rect r="r" b="b" t="t" l="l"/>
            <a:pathLst>
              <a:path h="467827" w="314029">
                <a:moveTo>
                  <a:pt x="0" y="0"/>
                </a:moveTo>
                <a:lnTo>
                  <a:pt x="314029" y="0"/>
                </a:lnTo>
                <a:lnTo>
                  <a:pt x="314029" y="467826"/>
                </a:lnTo>
                <a:lnTo>
                  <a:pt x="0" y="4678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674359" y="185798"/>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60606"/>
        </a:solidFill>
      </p:bgPr>
    </p:bg>
    <p:spTree>
      <p:nvGrpSpPr>
        <p:cNvPr id="1" name=""/>
        <p:cNvGrpSpPr/>
        <p:nvPr/>
      </p:nvGrpSpPr>
      <p:grpSpPr>
        <a:xfrm>
          <a:off x="0" y="0"/>
          <a:ext cx="0" cy="0"/>
          <a:chOff x="0" y="0"/>
          <a:chExt cx="0" cy="0"/>
        </a:xfrm>
      </p:grpSpPr>
      <p:sp>
        <p:nvSpPr>
          <p:cNvPr name="Freeform 2" id="2"/>
          <p:cNvSpPr/>
          <p:nvPr/>
        </p:nvSpPr>
        <p:spPr>
          <a:xfrm flipH="false" flipV="false" rot="0">
            <a:off x="2992175" y="6338922"/>
            <a:ext cx="2940172" cy="3165730"/>
          </a:xfrm>
          <a:custGeom>
            <a:avLst/>
            <a:gdLst/>
            <a:ahLst/>
            <a:cxnLst/>
            <a:rect r="r" b="b" t="t" l="l"/>
            <a:pathLst>
              <a:path h="3165730" w="2940172">
                <a:moveTo>
                  <a:pt x="0" y="0"/>
                </a:moveTo>
                <a:lnTo>
                  <a:pt x="2940172" y="0"/>
                </a:lnTo>
                <a:lnTo>
                  <a:pt x="2940172" y="3165730"/>
                </a:lnTo>
                <a:lnTo>
                  <a:pt x="0" y="31657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255621" y="5002173"/>
            <a:ext cx="2676726" cy="4256127"/>
            <a:chOff x="0" y="0"/>
            <a:chExt cx="1058520" cy="1683100"/>
          </a:xfrm>
        </p:grpSpPr>
        <p:sp>
          <p:nvSpPr>
            <p:cNvPr name="Freeform 4" id="4"/>
            <p:cNvSpPr/>
            <p:nvPr/>
          </p:nvSpPr>
          <p:spPr>
            <a:xfrm flipH="false" flipV="false" rot="0">
              <a:off x="0" y="0"/>
              <a:ext cx="1058520" cy="1683100"/>
            </a:xfrm>
            <a:custGeom>
              <a:avLst/>
              <a:gdLst/>
              <a:ahLst/>
              <a:cxnLst/>
              <a:rect r="r" b="b" t="t" l="l"/>
              <a:pathLst>
                <a:path h="1683100" w="1058520">
                  <a:moveTo>
                    <a:pt x="0" y="0"/>
                  </a:moveTo>
                  <a:lnTo>
                    <a:pt x="1058520" y="0"/>
                  </a:lnTo>
                  <a:lnTo>
                    <a:pt x="1058520" y="1683100"/>
                  </a:lnTo>
                  <a:lnTo>
                    <a:pt x="0" y="1683100"/>
                  </a:lnTo>
                  <a:close/>
                </a:path>
              </a:pathLst>
            </a:custGeom>
            <a:blipFill>
              <a:blip r:embed="rId4"/>
              <a:stretch>
                <a:fillRect l="-35319" t="0" r="-103336" b="0"/>
              </a:stretch>
            </a:blipFill>
          </p:spPr>
        </p:sp>
      </p:grpSp>
      <p:sp>
        <p:nvSpPr>
          <p:cNvPr name="Freeform 5" id="5"/>
          <p:cNvSpPr/>
          <p:nvPr/>
        </p:nvSpPr>
        <p:spPr>
          <a:xfrm flipH="false" flipV="false" rot="0">
            <a:off x="10250924" y="7711903"/>
            <a:ext cx="727364" cy="727364"/>
          </a:xfrm>
          <a:custGeom>
            <a:avLst/>
            <a:gdLst/>
            <a:ahLst/>
            <a:cxnLst/>
            <a:rect r="r" b="b" t="t" l="l"/>
            <a:pathLst>
              <a:path h="727364" w="727364">
                <a:moveTo>
                  <a:pt x="0" y="0"/>
                </a:moveTo>
                <a:lnTo>
                  <a:pt x="727364" y="0"/>
                </a:lnTo>
                <a:lnTo>
                  <a:pt x="727364" y="727364"/>
                </a:lnTo>
                <a:lnTo>
                  <a:pt x="0" y="727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688214" y="5002173"/>
            <a:ext cx="10175836" cy="2263050"/>
          </a:xfrm>
          <a:prstGeom prst="rect">
            <a:avLst/>
          </a:prstGeom>
        </p:spPr>
        <p:txBody>
          <a:bodyPr anchor="t" rtlCol="false" tIns="0" lIns="0" bIns="0" rIns="0">
            <a:spAutoFit/>
          </a:bodyPr>
          <a:lstStyle/>
          <a:p>
            <a:pPr algn="l">
              <a:lnSpc>
                <a:spcPts val="17280"/>
              </a:lnSpc>
            </a:pPr>
            <a:r>
              <a:rPr lang="en-US" sz="14400">
                <a:solidFill>
                  <a:srgbClr val="FFFAFA"/>
                </a:solidFill>
                <a:latin typeface="Staatliches"/>
                <a:ea typeface="Staatliches"/>
                <a:cs typeface="Staatliches"/>
                <a:sym typeface="Staatliches"/>
              </a:rPr>
              <a:t>attention</a:t>
            </a:r>
          </a:p>
        </p:txBody>
      </p:sp>
      <p:sp>
        <p:nvSpPr>
          <p:cNvPr name="Freeform 7" id="7"/>
          <p:cNvSpPr/>
          <p:nvPr/>
        </p:nvSpPr>
        <p:spPr>
          <a:xfrm flipH="false" flipV="false" rot="0">
            <a:off x="-1564251" y="-2160804"/>
            <a:ext cx="6026512" cy="4663014"/>
          </a:xfrm>
          <a:custGeom>
            <a:avLst/>
            <a:gdLst/>
            <a:ahLst/>
            <a:cxnLst/>
            <a:rect r="r" b="b" t="t" l="l"/>
            <a:pathLst>
              <a:path h="4663014" w="6026512">
                <a:moveTo>
                  <a:pt x="0" y="0"/>
                </a:moveTo>
                <a:lnTo>
                  <a:pt x="6026512" y="0"/>
                </a:lnTo>
                <a:lnTo>
                  <a:pt x="6026512" y="4663014"/>
                </a:lnTo>
                <a:lnTo>
                  <a:pt x="0" y="46630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484961" y="6338922"/>
            <a:ext cx="5606078" cy="6634412"/>
          </a:xfrm>
          <a:custGeom>
            <a:avLst/>
            <a:gdLst/>
            <a:ahLst/>
            <a:cxnLst/>
            <a:rect r="r" b="b" t="t" l="l"/>
            <a:pathLst>
              <a:path h="6634412" w="5606078">
                <a:moveTo>
                  <a:pt x="0" y="0"/>
                </a:moveTo>
                <a:lnTo>
                  <a:pt x="5606078" y="0"/>
                </a:lnTo>
                <a:lnTo>
                  <a:pt x="5606078" y="6634412"/>
                </a:lnTo>
                <a:lnTo>
                  <a:pt x="0" y="66344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3214186" y="2502210"/>
            <a:ext cx="10487564" cy="2190750"/>
          </a:xfrm>
          <a:prstGeom prst="rect">
            <a:avLst/>
          </a:prstGeom>
        </p:spPr>
        <p:txBody>
          <a:bodyPr anchor="t" rtlCol="false" tIns="0" lIns="0" bIns="0" rIns="0">
            <a:spAutoFit/>
          </a:bodyPr>
          <a:lstStyle/>
          <a:p>
            <a:pPr algn="l">
              <a:lnSpc>
                <a:spcPts val="17280"/>
              </a:lnSpc>
            </a:pPr>
            <a:r>
              <a:rPr lang="en-US" sz="14400">
                <a:solidFill>
                  <a:srgbClr val="FFFAFA"/>
                </a:solidFill>
                <a:latin typeface="Staatliches"/>
                <a:ea typeface="Staatliches"/>
                <a:cs typeface="Staatliches"/>
                <a:sym typeface="Staatliches"/>
              </a:rPr>
              <a:t>Thank You</a:t>
            </a:r>
          </a:p>
        </p:txBody>
      </p:sp>
      <p:sp>
        <p:nvSpPr>
          <p:cNvPr name="TextBox 10" id="10"/>
          <p:cNvSpPr txBox="true"/>
          <p:nvPr/>
        </p:nvSpPr>
        <p:spPr>
          <a:xfrm rot="0">
            <a:off x="11465676" y="2954349"/>
            <a:ext cx="1556211" cy="1285875"/>
          </a:xfrm>
          <a:prstGeom prst="rect">
            <a:avLst/>
          </a:prstGeom>
        </p:spPr>
        <p:txBody>
          <a:bodyPr anchor="t" rtlCol="false" tIns="0" lIns="0" bIns="0" rIns="0">
            <a:spAutoFit/>
          </a:bodyPr>
          <a:lstStyle/>
          <a:p>
            <a:pPr algn="l">
              <a:lnSpc>
                <a:spcPts val="5040"/>
              </a:lnSpc>
            </a:pPr>
            <a:r>
              <a:rPr lang="en-US" sz="4200">
                <a:solidFill>
                  <a:srgbClr val="CB6CE6"/>
                </a:solidFill>
                <a:latin typeface="Staatliches"/>
                <a:ea typeface="Staatliches"/>
                <a:cs typeface="Staatliches"/>
                <a:sym typeface="Staatliches"/>
              </a:rPr>
              <a:t>For Your</a:t>
            </a:r>
          </a:p>
        </p:txBody>
      </p:sp>
      <p:sp>
        <p:nvSpPr>
          <p:cNvPr name="Freeform 11" id="11"/>
          <p:cNvSpPr/>
          <p:nvPr/>
        </p:nvSpPr>
        <p:spPr>
          <a:xfrm flipH="false" flipV="false" rot="0">
            <a:off x="3214186" y="2034383"/>
            <a:ext cx="314029" cy="467827"/>
          </a:xfrm>
          <a:custGeom>
            <a:avLst/>
            <a:gdLst/>
            <a:ahLst/>
            <a:cxnLst/>
            <a:rect r="r" b="b" t="t" l="l"/>
            <a:pathLst>
              <a:path h="467827" w="314029">
                <a:moveTo>
                  <a:pt x="0" y="0"/>
                </a:moveTo>
                <a:lnTo>
                  <a:pt x="314029" y="0"/>
                </a:lnTo>
                <a:lnTo>
                  <a:pt x="314029" y="467827"/>
                </a:lnTo>
                <a:lnTo>
                  <a:pt x="0" y="46782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3709472" y="2034383"/>
            <a:ext cx="2809325" cy="419100"/>
          </a:xfrm>
          <a:prstGeom prst="rect">
            <a:avLst/>
          </a:prstGeom>
        </p:spPr>
        <p:txBody>
          <a:bodyPr anchor="t" rtlCol="false" tIns="0" lIns="0" bIns="0" rIns="0">
            <a:spAutoFit/>
          </a:bodyPr>
          <a:lstStyle/>
          <a:p>
            <a:pPr algn="l">
              <a:lnSpc>
                <a:spcPts val="3359"/>
              </a:lnSpc>
            </a:pPr>
            <a:r>
              <a:rPr lang="en-US" sz="2799">
                <a:solidFill>
                  <a:srgbClr val="FFFAFA"/>
                </a:solidFill>
                <a:latin typeface="Staatliches"/>
                <a:ea typeface="Staatliches"/>
                <a:cs typeface="Staatliches"/>
                <a:sym typeface="Staatliches"/>
              </a:rPr>
              <a:t>machine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DAHHMfBaMBk</dc:identifier>
  <dcterms:modified xsi:type="dcterms:W3CDTF">2011-08-01T06:04:30Z</dcterms:modified>
  <cp:revision>1</cp:revision>
  <dc:title>Blue Pink and White Futuristic Cyberpunk Presentation</dc:title>
</cp:coreProperties>
</file>